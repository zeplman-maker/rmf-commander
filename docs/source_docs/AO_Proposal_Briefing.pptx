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1283" autoAdjust="0"/>
  </p:normalViewPr>
  <p:slideViewPr>
    <p:cSldViewPr snapToGrid="0" snapToObjects="1">
      <p:cViewPr varScale="1">
        <p:scale>
          <a:sx n="150" d="100"/>
          <a:sy n="150" d="100"/>
        </p:scale>
        <p:origin x="210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7380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COVER | Presenter guidance and anticipated AO questions
TALKING POINT: Set the stage in 60 seconds. State your name, role, and the single decision you need from the AO today: approval to proceed with a controlled 90-day pilot using mock data only. Do not oversell. Let the proposal package speak for itself.
ANTICIPATED AO QUESTIONS:
Q: What exactly are you asking me to approve today?
A: Five specific items, all listed on slide 11. The primary ask is approval to run a controlled 90-day prototype and pilot using mock, sandbox, or test data only. No production eMASS data is involved.
Q: Who developed this concept?
A: Leo Christie, NH-III ISSM at AFSVC, developed the concept based on operational experience managing 18 RMF-governed systems. The proposal was structured to align with NIST AI RMF 1.0 and existing DoD policy.
Q: Has anyone else seen this proposal?
A: This is the initial submission to the AO. The proposal is ready for AO review, and any additional staff review your office requires.
Q: What is the classification of this briefing?
A: Unclassified, For Official Use Only throughout. No classified information is used in the proposal or pilot.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AGENDA | Presenter guidance and anticipated AO questions
TALKING POINT: Walk the AO through the seven sections in 30 seconds. Frame this as a decision briefing, not a product demo. The goal today is a controlled pilot approval, not operational deployment.
ANTICIPATED AO QUESTIONS:
Q: How long will this brief take?
A: We can move through all seven sections in 20 minutes. Recommend reserving 10 minutes at the end for questions.
Q: Is there a written version of this proposal I can review?
A: Yes. The full proposal package — including the PRD, concept paper, risk matrix, and both signed memos — is submitted as attachments. This deck summarizes the key decision points.
Q: Who else has reviewed this proposal?
A: The ISSM developed this package. It is ready for AO review. Security architecture review and stakeholder validation are listed as Phase 1 activities that require your approval to begin.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THE PROBLEM | Presenter guidance and anticipated AO questions
TALKING POINT: Emphasize that these are not hypothetical gaps — they are daily operational realities for the ISSM, which manages 26 systems and over 1 million end users. Focus the AO on the ATO expiration risk. That one resonates most with senior leadership because it directly affects mission authorization.
ANTICIPATED AO QUESTIONS:
Q: Can't ISSMs just use eMASS on their phones through a browser?
A: eMASS is not mobile-optimized and requires a full desktop session with CAC authentication that is not reliable on mobile browsers. In practice, personnel return to workstations or wait until they are back at their desk to answer compliance questions.
Q: How often does the ISSM actually get asked ATO status questions away from a workstation?
A: Frequently during leadership briefings, command visits, CCRI preparation meetings, and off-hours when systems generate alerts. The current workflow requires a full eMASS login every time.
Q: Is the ATO expiration risk real or theoretical?
A: Real. With 26 systems, even a 90-day calendar reminder system is manual and failure-prone. RMF Commander automates the 90/60/30-day threshold alerting that the current workflow relies on human memory to maintain.
Q: What happens if we do nothing?
A: The current risk posture remains. ISSMs continue spending 40 to 60 percent of work hours on manual documentation, ATO tracking stays on manual calendars, and vulnerability awareness stays reactive.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CAPABILITIES | Presenter guidance and anticipated AO questions
TALKING POINT: Walk each capability row. Pause on the AI Documentation Assistant. Proactively address the concern about AI making decisions — state clearly that AI drafts only, and nothing reaches eMASS without ISSM or ISSO review. That is the most common concern at this stage.
ANTICIPATED AO QUESTIONS:
Q: Does the AI write the control implementation statements that go into eMASS?
A: AI produces a draft. The ISSM or ISSO reads it, edits it if needed, and explicitly approves it before it goes anywhere. There is no automated submission path — by design.
Q: Can the natural language query interface access data it shouldn't?
A: No. Every query is scoped to the authenticated user's eMASS role. The system cannot return data for systems outside that user's authorized scope. This is enforced at the backend, not the UI.
Q: What happens if the dashboard shows incorrect data?
A: The dashboard pulls directly from eMASS via API with a maximum 15-minute refresh interval. If eMASS data is wrong, the dashboard reflects that — and so does the current manual process. The source of truth remains eMASS.
Q: Is the briefing generator creating official documents?
A: No. It produces draft summaries for leader review. They are not official RMF artifacts. They assist the ISSM in preparing briefing materials but require human review before use.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AI GOVERNANCE | Presenter guidance and anticipated AO questions
TALKING POINT: The NIST AI RMF 1.0 framing is deliberate. It shows the AO that AI use in this platform is governed by a recognized federal framework — not improvised. Lead with GOVERN because that is what AOs care about most: who is accountable and what controls are in place.
ANTICIPATED AO QUESTIONS:
Q: Who is responsible if AI produces incorrect compliance guidance?
A: The ISSM or ISSO who reviews and approves the AI-generated content. The product makes this explicit by labeling all AI output as AI-DRAFTED until a human official approves it. Accountability stays with the human reviewer, not the tool.
Q: Has NIST approved the use of AI for RMF documentation?
A: NIST AI RMF 1.0 is the voluntary framework for responsible AI use; it does not approve or disapprove specific applications. We are applying its GOVERN, MAP, MEASURE, and MANAGE functions to structure our own AI risk controls for this platform.
Q: What if the AI gives advice that contradicts NIST SP 800-53?
A: The AI is grounded through retrieval-augmented generation over NIST SP 800-53 Rev. 5 and the user's own eMASS data. If it produces something inconsistent, the ISSM catches it during review. That is why the human-in-the-loop gate is mandatory, not optional.
Q: Can we audit what the AI is doing?
A: Yes. All AI prompts, generated outputs, and human approval actions are logged. Logs are retained for a minimum of one year per DoD audit policy and are available for review upon request.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SECURITY ARCHITECTURE | Presenter guidance and anticipated AO questions
TALKING POINT: The core message is one sentence: the app never touches eMASS directly. Everything goes through a DoD-authorized cloud backend. Lead with that, then walk through the six controls. The AO will likely focus on derived credentials, and the AI inference boundary will have crisp answers ready for both.
ANTICIPATED AO QUESTIONS:
Q: What cloud environment will this run in?
A: Azure Government IL4 or AWS GovCloud. Both hold DISA authorization and have established NIPRNET connectivity pathways. We will select the environment during Phase 1 infrastructure planning. The security posture is equivalent between the two options.
Q: If a device is lost or stolen, what happens to the eMASS data on it?
A: Nothing. No eMASS data is stored on the device. Session data lives only in memory and is wiped after 5 minutes of backgrounding or on logout. A lost device has no authorization package content.
Q: How do we ensure the AI model isn't sending our data to a commercial cloud?
A: AI inference is performed inside the DoD cloud boundary using Azure Government OpenAI Service or a self-hosted model on DoD compute. IL4 data does not leave the boundary for any AI processing.
Q: Who manages the eMASS API credentials?
A: They are stored exclusively in Azure Key Vault or AWS Secrets Manager with 90-day automatic rotation. No human handles the credentials directly after initial provisioning. The app never sees them — only the backend service account does.
Q: What happens if the backend is compromised?
A: The backend holds credentials scoped to read-only eMASS access in Phase 1. Even a full backend compromise cannot write to eMASS without a separate Phase 2 approval process. Audit logs capture all access for incident response.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PILOT SCOPE | Presenter guidance and anticipated AO questions
TALKING POINT: The excluded column is as important as the included column. Walk the AO through both sides. The pilot is deliberately conservative — it proves value before any production data is touched. That framing significantly lowers the AO's approval risk.
ANTICIPATED AO QUESTIONS:
Q: Why can't we just test with a few real systems to see if it actually works?
A: The pilot is designed to validate the platform architecture, AI quality, and user value first. Adding production eMASS data before those gates pass creates unnecessary risk. If the prototype fails a security assumption, we want to catch it on mock data — not live authorization packages.
Q: Who are the pilot users?
A: A small controlled group: ISSMs, ISSOs, AO support staff, and compliance leadership. The exact roster is an output of Week 1 stakeholder validation, which requires your approval to begin.
Q: How do we prevent pilot users from doing things outside the approved scope?
A: Role-based access controls limit what each user can see and do. The platform cannot access production eMASS data by design — the API credentials provisioned for the pilot are test/sandbox only. No technical path exists to reach production data during the pilot.
Q: Can we add more capabilities to the pilot if it goes well?
A: Expanding the scope beyond what is approved today requires a separate request. The pilot closeout report at Week 12 will include a go/no-go recommendation and scope for any follow-on approval.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PILOT TIMELINE | Presenter guidance and anticipated AO questions
TALKING POINT: The 90-day timeline is conservative by design. Walk through the six phases quickly. Pause on the governance row — the 30-day AO touchpoint is a key control that provides the AO with visibility and the ability to pause or terminate at any time. The five-success metrics at the bottom provide the AO with concrete criteria for evaluating the pilot outcome.
ANTICIPATED AO QUESTIONS:
Q: Ninety days seems long. Can this be done faster?
A: The 90-day timeline includes stakeholder validation, architecture review, user testing, and a structured closeout. Compressing it risks skipping the governance gates that make this a low-risk approval. We can revisit the pace during the Week 1 kickoff if the AO wants to accelerate specific phases.
Q: What if the pilot misses the 70 percent AI draft acceptance target?
A: That is a go/no-go metric, not a pass/fail that ends the project. If drafts are not hitting 70 percent acceptance, the closeout report will identify why and what tuning is needed before recommending progression to production integration.
Q: What does the 30-day AO touchpoint look like in practice?
A: A short status brief — 15 to 20 minutes — covering scope adherence, security boundary status, AI output quality observations, and any deviations from the approved pilot plan. We can do it in person or via secure video.
Q: What triggers an early termination of the pilot?
A: Any security boundary violation, access to unauthorized data, or a determination by the AO that the risk posture has changed. Termination revokes all access and test data within 24 hours.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RISK REGISTER | Presenter guidance and anticipated AO questions
TALKING POINT: Walk the High-impact risks first — AI approval confusion, unauthorized eMASS access, client device compromise, early production integration, and scope creep. These are the five most likely AO concerns. Each has a clear design control. The fact that the risk register exists and is documented signals mature program thinking.
ANTICIPATED AO QUESTIONS:
Q: You have five High-impact risks on this list. That's concerning.
A: Each one has a design-level control that addresses it before the pilot launches. These risks are identified and mitigated — they are not open issues. The alternative is to not document them, which would leave the AO without visibility. We chose transparency.
Q: What if an ISSM bypasses the AI approval gate under time pressure?
A: The gate is enforced at the application layer — there is no bypass path built into the product. An ISSM cannot submit AI-generated content to eMASS from within RMF Commander without clicking through a review-and-approve workflow.
Q: What controls prevent scope creep from the ISSM side?
A: Two controls: the product is technically limited to mock/test/sandbox data during the pilot, and the 30-day AO touchpoints provide governance oversight. Any scope change requires a formal request to the AO.
Q: Who owns the risk register going forward?
A: The ISSM as pilot lead owns tracking and status updates. The AO office receives the register during the 30-day touchpoint briefings. Outstanding risks are reviewed at pilot closeout.
Q: Has a security architect reviewed this architecture?
A: Security architecture review is a Phase 1 activity listed as a pilot approval item. It has not yet occurred because it requires your approval to begin.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RMF AUTHORIZATION | Presenter guidance and anticipated AO questions
TALKING POINT: This slide addresses the question the AO will almost certainly ask: does this system have an ATO? The answer is: not yet, and here is exactly how it gets one. Walking through all seven RMF steps with explicit phase timing demonstrates that the authorization process is planned, not an afterthought.
ANTICIPATED AO QUESTIONS:
Q: Does RMF Commander have an ATO right now?
A: No. RMF Commander is a new system. Its RMF authorization process begins in Phase 1 with system registration in eMASS, which is one of the items requiring your approval today. The system will complete Steps 0 through 6 before any operational deployment.
Q: Who is the SCA for this system?
A: The SCA assignment is a Phase 4 activity that occurs during the controls assessment phase. The ISSM will coordinate with the appropriate SCA through established channels once the system reaches that step.
Q: What is the expected baseline for this system?
A: Moderate, based on the data types involved — IL4 authorization package metadata and AI-processed documentation. The exact categorization will be confirmed during Step 1 per CNSSI 1253.
Q: Will the system authorize itself using its own features?
A: Yes — that is intentional. RMF Commander will use its own documentation assistant and POA&amp;M tracking to manage its own authorization package. That validates the platform's real-world utility under actual authorization conditions.
Q: How long does the full authorization path take?
A: Approximately nine months from AO approval to ATO submission, based on the phased roadmap. The pilot runs in the first 90 days while infrastructure and documentation work proceeds in parallel.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DECISION REQUESTED | Presenter guidance and anticipated AO questions
TALKING POINT: This is the money slide. Read each numbered item clearly. Items 01 through 05 are independent — the AO can approve, modify, or defer any one separately. Frame the ask as low-risk: mock data only, no production access, full AO visibility, and all major decisions remain with the AO.
ANTICIPATED AO QUESTIONS:
Q: I want to approve some of these items but not others. Is that possible?
A: Absolutely. Each item is independent. For example, you could approve the prototype and pilot today and defer the eMASS API endorsement until the architecture review is complete. We can work with any combination.
Q: What happens if I approve the pilot, but DISA denies the eMASS API access?
A: The pilot proceeds using mock data and simulated API responses. Test and sandbox access is the fallback that keeps the pilot on schedule while the API request matures. No blocker.
Q: I am not ready to approve today. What do I need to see first?
A: Tell us what additional information would build your confidence. Common requests at this stage include a legal or privacy review, a security architecture walkthrough with your technical staff, or a demonstration of the prototype dashboard on mock data.
Q: Does legal need to review this before I sign?
A: If your office requires legal review before endorsing the eMASS API request, we can sequence it that way. The AO endorsement letter is designed to be signed after legal review if needed.
Q: What is my ongoing obligation after I approve this?
A: The 30-day touchpoint — a brief monthly status check. Beyond that, the ISSM manages the pilot and brings any scope deviation or security concern to you immediately. You retain the ability to pause or terminate the pilot at any time.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CLOSING | Presenter guidance and anticipated AO questions
TALKING POINT: End with the single ask. Do not introduce new information. Offer to answer questions and confirm the next step — whether that is a follow-up meeting, a legal review, or a signed approval package. Leave the AO with the full written proposal package.
ANTICIPATED AO QUESTIONS:
Q: What happens next after this briefing?
A: If you approve today, the ISSM submits the eMASS API endorsement letter with your signature to DISA and begins Phase 1 activities — cloud tenant provisioning, MDM enrollment coordination, and eMASS system registration for RMF Commander itself.
Q: What do I need to sign and when?
A: The AO approval signature page in the written proposal package lists all six approval line items with individual signature blocks. You can sign all at once or indicate which items you are approving at this time.
Q: I want to discuss this with my staff before deciding. What is the timeline pressure?
A: No immediate deadline. The eMASS API access request has a 60 to 90 day processing lead time once submitted, so earlier approval gives more runway. But there is no decision deadline tied to a mission requirement today.
Q: Can I see a demo of the prototype before approving?
A: The prototype does not exist yet — it is the output of the approved pilot, not a prerequisite for approval. We can mock up a static dashboard view for illustrative purposes if that would help your evaluation.
Q: Who do I contact if I have follow-up questions after this briefing?
A: Leo Christie, ISSM, AFSVC Cybersecurity Division. Contact information is on the last page of the written proposal package.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0F1A3D"/>
          </a:solidFill>
          <a:ln w="12700">
            <a:solidFill>
              <a:srgbClr val="0F1A3D"/>
            </a:solidFill>
            <a:prstDash val="solid"/>
          </a:ln>
        </p:spPr>
        <p:txBody>
          <a:bodyPr/>
          <a:lstStyle/>
          <a:p>
            <a:endParaRPr lang="en-US"/>
          </a:p>
        </p:txBody>
      </p:sp>
      <p:sp>
        <p:nvSpPr>
          <p:cNvPr id="3" name="Shape 1"/>
          <p:cNvSpPr/>
          <p:nvPr/>
        </p:nvSpPr>
        <p:spPr>
          <a:xfrm>
            <a:off x="0" y="0"/>
            <a:ext cx="73152" cy="5143500"/>
          </a:xfrm>
          <a:prstGeom prst="rect">
            <a:avLst/>
          </a:prstGeom>
          <a:solidFill>
            <a:srgbClr val="4A90D9"/>
          </a:solidFill>
          <a:ln w="12700">
            <a:solidFill>
              <a:srgbClr val="4A90D9"/>
            </a:solidFill>
            <a:prstDash val="solid"/>
          </a:ln>
        </p:spPr>
        <p:txBody>
          <a:bodyPr/>
          <a:lstStyle/>
          <a:p>
            <a:endParaRPr lang="en-US"/>
          </a:p>
        </p:txBody>
      </p:sp>
      <p:sp>
        <p:nvSpPr>
          <p:cNvPr id="4" name="Text 2"/>
          <p:cNvSpPr/>
          <p:nvPr/>
        </p:nvSpPr>
        <p:spPr>
          <a:xfrm>
            <a:off x="201168" y="502920"/>
            <a:ext cx="2697480" cy="731520"/>
          </a:xfrm>
          <a:prstGeom prst="rect">
            <a:avLst/>
          </a:prstGeom>
          <a:noFill/>
          <a:ln/>
        </p:spPr>
        <p:txBody>
          <a:bodyPr wrap="square" lIns="0" tIns="0" rIns="0" bIns="0" rtlCol="0" anchor="ctr"/>
          <a:lstStyle/>
          <a:p>
            <a:pPr marL="0" indent="0">
              <a:buNone/>
            </a:pPr>
            <a:r>
              <a:rPr lang="en-US" sz="1000" b="1" kern="0" spc="150" dirty="0">
                <a:solidFill>
                  <a:srgbClr val="CADCFC"/>
                </a:solidFill>
                <a:latin typeface="Calibri" pitchFamily="34" charset="0"/>
                <a:ea typeface="Calibri" pitchFamily="34" charset="-122"/>
                <a:cs typeface="Calibri" pitchFamily="34" charset="-120"/>
              </a:rPr>
              <a:t>PROPOSAL TO THE</a:t>
            </a:r>
            <a:endParaRPr lang="en-US" sz="1000" dirty="0"/>
          </a:p>
          <a:p>
            <a:pPr marL="0" indent="0">
              <a:buNone/>
            </a:pPr>
            <a:r>
              <a:rPr lang="en-US" sz="1000" b="1" kern="0" spc="150" dirty="0">
                <a:solidFill>
                  <a:srgbClr val="CADCFC"/>
                </a:solidFill>
                <a:latin typeface="Calibri" pitchFamily="34" charset="0"/>
                <a:ea typeface="Calibri" pitchFamily="34" charset="-122"/>
                <a:cs typeface="Calibri" pitchFamily="34" charset="-120"/>
              </a:rPr>
              <a:t>AUTHORIZING OFFICIAL</a:t>
            </a:r>
            <a:endParaRPr lang="en-US" sz="1000" dirty="0"/>
          </a:p>
        </p:txBody>
      </p:sp>
      <p:sp>
        <p:nvSpPr>
          <p:cNvPr id="5" name="Text 3"/>
          <p:cNvSpPr/>
          <p:nvPr/>
        </p:nvSpPr>
        <p:spPr>
          <a:xfrm>
            <a:off x="201168" y="1280160"/>
            <a:ext cx="2697480" cy="10058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RMF COMMANDER</a:t>
            </a:r>
            <a:endParaRPr lang="en-US" sz="2800" dirty="0"/>
          </a:p>
        </p:txBody>
      </p:sp>
      <p:sp>
        <p:nvSpPr>
          <p:cNvPr id="6" name="Shape 4"/>
          <p:cNvSpPr/>
          <p:nvPr/>
        </p:nvSpPr>
        <p:spPr>
          <a:xfrm>
            <a:off x="201168" y="2331720"/>
            <a:ext cx="2468880" cy="27432"/>
          </a:xfrm>
          <a:prstGeom prst="rect">
            <a:avLst/>
          </a:prstGeom>
          <a:solidFill>
            <a:srgbClr val="4A90D9"/>
          </a:solidFill>
          <a:ln w="12700">
            <a:solidFill>
              <a:srgbClr val="4A90D9"/>
            </a:solidFill>
            <a:prstDash val="solid"/>
          </a:ln>
        </p:spPr>
        <p:txBody>
          <a:bodyPr/>
          <a:lstStyle/>
          <a:p>
            <a:endParaRPr lang="en-US"/>
          </a:p>
        </p:txBody>
      </p:sp>
      <p:sp>
        <p:nvSpPr>
          <p:cNvPr id="7" name="Text 5"/>
          <p:cNvSpPr/>
          <p:nvPr/>
        </p:nvSpPr>
        <p:spPr>
          <a:xfrm>
            <a:off x="201168" y="2423160"/>
            <a:ext cx="2697480" cy="640080"/>
          </a:xfrm>
          <a:prstGeom prst="rect">
            <a:avLst/>
          </a:prstGeom>
          <a:noFill/>
          <a:ln/>
        </p:spPr>
        <p:txBody>
          <a:bodyPr wrap="square" lIns="0" tIns="0" rIns="0" bIns="0" rtlCol="0" anchor="ctr"/>
          <a:lstStyle/>
          <a:p>
            <a:pPr marL="0" indent="0">
              <a:buNone/>
            </a:pPr>
            <a:r>
              <a:rPr lang="en-US" sz="1100" dirty="0">
                <a:solidFill>
                  <a:srgbClr val="8A9FCC"/>
                </a:solidFill>
                <a:latin typeface="Calibri" pitchFamily="34" charset="0"/>
                <a:ea typeface="Calibri" pitchFamily="34" charset="-122"/>
                <a:cs typeface="Calibri" pitchFamily="34" charset="-120"/>
              </a:rPr>
              <a:t>AI-Assisted RMF Portfolio</a:t>
            </a:r>
            <a:endParaRPr lang="en-US" sz="1100" dirty="0"/>
          </a:p>
          <a:p>
            <a:pPr marL="0" indent="0">
              <a:buNone/>
            </a:pPr>
            <a:r>
              <a:rPr lang="en-US" sz="1100" dirty="0">
                <a:solidFill>
                  <a:srgbClr val="8A9FCC"/>
                </a:solidFill>
                <a:latin typeface="Calibri" pitchFamily="34" charset="0"/>
                <a:ea typeface="Calibri" pitchFamily="34" charset="-122"/>
                <a:cs typeface="Calibri" pitchFamily="34" charset="-120"/>
              </a:rPr>
              <a:t>Visibility and Compliance</a:t>
            </a:r>
            <a:endParaRPr lang="en-US" sz="1100" dirty="0"/>
          </a:p>
          <a:p>
            <a:pPr marL="0" indent="0">
              <a:buNone/>
            </a:pPr>
            <a:r>
              <a:rPr lang="en-US" sz="1100" dirty="0">
                <a:solidFill>
                  <a:srgbClr val="8A9FCC"/>
                </a:solidFill>
                <a:latin typeface="Calibri" pitchFamily="34" charset="0"/>
                <a:ea typeface="Calibri" pitchFamily="34" charset="-122"/>
                <a:cs typeface="Calibri" pitchFamily="34" charset="-120"/>
              </a:rPr>
              <a:t>Support Platform</a:t>
            </a:r>
            <a:endParaRPr lang="en-US" sz="1100" dirty="0"/>
          </a:p>
        </p:txBody>
      </p:sp>
      <p:sp>
        <p:nvSpPr>
          <p:cNvPr id="8" name="Text 6"/>
          <p:cNvSpPr/>
          <p:nvPr/>
        </p:nvSpPr>
        <p:spPr>
          <a:xfrm>
            <a:off x="3291840" y="457200"/>
            <a:ext cx="5577840" cy="182880"/>
          </a:xfrm>
          <a:prstGeom prst="rect">
            <a:avLst/>
          </a:prstGeom>
          <a:noFill/>
          <a:ln/>
        </p:spPr>
        <p:txBody>
          <a:bodyPr wrap="square" lIns="0" tIns="0" rIns="0" bIns="0" rtlCol="0" anchor="ctr"/>
          <a:lstStyle/>
          <a:p>
            <a:pPr marL="0" indent="0">
              <a:buNone/>
            </a:pPr>
            <a:r>
              <a:rPr lang="en-US" sz="750" b="1" kern="0" spc="200" dirty="0">
                <a:solidFill>
                  <a:srgbClr val="4A90D9"/>
                </a:solidFill>
                <a:latin typeface="Calibri" pitchFamily="34" charset="0"/>
                <a:ea typeface="Calibri" pitchFamily="34" charset="-122"/>
                <a:cs typeface="Calibri" pitchFamily="34" charset="-120"/>
              </a:rPr>
              <a:t>PREPARED BY</a:t>
            </a:r>
            <a:endParaRPr lang="en-US" sz="750" dirty="0"/>
          </a:p>
        </p:txBody>
      </p:sp>
      <p:sp>
        <p:nvSpPr>
          <p:cNvPr id="9" name="Text 7"/>
          <p:cNvSpPr/>
          <p:nvPr/>
        </p:nvSpPr>
        <p:spPr>
          <a:xfrm>
            <a:off x="3291840" y="640080"/>
            <a:ext cx="5577840" cy="45720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Leo Christie</a:t>
            </a:r>
            <a:endParaRPr lang="en-US" sz="1100" dirty="0"/>
          </a:p>
          <a:p>
            <a:pPr marL="0" indent="0">
              <a:buNone/>
            </a:pPr>
            <a:r>
              <a:rPr lang="en-US" sz="1100" dirty="0">
                <a:solidFill>
                  <a:srgbClr val="CADCFC"/>
                </a:solidFill>
                <a:latin typeface="Calibri" pitchFamily="34" charset="0"/>
                <a:ea typeface="Calibri" pitchFamily="34" charset="-122"/>
                <a:cs typeface="Calibri" pitchFamily="34" charset="-120"/>
              </a:rPr>
              <a:t>Air Force Services Center</a:t>
            </a:r>
            <a:endParaRPr lang="en-US" sz="1100" dirty="0"/>
          </a:p>
          <a:p>
            <a:pPr marL="0" indent="0">
              <a:buNone/>
            </a:pPr>
            <a:r>
              <a:rPr lang="en-US" sz="1100" dirty="0">
                <a:solidFill>
                  <a:srgbClr val="CADCFC"/>
                </a:solidFill>
                <a:latin typeface="Calibri" pitchFamily="34" charset="0"/>
                <a:ea typeface="Calibri" pitchFamily="34" charset="-122"/>
                <a:cs typeface="Calibri" pitchFamily="34" charset="-120"/>
              </a:rPr>
              <a:t>VTOS / Cybersecurity Division</a:t>
            </a:r>
            <a:endParaRPr lang="en-US" sz="1100" dirty="0"/>
          </a:p>
        </p:txBody>
      </p:sp>
      <p:sp>
        <p:nvSpPr>
          <p:cNvPr id="10" name="Text 8"/>
          <p:cNvSpPr/>
          <p:nvPr/>
        </p:nvSpPr>
        <p:spPr>
          <a:xfrm>
            <a:off x="3291840" y="1234440"/>
            <a:ext cx="5577840" cy="182880"/>
          </a:xfrm>
          <a:prstGeom prst="rect">
            <a:avLst/>
          </a:prstGeom>
          <a:noFill/>
          <a:ln/>
        </p:spPr>
        <p:txBody>
          <a:bodyPr wrap="square" lIns="0" tIns="0" rIns="0" bIns="0" rtlCol="0" anchor="ctr"/>
          <a:lstStyle/>
          <a:p>
            <a:pPr marL="0" indent="0">
              <a:buNone/>
            </a:pPr>
            <a:r>
              <a:rPr lang="en-US" sz="750" b="1" kern="0" spc="200" dirty="0">
                <a:solidFill>
                  <a:srgbClr val="4A90D9"/>
                </a:solidFill>
                <a:latin typeface="Calibri" pitchFamily="34" charset="0"/>
                <a:ea typeface="Calibri" pitchFamily="34" charset="-122"/>
                <a:cs typeface="Calibri" pitchFamily="34" charset="-120"/>
              </a:rPr>
              <a:t>SUBMITTED TO</a:t>
            </a:r>
            <a:endParaRPr lang="en-US" sz="750" dirty="0"/>
          </a:p>
        </p:txBody>
      </p:sp>
      <p:sp>
        <p:nvSpPr>
          <p:cNvPr id="11" name="Text 9"/>
          <p:cNvSpPr/>
          <p:nvPr/>
        </p:nvSpPr>
        <p:spPr>
          <a:xfrm>
            <a:off x="3291840" y="1417320"/>
            <a:ext cx="5577840" cy="45720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Francisco Salguero, SES</a:t>
            </a:r>
            <a:endParaRPr lang="en-US" sz="1100" dirty="0"/>
          </a:p>
          <a:p>
            <a:pPr marL="0" indent="0">
              <a:buNone/>
            </a:pPr>
            <a:r>
              <a:rPr lang="en-US" sz="1100" dirty="0">
                <a:solidFill>
                  <a:srgbClr val="CADCFC"/>
                </a:solidFill>
                <a:latin typeface="Calibri" pitchFamily="34" charset="0"/>
                <a:ea typeface="Calibri" pitchFamily="34" charset="-122"/>
                <a:cs typeface="Calibri" pitchFamily="34" charset="-120"/>
              </a:rPr>
              <a:t>NAFI Authorizing Official</a:t>
            </a:r>
            <a:endParaRPr lang="en-US" sz="1100" dirty="0"/>
          </a:p>
          <a:p>
            <a:pPr marL="0" indent="0">
              <a:buNone/>
            </a:pPr>
            <a:r>
              <a:rPr lang="en-US" sz="1100" dirty="0">
                <a:solidFill>
                  <a:srgbClr val="CADCFC"/>
                </a:solidFill>
                <a:latin typeface="Calibri" pitchFamily="34" charset="0"/>
                <a:ea typeface="Calibri" pitchFamily="34" charset="-122"/>
                <a:cs typeface="Calibri" pitchFamily="34" charset="-120"/>
              </a:rPr>
              <a:t>USAF HAF AF/A1X</a:t>
            </a:r>
            <a:endParaRPr lang="en-US" sz="1100" dirty="0"/>
          </a:p>
        </p:txBody>
      </p:sp>
      <p:sp>
        <p:nvSpPr>
          <p:cNvPr id="12" name="Text 10"/>
          <p:cNvSpPr/>
          <p:nvPr/>
        </p:nvSpPr>
        <p:spPr>
          <a:xfrm>
            <a:off x="3291840" y="2011680"/>
            <a:ext cx="5577840" cy="182880"/>
          </a:xfrm>
          <a:prstGeom prst="rect">
            <a:avLst/>
          </a:prstGeom>
          <a:noFill/>
          <a:ln/>
        </p:spPr>
        <p:txBody>
          <a:bodyPr wrap="square" lIns="0" tIns="0" rIns="0" bIns="0" rtlCol="0" anchor="ctr"/>
          <a:lstStyle/>
          <a:p>
            <a:pPr marL="0" indent="0">
              <a:buNone/>
            </a:pPr>
            <a:r>
              <a:rPr lang="en-US" sz="750" b="1" kern="0" spc="200" dirty="0">
                <a:solidFill>
                  <a:srgbClr val="4A90D9"/>
                </a:solidFill>
                <a:latin typeface="Calibri" pitchFamily="34" charset="0"/>
                <a:ea typeface="Calibri" pitchFamily="34" charset="-122"/>
                <a:cs typeface="Calibri" pitchFamily="34" charset="-120"/>
              </a:rPr>
              <a:t>DATE</a:t>
            </a:r>
            <a:endParaRPr lang="en-US" sz="750" dirty="0"/>
          </a:p>
        </p:txBody>
      </p:sp>
      <p:sp>
        <p:nvSpPr>
          <p:cNvPr id="13" name="Text 11"/>
          <p:cNvSpPr/>
          <p:nvPr/>
        </p:nvSpPr>
        <p:spPr>
          <a:xfrm>
            <a:off x="3291840" y="2194560"/>
            <a:ext cx="5577840" cy="45720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22 May 2026</a:t>
            </a:r>
            <a:endParaRPr lang="en-US" sz="1100" dirty="0"/>
          </a:p>
        </p:txBody>
      </p:sp>
      <p:sp>
        <p:nvSpPr>
          <p:cNvPr id="14" name="Text 12"/>
          <p:cNvSpPr/>
          <p:nvPr/>
        </p:nvSpPr>
        <p:spPr>
          <a:xfrm>
            <a:off x="3291840" y="2788920"/>
            <a:ext cx="5577840" cy="182880"/>
          </a:xfrm>
          <a:prstGeom prst="rect">
            <a:avLst/>
          </a:prstGeom>
          <a:noFill/>
          <a:ln/>
        </p:spPr>
        <p:txBody>
          <a:bodyPr wrap="square" lIns="0" tIns="0" rIns="0" bIns="0" rtlCol="0" anchor="ctr"/>
          <a:lstStyle/>
          <a:p>
            <a:pPr marL="0" indent="0">
              <a:buNone/>
            </a:pPr>
            <a:r>
              <a:rPr lang="en-US" sz="750" b="1" kern="0" spc="200" dirty="0">
                <a:solidFill>
                  <a:srgbClr val="4A90D9"/>
                </a:solidFill>
                <a:latin typeface="Calibri" pitchFamily="34" charset="0"/>
                <a:ea typeface="Calibri" pitchFamily="34" charset="-122"/>
                <a:cs typeface="Calibri" pitchFamily="34" charset="-120"/>
              </a:rPr>
              <a:t>CLASSIFICATION</a:t>
            </a:r>
            <a:endParaRPr lang="en-US" sz="750" dirty="0"/>
          </a:p>
        </p:txBody>
      </p:sp>
      <p:sp>
        <p:nvSpPr>
          <p:cNvPr id="15" name="Text 13"/>
          <p:cNvSpPr/>
          <p:nvPr/>
        </p:nvSpPr>
        <p:spPr>
          <a:xfrm>
            <a:off x="3291840" y="2971800"/>
            <a:ext cx="5577840" cy="45720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UNCLASSIFIED // FOR OFFICIAL USE ONLY</a:t>
            </a:r>
            <a:endParaRPr lang="en-US" sz="1100" dirty="0"/>
          </a:p>
        </p:txBody>
      </p:sp>
      <p:sp>
        <p:nvSpPr>
          <p:cNvPr id="16" name="Text 14"/>
          <p:cNvSpPr/>
          <p:nvPr/>
        </p:nvSpPr>
        <p:spPr>
          <a:xfrm>
            <a:off x="3291840" y="3566160"/>
            <a:ext cx="5577840" cy="182880"/>
          </a:xfrm>
          <a:prstGeom prst="rect">
            <a:avLst/>
          </a:prstGeom>
          <a:noFill/>
          <a:ln/>
        </p:spPr>
        <p:txBody>
          <a:bodyPr wrap="square" lIns="0" tIns="0" rIns="0" bIns="0" rtlCol="0" anchor="ctr"/>
          <a:lstStyle/>
          <a:p>
            <a:pPr marL="0" indent="0">
              <a:buNone/>
            </a:pPr>
            <a:r>
              <a:rPr lang="en-US" sz="750" b="1" kern="0" spc="200" dirty="0">
                <a:solidFill>
                  <a:srgbClr val="4A90D9"/>
                </a:solidFill>
                <a:latin typeface="Calibri" pitchFamily="34" charset="0"/>
                <a:ea typeface="Calibri" pitchFamily="34" charset="-122"/>
                <a:cs typeface="Calibri" pitchFamily="34" charset="-120"/>
              </a:rPr>
              <a:t>AI FRAMEWORK</a:t>
            </a:r>
            <a:endParaRPr lang="en-US" sz="750" dirty="0"/>
          </a:p>
        </p:txBody>
      </p:sp>
      <p:sp>
        <p:nvSpPr>
          <p:cNvPr id="17" name="Text 15"/>
          <p:cNvSpPr/>
          <p:nvPr/>
        </p:nvSpPr>
        <p:spPr>
          <a:xfrm>
            <a:off x="3291840" y="3749040"/>
            <a:ext cx="5577840" cy="45720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NIST AI RMF 1.0 — GOVERN / MAP</a:t>
            </a:r>
            <a:endParaRPr lang="en-US" sz="1100" dirty="0"/>
          </a:p>
          <a:p>
            <a:pPr marL="0" indent="0">
              <a:buNone/>
            </a:pPr>
            <a:r>
              <a:rPr lang="en-US" sz="1100" dirty="0">
                <a:solidFill>
                  <a:srgbClr val="CADCFC"/>
                </a:solidFill>
                <a:latin typeface="Calibri" pitchFamily="34" charset="0"/>
                <a:ea typeface="Calibri" pitchFamily="34" charset="-122"/>
                <a:cs typeface="Calibri" pitchFamily="34" charset="-120"/>
              </a:rPr>
              <a:t>MEASURE / MANAGE</a:t>
            </a:r>
            <a:endParaRPr lang="en-US" sz="1100" dirty="0"/>
          </a:p>
        </p:txBody>
      </p:sp>
      <p:sp>
        <p:nvSpPr>
          <p:cNvPr id="18" name="Shape 16"/>
          <p:cNvSpPr/>
          <p:nvPr/>
        </p:nvSpPr>
        <p:spPr>
          <a:xfrm>
            <a:off x="3108960" y="4754880"/>
            <a:ext cx="6035040" cy="388620"/>
          </a:xfrm>
          <a:prstGeom prst="rect">
            <a:avLst/>
          </a:prstGeom>
          <a:solidFill>
            <a:srgbClr val="0F1A3D"/>
          </a:solidFill>
          <a:ln w="12700">
            <a:solidFill>
              <a:srgbClr val="0F1A3D"/>
            </a:solidFill>
            <a:prstDash val="solid"/>
          </a:ln>
        </p:spPr>
        <p:txBody>
          <a:bodyPr/>
          <a:lstStyle/>
          <a:p>
            <a:endParaRPr lang="en-US"/>
          </a:p>
        </p:txBody>
      </p:sp>
      <p:sp>
        <p:nvSpPr>
          <p:cNvPr id="19" name="Text 17"/>
          <p:cNvSpPr/>
          <p:nvPr/>
        </p:nvSpPr>
        <p:spPr>
          <a:xfrm>
            <a:off x="3108960" y="4773168"/>
            <a:ext cx="6035040" cy="182880"/>
          </a:xfrm>
          <a:prstGeom prst="rect">
            <a:avLst/>
          </a:prstGeom>
          <a:noFill/>
          <a:ln/>
        </p:spPr>
        <p:txBody>
          <a:bodyPr wrap="square" lIns="0" tIns="0" rIns="0" bIns="0" rtlCol="0" anchor="ctr"/>
          <a:lstStyle/>
          <a:p>
            <a:pPr marL="0" indent="0" algn="ctr">
              <a:buNone/>
            </a:pPr>
            <a:r>
              <a:rPr lang="en-US" sz="800" b="1" dirty="0">
                <a:solidFill>
                  <a:srgbClr val="8A9FCC"/>
                </a:solidFill>
                <a:latin typeface="Calibri" pitchFamily="34" charset="0"/>
                <a:ea typeface="Calibri" pitchFamily="34" charset="-122"/>
                <a:cs typeface="Calibri" pitchFamily="34" charset="-120"/>
              </a:rPr>
              <a:t>UNCLASSIFIED // FOR OFFICIAL USE ONLY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4A90D9"/>
          </a:solidFill>
          <a:ln w="12700">
            <a:solidFill>
              <a:srgbClr val="4A90D9"/>
            </a:solidFill>
            <a:prstDash val="solid"/>
          </a:ln>
        </p:spPr>
        <p:txBody>
          <a:bodyPr/>
          <a:lstStyle/>
          <a:p>
            <a:endParaRPr lang="en-US"/>
          </a:p>
        </p:txBody>
      </p:sp>
      <p:sp>
        <p:nvSpPr>
          <p:cNvPr id="3" name="Text 1"/>
          <p:cNvSpPr/>
          <p:nvPr/>
        </p:nvSpPr>
        <p:spPr>
          <a:xfrm>
            <a:off x="320040" y="164592"/>
            <a:ext cx="7315200" cy="201168"/>
          </a:xfrm>
          <a:prstGeom prst="rect">
            <a:avLst/>
          </a:prstGeom>
          <a:noFill/>
          <a:ln/>
        </p:spPr>
        <p:txBody>
          <a:bodyPr wrap="square" lIns="0" tIns="0" rIns="0" bIns="0" rtlCol="0" anchor="ctr"/>
          <a:lstStyle/>
          <a:p>
            <a:pPr marL="0" indent="0">
              <a:buNone/>
            </a:pPr>
            <a:r>
              <a:rPr lang="en-US" sz="850" b="1" kern="0" spc="300" dirty="0">
                <a:solidFill>
                  <a:srgbClr val="4A90D9"/>
                </a:solidFill>
                <a:latin typeface="Calibri" pitchFamily="34" charset="0"/>
                <a:ea typeface="Calibri" pitchFamily="34" charset="-122"/>
                <a:cs typeface="Calibri" pitchFamily="34" charset="-120"/>
              </a:rPr>
              <a:t>AGENDA</a:t>
            </a:r>
            <a:endParaRPr lang="en-US" sz="850" dirty="0"/>
          </a:p>
        </p:txBody>
      </p:sp>
      <p:sp>
        <p:nvSpPr>
          <p:cNvPr id="4" name="Text 2"/>
          <p:cNvSpPr/>
          <p:nvPr/>
        </p:nvSpPr>
        <p:spPr>
          <a:xfrm>
            <a:off x="320040" y="411480"/>
            <a:ext cx="8503920" cy="50292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What We're Covering Today</a:t>
            </a:r>
            <a:endParaRPr lang="en-US" sz="2600" dirty="0"/>
          </a:p>
        </p:txBody>
      </p:sp>
      <p:sp>
        <p:nvSpPr>
          <p:cNvPr id="5" name="Shape 3"/>
          <p:cNvSpPr/>
          <p:nvPr/>
        </p:nvSpPr>
        <p:spPr>
          <a:xfrm>
            <a:off x="320040" y="960120"/>
            <a:ext cx="8503920" cy="18288"/>
          </a:xfrm>
          <a:prstGeom prst="rect">
            <a:avLst/>
          </a:prstGeom>
          <a:solidFill>
            <a:srgbClr val="CADCFC"/>
          </a:solidFill>
          <a:ln w="12700">
            <a:solidFill>
              <a:srgbClr val="CADCFC"/>
            </a:solidFill>
            <a:prstDash val="solid"/>
          </a:ln>
        </p:spPr>
        <p:txBody>
          <a:bodyPr/>
          <a:lstStyle/>
          <a:p>
            <a:endParaRPr lang="en-US"/>
          </a:p>
        </p:txBody>
      </p:sp>
      <p:sp>
        <p:nvSpPr>
          <p:cNvPr id="6" name="Shape 4"/>
          <p:cNvSpPr/>
          <p:nvPr/>
        </p:nvSpPr>
        <p:spPr>
          <a:xfrm>
            <a:off x="320040" y="1078992"/>
            <a:ext cx="347472" cy="347472"/>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320040" y="1097280"/>
            <a:ext cx="34747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777240" y="1078992"/>
            <a:ext cx="2560320" cy="18288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The Problem</a:t>
            </a:r>
            <a:endParaRPr lang="en-US" sz="1200" dirty="0"/>
          </a:p>
        </p:txBody>
      </p:sp>
      <p:sp>
        <p:nvSpPr>
          <p:cNvPr id="9" name="Text 7"/>
          <p:cNvSpPr/>
          <p:nvPr/>
        </p:nvSpPr>
        <p:spPr>
          <a:xfrm>
            <a:off x="777240" y="1261872"/>
            <a:ext cx="7863840" cy="164592"/>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Portfolio blind spots, documentation burden, ATO expiration risk</a:t>
            </a:r>
            <a:endParaRPr lang="en-US" sz="950" dirty="0"/>
          </a:p>
        </p:txBody>
      </p:sp>
      <p:sp>
        <p:nvSpPr>
          <p:cNvPr id="10" name="Shape 8"/>
          <p:cNvSpPr/>
          <p:nvPr/>
        </p:nvSpPr>
        <p:spPr>
          <a:xfrm>
            <a:off x="320040" y="1609344"/>
            <a:ext cx="347472" cy="347472"/>
          </a:xfrm>
          <a:prstGeom prst="rect">
            <a:avLst/>
          </a:prstGeom>
          <a:solidFill>
            <a:srgbClr val="1E2761"/>
          </a:solidFill>
          <a:ln w="12700">
            <a:solidFill>
              <a:srgbClr val="1E2761"/>
            </a:solidFill>
            <a:prstDash val="solid"/>
          </a:ln>
        </p:spPr>
        <p:txBody>
          <a:bodyPr/>
          <a:lstStyle/>
          <a:p>
            <a:endParaRPr lang="en-US"/>
          </a:p>
        </p:txBody>
      </p:sp>
      <p:sp>
        <p:nvSpPr>
          <p:cNvPr id="11" name="Text 9"/>
          <p:cNvSpPr/>
          <p:nvPr/>
        </p:nvSpPr>
        <p:spPr>
          <a:xfrm>
            <a:off x="320040" y="1627632"/>
            <a:ext cx="34747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2" name="Text 10"/>
          <p:cNvSpPr/>
          <p:nvPr/>
        </p:nvSpPr>
        <p:spPr>
          <a:xfrm>
            <a:off x="777240" y="1609344"/>
            <a:ext cx="2560320" cy="18288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Proposed Solution</a:t>
            </a:r>
            <a:endParaRPr lang="en-US" sz="1200" dirty="0"/>
          </a:p>
        </p:txBody>
      </p:sp>
      <p:sp>
        <p:nvSpPr>
          <p:cNvPr id="13" name="Text 11"/>
          <p:cNvSpPr/>
          <p:nvPr/>
        </p:nvSpPr>
        <p:spPr>
          <a:xfrm>
            <a:off x="777240" y="1792224"/>
            <a:ext cx="7863840" cy="164592"/>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RMF COMMANDER capabilities and how they work</a:t>
            </a:r>
            <a:endParaRPr lang="en-US" sz="950" dirty="0"/>
          </a:p>
        </p:txBody>
      </p:sp>
      <p:sp>
        <p:nvSpPr>
          <p:cNvPr id="14" name="Shape 12"/>
          <p:cNvSpPr/>
          <p:nvPr/>
        </p:nvSpPr>
        <p:spPr>
          <a:xfrm>
            <a:off x="320040" y="2139696"/>
            <a:ext cx="347472" cy="347472"/>
          </a:xfrm>
          <a:prstGeom prst="rect">
            <a:avLst/>
          </a:prstGeom>
          <a:solidFill>
            <a:srgbClr val="1E2761"/>
          </a:solidFill>
          <a:ln w="12700">
            <a:solidFill>
              <a:srgbClr val="1E2761"/>
            </a:solidFill>
            <a:prstDash val="solid"/>
          </a:ln>
        </p:spPr>
        <p:txBody>
          <a:bodyPr/>
          <a:lstStyle/>
          <a:p>
            <a:endParaRPr lang="en-US"/>
          </a:p>
        </p:txBody>
      </p:sp>
      <p:sp>
        <p:nvSpPr>
          <p:cNvPr id="15" name="Text 13"/>
          <p:cNvSpPr/>
          <p:nvPr/>
        </p:nvSpPr>
        <p:spPr>
          <a:xfrm>
            <a:off x="320040" y="2157984"/>
            <a:ext cx="34747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6" name="Text 14"/>
          <p:cNvSpPr/>
          <p:nvPr/>
        </p:nvSpPr>
        <p:spPr>
          <a:xfrm>
            <a:off x="777240" y="2139696"/>
            <a:ext cx="2560320" cy="18288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AI Governance</a:t>
            </a:r>
            <a:endParaRPr lang="en-US" sz="1200" dirty="0"/>
          </a:p>
        </p:txBody>
      </p:sp>
      <p:sp>
        <p:nvSpPr>
          <p:cNvPr id="17" name="Text 15"/>
          <p:cNvSpPr/>
          <p:nvPr/>
        </p:nvSpPr>
        <p:spPr>
          <a:xfrm>
            <a:off x="777240" y="2322576"/>
            <a:ext cx="7863840" cy="164592"/>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NIST AI RMF alignment — GOVERN, MAP, MEASURE, MANAGE</a:t>
            </a:r>
            <a:endParaRPr lang="en-US" sz="950" dirty="0"/>
          </a:p>
        </p:txBody>
      </p:sp>
      <p:sp>
        <p:nvSpPr>
          <p:cNvPr id="18" name="Shape 16"/>
          <p:cNvSpPr/>
          <p:nvPr/>
        </p:nvSpPr>
        <p:spPr>
          <a:xfrm>
            <a:off x="320040" y="2670048"/>
            <a:ext cx="347472" cy="347472"/>
          </a:xfrm>
          <a:prstGeom prst="rect">
            <a:avLst/>
          </a:prstGeom>
          <a:solidFill>
            <a:srgbClr val="1E2761"/>
          </a:solidFill>
          <a:ln w="12700">
            <a:solidFill>
              <a:srgbClr val="1E2761"/>
            </a:solidFill>
            <a:prstDash val="solid"/>
          </a:ln>
        </p:spPr>
        <p:txBody>
          <a:bodyPr/>
          <a:lstStyle/>
          <a:p>
            <a:endParaRPr lang="en-US"/>
          </a:p>
        </p:txBody>
      </p:sp>
      <p:sp>
        <p:nvSpPr>
          <p:cNvPr id="19" name="Text 17"/>
          <p:cNvSpPr/>
          <p:nvPr/>
        </p:nvSpPr>
        <p:spPr>
          <a:xfrm>
            <a:off x="320040" y="2688336"/>
            <a:ext cx="34747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0" name="Text 18"/>
          <p:cNvSpPr/>
          <p:nvPr/>
        </p:nvSpPr>
        <p:spPr>
          <a:xfrm>
            <a:off x="777240" y="2670048"/>
            <a:ext cx="2560320" cy="18288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Security Architecture</a:t>
            </a:r>
            <a:endParaRPr lang="en-US" sz="1200" dirty="0"/>
          </a:p>
        </p:txBody>
      </p:sp>
      <p:sp>
        <p:nvSpPr>
          <p:cNvPr id="21" name="Text 19"/>
          <p:cNvSpPr/>
          <p:nvPr/>
        </p:nvSpPr>
        <p:spPr>
          <a:xfrm>
            <a:off x="777240" y="2852928"/>
            <a:ext cx="7863840" cy="164592"/>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BFF pattern, derived credentials, DoD cloud boundary</a:t>
            </a:r>
            <a:endParaRPr lang="en-US" sz="950" dirty="0"/>
          </a:p>
        </p:txBody>
      </p:sp>
      <p:sp>
        <p:nvSpPr>
          <p:cNvPr id="22" name="Shape 20"/>
          <p:cNvSpPr/>
          <p:nvPr/>
        </p:nvSpPr>
        <p:spPr>
          <a:xfrm>
            <a:off x="320040" y="3200400"/>
            <a:ext cx="347472" cy="347472"/>
          </a:xfrm>
          <a:prstGeom prst="rect">
            <a:avLst/>
          </a:prstGeom>
          <a:solidFill>
            <a:srgbClr val="1E2761"/>
          </a:solidFill>
          <a:ln w="12700">
            <a:solidFill>
              <a:srgbClr val="1E2761"/>
            </a:solidFill>
            <a:prstDash val="solid"/>
          </a:ln>
        </p:spPr>
        <p:txBody>
          <a:bodyPr/>
          <a:lstStyle/>
          <a:p>
            <a:endParaRPr lang="en-US"/>
          </a:p>
        </p:txBody>
      </p:sp>
      <p:sp>
        <p:nvSpPr>
          <p:cNvPr id="23" name="Text 21"/>
          <p:cNvSpPr/>
          <p:nvPr/>
        </p:nvSpPr>
        <p:spPr>
          <a:xfrm>
            <a:off x="320040" y="3218688"/>
            <a:ext cx="34747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4" name="Text 22"/>
          <p:cNvSpPr/>
          <p:nvPr/>
        </p:nvSpPr>
        <p:spPr>
          <a:xfrm>
            <a:off x="777240" y="3200400"/>
            <a:ext cx="2560320" cy="18288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90-Day Pilot Plan</a:t>
            </a:r>
            <a:endParaRPr lang="en-US" sz="1200" dirty="0"/>
          </a:p>
        </p:txBody>
      </p:sp>
      <p:sp>
        <p:nvSpPr>
          <p:cNvPr id="25" name="Text 23"/>
          <p:cNvSpPr/>
          <p:nvPr/>
        </p:nvSpPr>
        <p:spPr>
          <a:xfrm>
            <a:off x="777240" y="3383280"/>
            <a:ext cx="7863840" cy="164592"/>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Scope, timeline, success metrics, governance</a:t>
            </a:r>
            <a:endParaRPr lang="en-US" sz="950" dirty="0"/>
          </a:p>
        </p:txBody>
      </p:sp>
      <p:sp>
        <p:nvSpPr>
          <p:cNvPr id="26" name="Shape 24"/>
          <p:cNvSpPr/>
          <p:nvPr/>
        </p:nvSpPr>
        <p:spPr>
          <a:xfrm>
            <a:off x="320040" y="3730752"/>
            <a:ext cx="347472" cy="347472"/>
          </a:xfrm>
          <a:prstGeom prst="rect">
            <a:avLst/>
          </a:prstGeom>
          <a:solidFill>
            <a:srgbClr val="1E2761"/>
          </a:solidFill>
          <a:ln w="12700">
            <a:solidFill>
              <a:srgbClr val="1E2761"/>
            </a:solidFill>
            <a:prstDash val="solid"/>
          </a:ln>
        </p:spPr>
        <p:txBody>
          <a:bodyPr/>
          <a:lstStyle/>
          <a:p>
            <a:endParaRPr lang="en-US"/>
          </a:p>
        </p:txBody>
      </p:sp>
      <p:sp>
        <p:nvSpPr>
          <p:cNvPr id="27" name="Text 25"/>
          <p:cNvSpPr/>
          <p:nvPr/>
        </p:nvSpPr>
        <p:spPr>
          <a:xfrm>
            <a:off x="320040" y="3749040"/>
            <a:ext cx="34747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8" name="Text 26"/>
          <p:cNvSpPr/>
          <p:nvPr/>
        </p:nvSpPr>
        <p:spPr>
          <a:xfrm>
            <a:off x="777240" y="3730752"/>
            <a:ext cx="2560320" cy="18288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Risk and Controls</a:t>
            </a:r>
            <a:endParaRPr lang="en-US" sz="1200" dirty="0"/>
          </a:p>
        </p:txBody>
      </p:sp>
      <p:sp>
        <p:nvSpPr>
          <p:cNvPr id="29" name="Text 27"/>
          <p:cNvSpPr/>
          <p:nvPr/>
        </p:nvSpPr>
        <p:spPr>
          <a:xfrm>
            <a:off x="777240" y="3913632"/>
            <a:ext cx="7863840" cy="164592"/>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Risk register, mitigations, control principles</a:t>
            </a:r>
            <a:endParaRPr lang="en-US" sz="950" dirty="0"/>
          </a:p>
        </p:txBody>
      </p:sp>
      <p:sp>
        <p:nvSpPr>
          <p:cNvPr id="30" name="Shape 28"/>
          <p:cNvSpPr/>
          <p:nvPr/>
        </p:nvSpPr>
        <p:spPr>
          <a:xfrm>
            <a:off x="320040" y="4261104"/>
            <a:ext cx="347472" cy="347472"/>
          </a:xfrm>
          <a:prstGeom prst="rect">
            <a:avLst/>
          </a:prstGeom>
          <a:solidFill>
            <a:srgbClr val="1E2761"/>
          </a:solidFill>
          <a:ln w="12700">
            <a:solidFill>
              <a:srgbClr val="1E2761"/>
            </a:solidFill>
            <a:prstDash val="solid"/>
          </a:ln>
        </p:spPr>
        <p:txBody>
          <a:bodyPr/>
          <a:lstStyle/>
          <a:p>
            <a:endParaRPr lang="en-US"/>
          </a:p>
        </p:txBody>
      </p:sp>
      <p:sp>
        <p:nvSpPr>
          <p:cNvPr id="31" name="Text 29"/>
          <p:cNvSpPr/>
          <p:nvPr/>
        </p:nvSpPr>
        <p:spPr>
          <a:xfrm>
            <a:off x="320040" y="4279392"/>
            <a:ext cx="34747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32" name="Text 30"/>
          <p:cNvSpPr/>
          <p:nvPr/>
        </p:nvSpPr>
        <p:spPr>
          <a:xfrm>
            <a:off x="777240" y="4261104"/>
            <a:ext cx="2560320" cy="18288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Decision Requested</a:t>
            </a:r>
            <a:endParaRPr lang="en-US" sz="1200" dirty="0"/>
          </a:p>
        </p:txBody>
      </p:sp>
      <p:sp>
        <p:nvSpPr>
          <p:cNvPr id="33" name="Text 31"/>
          <p:cNvSpPr/>
          <p:nvPr/>
        </p:nvSpPr>
        <p:spPr>
          <a:xfrm>
            <a:off x="777240" y="4443984"/>
            <a:ext cx="7863840" cy="164592"/>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What we are asking the AO to approve today</a:t>
            </a:r>
            <a:endParaRPr lang="en-US" sz="950" dirty="0"/>
          </a:p>
        </p:txBody>
      </p:sp>
      <p:sp>
        <p:nvSpPr>
          <p:cNvPr id="35" name="Text 32"/>
          <p:cNvSpPr/>
          <p:nvPr/>
        </p:nvSpPr>
        <p:spPr>
          <a:xfrm>
            <a:off x="0" y="4956048"/>
            <a:ext cx="9144000" cy="182880"/>
          </a:xfrm>
          <a:prstGeom prst="rect">
            <a:avLst/>
          </a:prstGeom>
          <a:noFill/>
          <a:ln/>
        </p:spPr>
        <p:txBody>
          <a:bodyPr wrap="square" lIns="0" tIns="0" rIns="0" bIns="0" rtlCol="0" anchor="ctr"/>
          <a:lstStyle/>
          <a:p>
            <a:pPr marL="0" indent="0" algn="ctr">
              <a:buNone/>
            </a:pPr>
            <a:r>
              <a:rPr lang="en-US" sz="800" b="1" dirty="0">
                <a:solidFill>
                  <a:srgbClr val="8A9FCC"/>
                </a:solidFill>
                <a:latin typeface="Calibri" pitchFamily="34" charset="0"/>
                <a:ea typeface="Calibri" pitchFamily="34" charset="-122"/>
                <a:cs typeface="Calibri" pitchFamily="34" charset="-120"/>
              </a:rPr>
              <a:t>UNCLASSIFIED // FOR OFFICIAL USE ONLY</a:t>
            </a:r>
            <a:endParaRPr lang="en-US" sz="800" dirty="0"/>
          </a:p>
        </p:txBody>
      </p:sp>
      <p:sp>
        <p:nvSpPr>
          <p:cNvPr id="36" name="Text 33"/>
          <p:cNvSpPr/>
          <p:nvPr/>
        </p:nvSpPr>
        <p:spPr>
          <a:xfrm>
            <a:off x="8046720" y="4956048"/>
            <a:ext cx="1097280" cy="182880"/>
          </a:xfrm>
          <a:prstGeom prst="rect">
            <a:avLst/>
          </a:prstGeom>
          <a:noFill/>
          <a:ln/>
        </p:spPr>
        <p:txBody>
          <a:bodyPr wrap="square" lIns="0" tIns="0" rIns="0" bIns="0" rtlCol="0" anchor="ctr"/>
          <a:lstStyle/>
          <a:p>
            <a:pPr marL="0" indent="0" algn="r">
              <a:buNone/>
            </a:pPr>
            <a:r>
              <a:rPr lang="en-US" sz="800" dirty="0">
                <a:solidFill>
                  <a:srgbClr val="8A9FCC"/>
                </a:solidFill>
                <a:latin typeface="Calibri" pitchFamily="34" charset="0"/>
                <a:ea typeface="Calibri" pitchFamily="34" charset="-122"/>
                <a:cs typeface="Calibri" pitchFamily="34" charset="-120"/>
              </a:rPr>
              <a:t>2 / 12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4A90D9"/>
          </a:solidFill>
          <a:ln w="12700">
            <a:solidFill>
              <a:srgbClr val="4A90D9"/>
            </a:solidFill>
            <a:prstDash val="solid"/>
          </a:ln>
        </p:spPr>
        <p:txBody>
          <a:bodyPr/>
          <a:lstStyle/>
          <a:p>
            <a:endParaRPr lang="en-US"/>
          </a:p>
        </p:txBody>
      </p:sp>
      <p:sp>
        <p:nvSpPr>
          <p:cNvPr id="3" name="Text 1"/>
          <p:cNvSpPr/>
          <p:nvPr/>
        </p:nvSpPr>
        <p:spPr>
          <a:xfrm>
            <a:off x="320040" y="164592"/>
            <a:ext cx="7315200" cy="201168"/>
          </a:xfrm>
          <a:prstGeom prst="rect">
            <a:avLst/>
          </a:prstGeom>
          <a:noFill/>
          <a:ln/>
        </p:spPr>
        <p:txBody>
          <a:bodyPr wrap="square" lIns="0" tIns="0" rIns="0" bIns="0" rtlCol="0" anchor="ctr"/>
          <a:lstStyle/>
          <a:p>
            <a:pPr marL="0" indent="0">
              <a:buNone/>
            </a:pPr>
            <a:r>
              <a:rPr lang="en-US" sz="850" b="1" kern="0" spc="300" dirty="0">
                <a:solidFill>
                  <a:srgbClr val="4A90D9"/>
                </a:solidFill>
                <a:latin typeface="Calibri" pitchFamily="34" charset="0"/>
                <a:ea typeface="Calibri" pitchFamily="34" charset="-122"/>
                <a:cs typeface="Calibri" pitchFamily="34" charset="-120"/>
              </a:rPr>
              <a:t>01  THE PROBLEM</a:t>
            </a:r>
            <a:endParaRPr lang="en-US" sz="850" dirty="0"/>
          </a:p>
        </p:txBody>
      </p:sp>
      <p:sp>
        <p:nvSpPr>
          <p:cNvPr id="4" name="Text 2"/>
          <p:cNvSpPr/>
          <p:nvPr/>
        </p:nvSpPr>
        <p:spPr>
          <a:xfrm>
            <a:off x="320040" y="411480"/>
            <a:ext cx="8503920" cy="50292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Four Gaps Driving the Need</a:t>
            </a:r>
            <a:endParaRPr lang="en-US" sz="2600" dirty="0"/>
          </a:p>
        </p:txBody>
      </p:sp>
      <p:sp>
        <p:nvSpPr>
          <p:cNvPr id="5" name="Shape 3"/>
          <p:cNvSpPr/>
          <p:nvPr/>
        </p:nvSpPr>
        <p:spPr>
          <a:xfrm>
            <a:off x="320040" y="960120"/>
            <a:ext cx="8503920" cy="18288"/>
          </a:xfrm>
          <a:prstGeom prst="rect">
            <a:avLst/>
          </a:prstGeom>
          <a:solidFill>
            <a:srgbClr val="CADCFC"/>
          </a:solidFill>
          <a:ln w="12700">
            <a:solidFill>
              <a:srgbClr val="CADCFC"/>
            </a:solidFill>
            <a:prstDash val="solid"/>
          </a:ln>
        </p:spPr>
        <p:txBody>
          <a:bodyPr/>
          <a:lstStyle/>
          <a:p>
            <a:endParaRPr lang="en-US"/>
          </a:p>
        </p:txBody>
      </p:sp>
      <p:sp>
        <p:nvSpPr>
          <p:cNvPr id="6" name="Shape 4"/>
          <p:cNvSpPr/>
          <p:nvPr/>
        </p:nvSpPr>
        <p:spPr>
          <a:xfrm>
            <a:off x="320040" y="1097280"/>
            <a:ext cx="4114800" cy="1600200"/>
          </a:xfrm>
          <a:prstGeom prst="rect">
            <a:avLst/>
          </a:prstGeom>
          <a:solidFill>
            <a:srgbClr val="FFFFFF"/>
          </a:solidFill>
          <a:ln/>
          <a:effectLst>
            <a:outerShdw blurRad="76200" dist="12700" dir="8100000" algn="bl" rotWithShape="0">
              <a:srgbClr val="000000">
                <a:alpha val="10000"/>
              </a:srgbClr>
            </a:outerShdw>
          </a:effectLst>
        </p:spPr>
        <p:txBody>
          <a:bodyPr/>
          <a:lstStyle/>
          <a:p>
            <a:endParaRPr lang="en-US"/>
          </a:p>
        </p:txBody>
      </p:sp>
      <p:sp>
        <p:nvSpPr>
          <p:cNvPr id="7" name="Shape 5"/>
          <p:cNvSpPr/>
          <p:nvPr/>
        </p:nvSpPr>
        <p:spPr>
          <a:xfrm>
            <a:off x="320040" y="1097280"/>
            <a:ext cx="54864" cy="1600200"/>
          </a:xfrm>
          <a:prstGeom prst="rect">
            <a:avLst/>
          </a:prstGeom>
          <a:solidFill>
            <a:srgbClr val="4A90D9"/>
          </a:solidFill>
          <a:ln w="12700">
            <a:solidFill>
              <a:srgbClr val="4A90D9"/>
            </a:solidFill>
            <a:prstDash val="solid"/>
          </a:ln>
        </p:spPr>
        <p:txBody>
          <a:bodyPr/>
          <a:lstStyle/>
          <a:p>
            <a:endParaRPr lang="en-US"/>
          </a:p>
        </p:txBody>
      </p:sp>
      <p:sp>
        <p:nvSpPr>
          <p:cNvPr id="8" name="Shape 6"/>
          <p:cNvSpPr/>
          <p:nvPr/>
        </p:nvSpPr>
        <p:spPr>
          <a:xfrm>
            <a:off x="448056" y="1234440"/>
            <a:ext cx="384048" cy="384048"/>
          </a:xfrm>
          <a:prstGeom prst="rect">
            <a:avLst/>
          </a:prstGeom>
          <a:solidFill>
            <a:srgbClr val="1E2761"/>
          </a:solidFill>
          <a:ln w="12700">
            <a:solidFill>
              <a:srgbClr val="1E2761"/>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84632" y="1271016"/>
            <a:ext cx="310896" cy="310896"/>
          </a:xfrm>
          <a:prstGeom prst="rect">
            <a:avLst/>
          </a:prstGeom>
        </p:spPr>
      </p:pic>
      <p:sp>
        <p:nvSpPr>
          <p:cNvPr id="10" name="Text 7"/>
          <p:cNvSpPr/>
          <p:nvPr/>
        </p:nvSpPr>
        <p:spPr>
          <a:xfrm>
            <a:off x="914400" y="1261872"/>
            <a:ext cx="3429000" cy="25603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No Mobile Visibility</a:t>
            </a:r>
            <a:endParaRPr lang="en-US" sz="1300" dirty="0"/>
          </a:p>
        </p:txBody>
      </p:sp>
      <p:sp>
        <p:nvSpPr>
          <p:cNvPr id="11" name="Text 8"/>
          <p:cNvSpPr/>
          <p:nvPr/>
        </p:nvSpPr>
        <p:spPr>
          <a:xfrm>
            <a:off x="448056" y="1664208"/>
            <a:ext cx="3913632" cy="9601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ATO status and POA&amp;M counts require a full eMASS desktop session. ISSMs can't answer real-time AO questions from the field.</a:t>
            </a:r>
            <a:endParaRPr lang="en-US" sz="1000" dirty="0"/>
          </a:p>
        </p:txBody>
      </p:sp>
      <p:sp>
        <p:nvSpPr>
          <p:cNvPr id="12" name="Shape 9"/>
          <p:cNvSpPr/>
          <p:nvPr/>
        </p:nvSpPr>
        <p:spPr>
          <a:xfrm>
            <a:off x="4663440" y="1097280"/>
            <a:ext cx="4114800" cy="1600200"/>
          </a:xfrm>
          <a:prstGeom prst="rect">
            <a:avLst/>
          </a:prstGeom>
          <a:solidFill>
            <a:srgbClr val="FFFFFF"/>
          </a:solidFill>
          <a:ln/>
          <a:effectLst>
            <a:outerShdw blurRad="76200" dist="12700" dir="8100000" algn="bl" rotWithShape="0">
              <a:srgbClr val="000000">
                <a:alpha val="10000"/>
              </a:srgbClr>
            </a:outerShdw>
          </a:effectLst>
        </p:spPr>
        <p:txBody>
          <a:bodyPr/>
          <a:lstStyle/>
          <a:p>
            <a:endParaRPr lang="en-US"/>
          </a:p>
        </p:txBody>
      </p:sp>
      <p:sp>
        <p:nvSpPr>
          <p:cNvPr id="13" name="Shape 10"/>
          <p:cNvSpPr/>
          <p:nvPr/>
        </p:nvSpPr>
        <p:spPr>
          <a:xfrm>
            <a:off x="4663440" y="1097280"/>
            <a:ext cx="54864" cy="1600200"/>
          </a:xfrm>
          <a:prstGeom prst="rect">
            <a:avLst/>
          </a:prstGeom>
          <a:solidFill>
            <a:srgbClr val="4A90D9"/>
          </a:solidFill>
          <a:ln w="12700">
            <a:solidFill>
              <a:srgbClr val="4A90D9"/>
            </a:solidFill>
            <a:prstDash val="solid"/>
          </a:ln>
        </p:spPr>
        <p:txBody>
          <a:bodyPr/>
          <a:lstStyle/>
          <a:p>
            <a:endParaRPr lang="en-US"/>
          </a:p>
        </p:txBody>
      </p:sp>
      <p:sp>
        <p:nvSpPr>
          <p:cNvPr id="14" name="Shape 11"/>
          <p:cNvSpPr/>
          <p:nvPr/>
        </p:nvSpPr>
        <p:spPr>
          <a:xfrm>
            <a:off x="4791456" y="1234440"/>
            <a:ext cx="384048" cy="384048"/>
          </a:xfrm>
          <a:prstGeom prst="rect">
            <a:avLst/>
          </a:prstGeom>
          <a:solidFill>
            <a:srgbClr val="1E2761"/>
          </a:solidFill>
          <a:ln w="12700">
            <a:solidFill>
              <a:srgbClr val="1E2761"/>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828032" y="1271016"/>
            <a:ext cx="310896" cy="310896"/>
          </a:xfrm>
          <a:prstGeom prst="rect">
            <a:avLst/>
          </a:prstGeom>
        </p:spPr>
      </p:pic>
      <p:sp>
        <p:nvSpPr>
          <p:cNvPr id="16" name="Text 12"/>
          <p:cNvSpPr/>
          <p:nvPr/>
        </p:nvSpPr>
        <p:spPr>
          <a:xfrm>
            <a:off x="5257800" y="1261872"/>
            <a:ext cx="3429000" cy="25603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Documentation Burden</a:t>
            </a:r>
            <a:endParaRPr lang="en-US" sz="1300" dirty="0"/>
          </a:p>
        </p:txBody>
      </p:sp>
      <p:sp>
        <p:nvSpPr>
          <p:cNvPr id="17" name="Text 13"/>
          <p:cNvSpPr/>
          <p:nvPr/>
        </p:nvSpPr>
        <p:spPr>
          <a:xfrm>
            <a:off x="4791456" y="1664208"/>
            <a:ext cx="3913632" cy="9601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Control statements, POA&amp;M entries, and monitoring summaries written manually each cycle. 40–60% of ISSM time on documentation.</a:t>
            </a:r>
            <a:endParaRPr lang="en-US" sz="1000" dirty="0"/>
          </a:p>
        </p:txBody>
      </p:sp>
      <p:sp>
        <p:nvSpPr>
          <p:cNvPr id="18" name="Shape 14"/>
          <p:cNvSpPr/>
          <p:nvPr/>
        </p:nvSpPr>
        <p:spPr>
          <a:xfrm>
            <a:off x="320040" y="2926080"/>
            <a:ext cx="4114800" cy="1600200"/>
          </a:xfrm>
          <a:prstGeom prst="rect">
            <a:avLst/>
          </a:prstGeom>
          <a:solidFill>
            <a:srgbClr val="FFFFFF"/>
          </a:solidFill>
          <a:ln/>
          <a:effectLst>
            <a:outerShdw blurRad="76200" dist="12700" dir="8100000" algn="bl" rotWithShape="0">
              <a:srgbClr val="000000">
                <a:alpha val="10000"/>
              </a:srgbClr>
            </a:outerShdw>
          </a:effectLst>
        </p:spPr>
        <p:txBody>
          <a:bodyPr/>
          <a:lstStyle/>
          <a:p>
            <a:endParaRPr lang="en-US"/>
          </a:p>
        </p:txBody>
      </p:sp>
      <p:sp>
        <p:nvSpPr>
          <p:cNvPr id="19" name="Shape 15"/>
          <p:cNvSpPr/>
          <p:nvPr/>
        </p:nvSpPr>
        <p:spPr>
          <a:xfrm>
            <a:off x="320040" y="2926080"/>
            <a:ext cx="54864" cy="1600200"/>
          </a:xfrm>
          <a:prstGeom prst="rect">
            <a:avLst/>
          </a:prstGeom>
          <a:solidFill>
            <a:srgbClr val="4A90D9"/>
          </a:solidFill>
          <a:ln w="12700">
            <a:solidFill>
              <a:srgbClr val="4A90D9"/>
            </a:solidFill>
            <a:prstDash val="solid"/>
          </a:ln>
        </p:spPr>
        <p:txBody>
          <a:bodyPr/>
          <a:lstStyle/>
          <a:p>
            <a:endParaRPr lang="en-US"/>
          </a:p>
        </p:txBody>
      </p:sp>
      <p:sp>
        <p:nvSpPr>
          <p:cNvPr id="20" name="Shape 16"/>
          <p:cNvSpPr/>
          <p:nvPr/>
        </p:nvSpPr>
        <p:spPr>
          <a:xfrm>
            <a:off x="448056" y="3063240"/>
            <a:ext cx="384048" cy="384048"/>
          </a:xfrm>
          <a:prstGeom prst="rect">
            <a:avLst/>
          </a:prstGeom>
          <a:solidFill>
            <a:srgbClr val="1E2761"/>
          </a:solidFill>
          <a:ln w="12700">
            <a:solidFill>
              <a:srgbClr val="1E2761"/>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484632" y="3099816"/>
            <a:ext cx="310896" cy="310896"/>
          </a:xfrm>
          <a:prstGeom prst="rect">
            <a:avLst/>
          </a:prstGeom>
        </p:spPr>
      </p:pic>
      <p:sp>
        <p:nvSpPr>
          <p:cNvPr id="22" name="Text 17"/>
          <p:cNvSpPr/>
          <p:nvPr/>
        </p:nvSpPr>
        <p:spPr>
          <a:xfrm>
            <a:off x="914400" y="3090672"/>
            <a:ext cx="3429000" cy="25603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Reactive Awareness</a:t>
            </a:r>
            <a:endParaRPr lang="en-US" sz="1300" dirty="0"/>
          </a:p>
        </p:txBody>
      </p:sp>
      <p:sp>
        <p:nvSpPr>
          <p:cNvPr id="23" name="Text 18"/>
          <p:cNvSpPr/>
          <p:nvPr/>
        </p:nvSpPr>
        <p:spPr>
          <a:xfrm>
            <a:off x="448056" y="3493008"/>
            <a:ext cx="3913632" cy="9601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Critical CVEs and STIG updates discovered during scheduled scans — not in real time. Findings can sit open for days before ISSM sees them.</a:t>
            </a:r>
            <a:endParaRPr lang="en-US" sz="1000" dirty="0"/>
          </a:p>
        </p:txBody>
      </p:sp>
      <p:sp>
        <p:nvSpPr>
          <p:cNvPr id="24" name="Shape 19"/>
          <p:cNvSpPr/>
          <p:nvPr/>
        </p:nvSpPr>
        <p:spPr>
          <a:xfrm>
            <a:off x="4663440" y="2926080"/>
            <a:ext cx="4114800" cy="1600200"/>
          </a:xfrm>
          <a:prstGeom prst="rect">
            <a:avLst/>
          </a:prstGeom>
          <a:solidFill>
            <a:srgbClr val="FFFFFF"/>
          </a:solidFill>
          <a:ln/>
          <a:effectLst>
            <a:outerShdw blurRad="76200" dist="12700" dir="8100000" algn="bl" rotWithShape="0">
              <a:srgbClr val="000000">
                <a:alpha val="10000"/>
              </a:srgbClr>
            </a:outerShdw>
          </a:effectLst>
        </p:spPr>
        <p:txBody>
          <a:bodyPr/>
          <a:lstStyle/>
          <a:p>
            <a:endParaRPr lang="en-US"/>
          </a:p>
        </p:txBody>
      </p:sp>
      <p:sp>
        <p:nvSpPr>
          <p:cNvPr id="25" name="Shape 20"/>
          <p:cNvSpPr/>
          <p:nvPr/>
        </p:nvSpPr>
        <p:spPr>
          <a:xfrm>
            <a:off x="4663440" y="2926080"/>
            <a:ext cx="54864" cy="1600200"/>
          </a:xfrm>
          <a:prstGeom prst="rect">
            <a:avLst/>
          </a:prstGeom>
          <a:solidFill>
            <a:srgbClr val="4A90D9"/>
          </a:solidFill>
          <a:ln w="12700">
            <a:solidFill>
              <a:srgbClr val="4A90D9"/>
            </a:solidFill>
            <a:prstDash val="solid"/>
          </a:ln>
        </p:spPr>
        <p:txBody>
          <a:bodyPr/>
          <a:lstStyle/>
          <a:p>
            <a:endParaRPr lang="en-US"/>
          </a:p>
        </p:txBody>
      </p:sp>
      <p:sp>
        <p:nvSpPr>
          <p:cNvPr id="26" name="Shape 21"/>
          <p:cNvSpPr/>
          <p:nvPr/>
        </p:nvSpPr>
        <p:spPr>
          <a:xfrm>
            <a:off x="4791456" y="3063240"/>
            <a:ext cx="384048" cy="384048"/>
          </a:xfrm>
          <a:prstGeom prst="rect">
            <a:avLst/>
          </a:prstGeom>
          <a:solidFill>
            <a:srgbClr val="1E2761"/>
          </a:solidFill>
          <a:ln w="12700">
            <a:solidFill>
              <a:srgbClr val="1E2761"/>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4828032" y="3099816"/>
            <a:ext cx="310896" cy="310896"/>
          </a:xfrm>
          <a:prstGeom prst="rect">
            <a:avLst/>
          </a:prstGeom>
        </p:spPr>
      </p:pic>
      <p:sp>
        <p:nvSpPr>
          <p:cNvPr id="28" name="Text 22"/>
          <p:cNvSpPr/>
          <p:nvPr/>
        </p:nvSpPr>
        <p:spPr>
          <a:xfrm>
            <a:off x="5257800" y="3090672"/>
            <a:ext cx="3429000" cy="25603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ATO Expiration Risk</a:t>
            </a:r>
            <a:endParaRPr lang="en-US" sz="1300" dirty="0"/>
          </a:p>
        </p:txBody>
      </p:sp>
      <p:sp>
        <p:nvSpPr>
          <p:cNvPr id="29" name="Text 23"/>
          <p:cNvSpPr/>
          <p:nvPr/>
        </p:nvSpPr>
        <p:spPr>
          <a:xfrm>
            <a:off x="4791456" y="3493008"/>
            <a:ext cx="3913632" cy="9601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18 systems tracked by manual calendar reminders. One missed renewal window forces emergency action or IATT extensions.</a:t>
            </a:r>
            <a:endParaRPr lang="en-US" sz="1000" dirty="0"/>
          </a:p>
        </p:txBody>
      </p:sp>
      <p:sp>
        <p:nvSpPr>
          <p:cNvPr id="30" name="Text 24"/>
          <p:cNvSpPr/>
          <p:nvPr/>
        </p:nvSpPr>
        <p:spPr>
          <a:xfrm>
            <a:off x="320040" y="4736592"/>
            <a:ext cx="8503920" cy="201168"/>
          </a:xfrm>
          <a:prstGeom prst="rect">
            <a:avLst/>
          </a:prstGeom>
          <a:noFill/>
          <a:ln/>
        </p:spPr>
        <p:txBody>
          <a:bodyPr wrap="square" lIns="0" tIns="0" rIns="0" bIns="0" rtlCol="0" anchor="ctr"/>
          <a:lstStyle/>
          <a:p>
            <a:pPr marL="0" indent="0">
              <a:buNone/>
            </a:pPr>
            <a:r>
              <a:rPr lang="en-US" sz="900" i="1" dirty="0">
                <a:solidFill>
                  <a:srgbClr val="4A90D9"/>
                </a:solidFill>
                <a:latin typeface="Calibri" pitchFamily="34" charset="0"/>
                <a:ea typeface="Calibri" pitchFamily="34" charset="-122"/>
                <a:cs typeface="Calibri" pitchFamily="34" charset="-120"/>
              </a:rPr>
              <a:t>Proposal focus: reduce portfolio blind spots without changing AO, SCA, ISSM, or ISSO decision authority.</a:t>
            </a:r>
            <a:endParaRPr lang="en-US" sz="900" dirty="0"/>
          </a:p>
        </p:txBody>
      </p:sp>
      <p:sp>
        <p:nvSpPr>
          <p:cNvPr id="32" name="Text 25"/>
          <p:cNvSpPr/>
          <p:nvPr/>
        </p:nvSpPr>
        <p:spPr>
          <a:xfrm>
            <a:off x="0" y="4956048"/>
            <a:ext cx="9144000" cy="182880"/>
          </a:xfrm>
          <a:prstGeom prst="rect">
            <a:avLst/>
          </a:prstGeom>
          <a:noFill/>
          <a:ln/>
        </p:spPr>
        <p:txBody>
          <a:bodyPr wrap="square" lIns="0" tIns="0" rIns="0" bIns="0" rtlCol="0" anchor="ctr"/>
          <a:lstStyle/>
          <a:p>
            <a:pPr marL="0" indent="0" algn="ctr">
              <a:buNone/>
            </a:pPr>
            <a:r>
              <a:rPr lang="en-US" sz="800" b="1" dirty="0">
                <a:solidFill>
                  <a:srgbClr val="8A9FCC"/>
                </a:solidFill>
                <a:latin typeface="Calibri" pitchFamily="34" charset="0"/>
                <a:ea typeface="Calibri" pitchFamily="34" charset="-122"/>
                <a:cs typeface="Calibri" pitchFamily="34" charset="-120"/>
              </a:rPr>
              <a:t>UNCLASSIFIED // FOR OFFICIAL USE ONLY</a:t>
            </a:r>
            <a:endParaRPr lang="en-US" sz="800" dirty="0"/>
          </a:p>
        </p:txBody>
      </p:sp>
      <p:sp>
        <p:nvSpPr>
          <p:cNvPr id="33" name="Text 26"/>
          <p:cNvSpPr/>
          <p:nvPr/>
        </p:nvSpPr>
        <p:spPr>
          <a:xfrm>
            <a:off x="8046720" y="4956048"/>
            <a:ext cx="1097280" cy="182880"/>
          </a:xfrm>
          <a:prstGeom prst="rect">
            <a:avLst/>
          </a:prstGeom>
          <a:noFill/>
          <a:ln/>
        </p:spPr>
        <p:txBody>
          <a:bodyPr wrap="square" lIns="0" tIns="0" rIns="0" bIns="0" rtlCol="0" anchor="ctr"/>
          <a:lstStyle/>
          <a:p>
            <a:pPr marL="0" indent="0" algn="r">
              <a:buNone/>
            </a:pPr>
            <a:r>
              <a:rPr lang="en-US" sz="800" dirty="0">
                <a:solidFill>
                  <a:srgbClr val="8A9FCC"/>
                </a:solidFill>
                <a:latin typeface="Calibri" pitchFamily="34" charset="0"/>
                <a:ea typeface="Calibri" pitchFamily="34" charset="-122"/>
                <a:cs typeface="Calibri" pitchFamily="34" charset="-120"/>
              </a:rPr>
              <a:t>3 / 12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4A90D9"/>
          </a:solidFill>
          <a:ln w="12700">
            <a:solidFill>
              <a:srgbClr val="4A90D9"/>
            </a:solidFill>
            <a:prstDash val="solid"/>
          </a:ln>
        </p:spPr>
        <p:txBody>
          <a:bodyPr/>
          <a:lstStyle/>
          <a:p>
            <a:endParaRPr lang="en-US"/>
          </a:p>
        </p:txBody>
      </p:sp>
      <p:sp>
        <p:nvSpPr>
          <p:cNvPr id="3" name="Text 1"/>
          <p:cNvSpPr/>
          <p:nvPr/>
        </p:nvSpPr>
        <p:spPr>
          <a:xfrm>
            <a:off x="320040" y="164592"/>
            <a:ext cx="7315200" cy="201168"/>
          </a:xfrm>
          <a:prstGeom prst="rect">
            <a:avLst/>
          </a:prstGeom>
          <a:noFill/>
          <a:ln/>
        </p:spPr>
        <p:txBody>
          <a:bodyPr wrap="square" lIns="0" tIns="0" rIns="0" bIns="0" rtlCol="0" anchor="ctr"/>
          <a:lstStyle/>
          <a:p>
            <a:pPr marL="0" indent="0">
              <a:buNone/>
            </a:pPr>
            <a:r>
              <a:rPr lang="en-US" sz="850" b="1" kern="0" spc="300" dirty="0">
                <a:solidFill>
                  <a:srgbClr val="4A90D9"/>
                </a:solidFill>
                <a:latin typeface="Calibri" pitchFamily="34" charset="0"/>
                <a:ea typeface="Calibri" pitchFamily="34" charset="-122"/>
                <a:cs typeface="Calibri" pitchFamily="34" charset="-120"/>
              </a:rPr>
              <a:t>02  PROPOSED SOLUTION</a:t>
            </a:r>
            <a:endParaRPr lang="en-US" sz="850" dirty="0"/>
          </a:p>
        </p:txBody>
      </p:sp>
      <p:sp>
        <p:nvSpPr>
          <p:cNvPr id="4" name="Text 2"/>
          <p:cNvSpPr/>
          <p:nvPr/>
        </p:nvSpPr>
        <p:spPr>
          <a:xfrm>
            <a:off x="320040" y="411480"/>
            <a:ext cx="8503920" cy="50292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RMF COMMANDER — Core Capabilities</a:t>
            </a:r>
            <a:endParaRPr lang="en-US" sz="2600" dirty="0"/>
          </a:p>
        </p:txBody>
      </p:sp>
      <p:sp>
        <p:nvSpPr>
          <p:cNvPr id="5" name="Shape 3"/>
          <p:cNvSpPr/>
          <p:nvPr/>
        </p:nvSpPr>
        <p:spPr>
          <a:xfrm>
            <a:off x="320040" y="960120"/>
            <a:ext cx="8503920" cy="18288"/>
          </a:xfrm>
          <a:prstGeom prst="rect">
            <a:avLst/>
          </a:prstGeom>
          <a:solidFill>
            <a:srgbClr val="CADCFC"/>
          </a:solidFill>
          <a:ln w="12700">
            <a:solidFill>
              <a:srgbClr val="CADCFC"/>
            </a:solidFill>
            <a:prstDash val="solid"/>
          </a:ln>
        </p:spPr>
        <p:txBody>
          <a:bodyPr/>
          <a:lstStyle/>
          <a:p>
            <a:endParaRPr lang="en-US"/>
          </a:p>
        </p:txBody>
      </p:sp>
      <p:sp>
        <p:nvSpPr>
          <p:cNvPr id="6" name="Shape 4"/>
          <p:cNvSpPr/>
          <p:nvPr/>
        </p:nvSpPr>
        <p:spPr>
          <a:xfrm>
            <a:off x="320040" y="1097280"/>
            <a:ext cx="8503920" cy="658368"/>
          </a:xfrm>
          <a:prstGeom prst="rect">
            <a:avLst/>
          </a:prstGeom>
          <a:solidFill>
            <a:srgbClr val="FFFFFF"/>
          </a:solidFill>
          <a:ln/>
          <a:effectLst>
            <a:outerShdw blurRad="38100" dist="12700" dir="8100000" algn="bl" rotWithShape="0">
              <a:srgbClr val="000000">
                <a:alpha val="7000"/>
              </a:srgbClr>
            </a:outerShdw>
          </a:effectLst>
        </p:spPr>
        <p:txBody>
          <a:bodyPr/>
          <a:lstStyle/>
          <a:p>
            <a:endParaRPr lang="en-US"/>
          </a:p>
        </p:txBody>
      </p:sp>
      <p:sp>
        <p:nvSpPr>
          <p:cNvPr id="7" name="Shape 5"/>
          <p:cNvSpPr/>
          <p:nvPr/>
        </p:nvSpPr>
        <p:spPr>
          <a:xfrm>
            <a:off x="320040" y="1234440"/>
            <a:ext cx="384048" cy="384048"/>
          </a:xfrm>
          <a:prstGeom prst="rect">
            <a:avLst/>
          </a:prstGeom>
          <a:solidFill>
            <a:srgbClr val="1E2761"/>
          </a:solidFill>
          <a:ln w="12700">
            <a:solidFill>
              <a:srgbClr val="1E2761"/>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356616" y="1271016"/>
            <a:ext cx="310896" cy="310896"/>
          </a:xfrm>
          <a:prstGeom prst="rect">
            <a:avLst/>
          </a:prstGeom>
        </p:spPr>
      </p:pic>
      <p:sp>
        <p:nvSpPr>
          <p:cNvPr id="9" name="Text 6"/>
          <p:cNvSpPr/>
          <p:nvPr/>
        </p:nvSpPr>
        <p:spPr>
          <a:xfrm>
            <a:off x="804672" y="1152144"/>
            <a:ext cx="2011680" cy="256032"/>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Portfolio Dashboard</a:t>
            </a:r>
            <a:endParaRPr lang="en-US" sz="1150" dirty="0"/>
          </a:p>
        </p:txBody>
      </p:sp>
      <p:sp>
        <p:nvSpPr>
          <p:cNvPr id="10" name="Text 7"/>
          <p:cNvSpPr/>
          <p:nvPr/>
        </p:nvSpPr>
        <p:spPr>
          <a:xfrm>
            <a:off x="2880360" y="1152144"/>
            <a:ext cx="5852160" cy="54864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ATO status, expiration countdown, POA&amp;M severity counts, and control posture. Mobile + web. 15-min refresh.</a:t>
            </a:r>
            <a:endParaRPr lang="en-US" sz="1000" dirty="0"/>
          </a:p>
        </p:txBody>
      </p:sp>
      <p:sp>
        <p:nvSpPr>
          <p:cNvPr id="11" name="Shape 8"/>
          <p:cNvSpPr/>
          <p:nvPr/>
        </p:nvSpPr>
        <p:spPr>
          <a:xfrm>
            <a:off x="2816352" y="1234440"/>
            <a:ext cx="27432" cy="365760"/>
          </a:xfrm>
          <a:prstGeom prst="rect">
            <a:avLst/>
          </a:prstGeom>
          <a:solidFill>
            <a:srgbClr val="CADCFC"/>
          </a:solidFill>
          <a:ln w="12700">
            <a:solidFill>
              <a:srgbClr val="CADCFC"/>
            </a:solidFill>
            <a:prstDash val="solid"/>
          </a:ln>
        </p:spPr>
        <p:txBody>
          <a:bodyPr/>
          <a:lstStyle/>
          <a:p>
            <a:endParaRPr lang="en-US"/>
          </a:p>
        </p:txBody>
      </p:sp>
      <p:sp>
        <p:nvSpPr>
          <p:cNvPr id="12" name="Shape 9"/>
          <p:cNvSpPr/>
          <p:nvPr/>
        </p:nvSpPr>
        <p:spPr>
          <a:xfrm>
            <a:off x="320040" y="1847088"/>
            <a:ext cx="8503920" cy="658368"/>
          </a:xfrm>
          <a:prstGeom prst="rect">
            <a:avLst/>
          </a:prstGeom>
          <a:solidFill>
            <a:srgbClr val="EEF3FC"/>
          </a:solidFill>
          <a:ln/>
          <a:effectLst>
            <a:outerShdw blurRad="38100" dist="12700" dir="8100000" algn="bl" rotWithShape="0">
              <a:srgbClr val="000000">
                <a:alpha val="7000"/>
              </a:srgbClr>
            </a:outerShdw>
          </a:effectLst>
        </p:spPr>
        <p:txBody>
          <a:bodyPr/>
          <a:lstStyle/>
          <a:p>
            <a:endParaRPr lang="en-US"/>
          </a:p>
        </p:txBody>
      </p:sp>
      <p:sp>
        <p:nvSpPr>
          <p:cNvPr id="13" name="Shape 10"/>
          <p:cNvSpPr/>
          <p:nvPr/>
        </p:nvSpPr>
        <p:spPr>
          <a:xfrm>
            <a:off x="320040" y="1984248"/>
            <a:ext cx="384048" cy="384048"/>
          </a:xfrm>
          <a:prstGeom prst="rect">
            <a:avLst/>
          </a:prstGeom>
          <a:solidFill>
            <a:srgbClr val="1E2761"/>
          </a:solidFill>
          <a:ln w="12700">
            <a:solidFill>
              <a:srgbClr val="1E2761"/>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56616" y="2020824"/>
            <a:ext cx="310896" cy="310896"/>
          </a:xfrm>
          <a:prstGeom prst="rect">
            <a:avLst/>
          </a:prstGeom>
        </p:spPr>
      </p:pic>
      <p:sp>
        <p:nvSpPr>
          <p:cNvPr id="15" name="Text 11"/>
          <p:cNvSpPr/>
          <p:nvPr/>
        </p:nvSpPr>
        <p:spPr>
          <a:xfrm>
            <a:off x="804672" y="1901952"/>
            <a:ext cx="2011680" cy="256032"/>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Smart Alert Engine</a:t>
            </a:r>
            <a:endParaRPr lang="en-US" sz="1150" dirty="0"/>
          </a:p>
        </p:txBody>
      </p:sp>
      <p:sp>
        <p:nvSpPr>
          <p:cNvPr id="16" name="Text 12"/>
          <p:cNvSpPr/>
          <p:nvPr/>
        </p:nvSpPr>
        <p:spPr>
          <a:xfrm>
            <a:off x="2880360" y="1901952"/>
            <a:ext cx="5852160" cy="54864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90/60/30-day ATO alerts. POA&amp;M milestone slips. eMASS workflow state changes. Push to enrolled devices.</a:t>
            </a:r>
            <a:endParaRPr lang="en-US" sz="1000" dirty="0"/>
          </a:p>
        </p:txBody>
      </p:sp>
      <p:sp>
        <p:nvSpPr>
          <p:cNvPr id="17" name="Shape 13"/>
          <p:cNvSpPr/>
          <p:nvPr/>
        </p:nvSpPr>
        <p:spPr>
          <a:xfrm>
            <a:off x="2816352" y="1984248"/>
            <a:ext cx="27432" cy="365760"/>
          </a:xfrm>
          <a:prstGeom prst="rect">
            <a:avLst/>
          </a:prstGeom>
          <a:solidFill>
            <a:srgbClr val="CADCFC"/>
          </a:solidFill>
          <a:ln w="12700">
            <a:solidFill>
              <a:srgbClr val="CADCFC"/>
            </a:solidFill>
            <a:prstDash val="solid"/>
          </a:ln>
        </p:spPr>
        <p:txBody>
          <a:bodyPr/>
          <a:lstStyle/>
          <a:p>
            <a:endParaRPr lang="en-US"/>
          </a:p>
        </p:txBody>
      </p:sp>
      <p:sp>
        <p:nvSpPr>
          <p:cNvPr id="18" name="Shape 14"/>
          <p:cNvSpPr/>
          <p:nvPr/>
        </p:nvSpPr>
        <p:spPr>
          <a:xfrm>
            <a:off x="320040" y="2596896"/>
            <a:ext cx="8503920" cy="658368"/>
          </a:xfrm>
          <a:prstGeom prst="rect">
            <a:avLst/>
          </a:prstGeom>
          <a:solidFill>
            <a:srgbClr val="FFFFFF"/>
          </a:solidFill>
          <a:ln/>
          <a:effectLst>
            <a:outerShdw blurRad="38100" dist="12700" dir="8100000" algn="bl" rotWithShape="0">
              <a:srgbClr val="000000">
                <a:alpha val="7000"/>
              </a:srgbClr>
            </a:outerShdw>
          </a:effectLst>
        </p:spPr>
        <p:txBody>
          <a:bodyPr/>
          <a:lstStyle/>
          <a:p>
            <a:endParaRPr lang="en-US"/>
          </a:p>
        </p:txBody>
      </p:sp>
      <p:sp>
        <p:nvSpPr>
          <p:cNvPr id="19" name="Shape 15"/>
          <p:cNvSpPr/>
          <p:nvPr/>
        </p:nvSpPr>
        <p:spPr>
          <a:xfrm>
            <a:off x="320040" y="2734056"/>
            <a:ext cx="384048" cy="384048"/>
          </a:xfrm>
          <a:prstGeom prst="rect">
            <a:avLst/>
          </a:prstGeom>
          <a:solidFill>
            <a:srgbClr val="1E2761"/>
          </a:solidFill>
          <a:ln w="12700">
            <a:solidFill>
              <a:srgbClr val="1E2761"/>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356616" y="2770632"/>
            <a:ext cx="310896" cy="310896"/>
          </a:xfrm>
          <a:prstGeom prst="rect">
            <a:avLst/>
          </a:prstGeom>
        </p:spPr>
      </p:pic>
      <p:sp>
        <p:nvSpPr>
          <p:cNvPr id="21" name="Text 16"/>
          <p:cNvSpPr/>
          <p:nvPr/>
        </p:nvSpPr>
        <p:spPr>
          <a:xfrm>
            <a:off x="804672" y="2651760"/>
            <a:ext cx="2011680" cy="256032"/>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AI Documentation Assist</a:t>
            </a:r>
            <a:endParaRPr lang="en-US" sz="1150" dirty="0"/>
          </a:p>
        </p:txBody>
      </p:sp>
      <p:sp>
        <p:nvSpPr>
          <p:cNvPr id="22" name="Text 17"/>
          <p:cNvSpPr/>
          <p:nvPr/>
        </p:nvSpPr>
        <p:spPr>
          <a:xfrm>
            <a:off x="2880360" y="2651760"/>
            <a:ext cx="5852160" cy="54864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Draft control statements and POA&amp;M language grounded in NIST SP 800-53 Rev. 5. Human approval required before any use.</a:t>
            </a:r>
            <a:endParaRPr lang="en-US" sz="1000" dirty="0"/>
          </a:p>
        </p:txBody>
      </p:sp>
      <p:sp>
        <p:nvSpPr>
          <p:cNvPr id="23" name="Shape 18"/>
          <p:cNvSpPr/>
          <p:nvPr/>
        </p:nvSpPr>
        <p:spPr>
          <a:xfrm>
            <a:off x="2816352" y="2734056"/>
            <a:ext cx="27432" cy="365760"/>
          </a:xfrm>
          <a:prstGeom prst="rect">
            <a:avLst/>
          </a:prstGeom>
          <a:solidFill>
            <a:srgbClr val="CADCFC"/>
          </a:solidFill>
          <a:ln w="12700">
            <a:solidFill>
              <a:srgbClr val="CADCFC"/>
            </a:solidFill>
            <a:prstDash val="solid"/>
          </a:ln>
        </p:spPr>
        <p:txBody>
          <a:bodyPr/>
          <a:lstStyle/>
          <a:p>
            <a:endParaRPr lang="en-US"/>
          </a:p>
        </p:txBody>
      </p:sp>
      <p:sp>
        <p:nvSpPr>
          <p:cNvPr id="24" name="Shape 19"/>
          <p:cNvSpPr/>
          <p:nvPr/>
        </p:nvSpPr>
        <p:spPr>
          <a:xfrm>
            <a:off x="320040" y="3346704"/>
            <a:ext cx="8503920" cy="658368"/>
          </a:xfrm>
          <a:prstGeom prst="rect">
            <a:avLst/>
          </a:prstGeom>
          <a:solidFill>
            <a:srgbClr val="EEF3FC"/>
          </a:solidFill>
          <a:ln/>
          <a:effectLst>
            <a:outerShdw blurRad="38100" dist="12700" dir="8100000" algn="bl" rotWithShape="0">
              <a:srgbClr val="000000">
                <a:alpha val="7000"/>
              </a:srgbClr>
            </a:outerShdw>
          </a:effectLst>
        </p:spPr>
        <p:txBody>
          <a:bodyPr/>
          <a:lstStyle/>
          <a:p>
            <a:endParaRPr lang="en-US"/>
          </a:p>
        </p:txBody>
      </p:sp>
      <p:sp>
        <p:nvSpPr>
          <p:cNvPr id="25" name="Shape 20"/>
          <p:cNvSpPr/>
          <p:nvPr/>
        </p:nvSpPr>
        <p:spPr>
          <a:xfrm>
            <a:off x="320040" y="3483864"/>
            <a:ext cx="384048" cy="384048"/>
          </a:xfrm>
          <a:prstGeom prst="rect">
            <a:avLst/>
          </a:prstGeom>
          <a:solidFill>
            <a:srgbClr val="1E2761"/>
          </a:solidFill>
          <a:ln w="12700">
            <a:solidFill>
              <a:srgbClr val="1E2761"/>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356616" y="3520440"/>
            <a:ext cx="310896" cy="310896"/>
          </a:xfrm>
          <a:prstGeom prst="rect">
            <a:avLst/>
          </a:prstGeom>
        </p:spPr>
      </p:pic>
      <p:sp>
        <p:nvSpPr>
          <p:cNvPr id="27" name="Text 21"/>
          <p:cNvSpPr/>
          <p:nvPr/>
        </p:nvSpPr>
        <p:spPr>
          <a:xfrm>
            <a:off x="804672" y="3401568"/>
            <a:ext cx="2011680" cy="256032"/>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Natural Language Query</a:t>
            </a:r>
            <a:endParaRPr lang="en-US" sz="1150" dirty="0"/>
          </a:p>
        </p:txBody>
      </p:sp>
      <p:sp>
        <p:nvSpPr>
          <p:cNvPr id="28" name="Text 22"/>
          <p:cNvSpPr/>
          <p:nvPr/>
        </p:nvSpPr>
        <p:spPr>
          <a:xfrm>
            <a:off x="2880360" y="3401568"/>
            <a:ext cx="5852160" cy="54864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Ask portfolio questions in plain English. Answers grounded in authorized eMASS data only. Source cited every time.</a:t>
            </a:r>
            <a:endParaRPr lang="en-US" sz="1000" dirty="0"/>
          </a:p>
        </p:txBody>
      </p:sp>
      <p:sp>
        <p:nvSpPr>
          <p:cNvPr id="29" name="Shape 23"/>
          <p:cNvSpPr/>
          <p:nvPr/>
        </p:nvSpPr>
        <p:spPr>
          <a:xfrm>
            <a:off x="2816352" y="3483864"/>
            <a:ext cx="27432" cy="365760"/>
          </a:xfrm>
          <a:prstGeom prst="rect">
            <a:avLst/>
          </a:prstGeom>
          <a:solidFill>
            <a:srgbClr val="CADCFC"/>
          </a:solidFill>
          <a:ln w="12700">
            <a:solidFill>
              <a:srgbClr val="CADCFC"/>
            </a:solidFill>
            <a:prstDash val="solid"/>
          </a:ln>
        </p:spPr>
        <p:txBody>
          <a:bodyPr/>
          <a:lstStyle/>
          <a:p>
            <a:endParaRPr lang="en-US"/>
          </a:p>
        </p:txBody>
      </p:sp>
      <p:sp>
        <p:nvSpPr>
          <p:cNvPr id="30" name="Shape 24"/>
          <p:cNvSpPr/>
          <p:nvPr/>
        </p:nvSpPr>
        <p:spPr>
          <a:xfrm>
            <a:off x="320040" y="4096512"/>
            <a:ext cx="8503920" cy="658368"/>
          </a:xfrm>
          <a:prstGeom prst="rect">
            <a:avLst/>
          </a:prstGeom>
          <a:solidFill>
            <a:srgbClr val="FFFFFF"/>
          </a:solidFill>
          <a:ln/>
          <a:effectLst>
            <a:outerShdw blurRad="38100" dist="12700" dir="8100000" algn="bl" rotWithShape="0">
              <a:srgbClr val="000000">
                <a:alpha val="7000"/>
              </a:srgbClr>
            </a:outerShdw>
          </a:effectLst>
        </p:spPr>
        <p:txBody>
          <a:bodyPr/>
          <a:lstStyle/>
          <a:p>
            <a:endParaRPr lang="en-US"/>
          </a:p>
        </p:txBody>
      </p:sp>
      <p:sp>
        <p:nvSpPr>
          <p:cNvPr id="31" name="Shape 25"/>
          <p:cNvSpPr/>
          <p:nvPr/>
        </p:nvSpPr>
        <p:spPr>
          <a:xfrm>
            <a:off x="320040" y="4233672"/>
            <a:ext cx="384048" cy="384048"/>
          </a:xfrm>
          <a:prstGeom prst="rect">
            <a:avLst/>
          </a:prstGeom>
          <a:solidFill>
            <a:srgbClr val="1E2761"/>
          </a:solidFill>
          <a:ln w="12700">
            <a:solidFill>
              <a:srgbClr val="1E2761"/>
            </a:solidFill>
            <a:prstDash val="solid"/>
          </a:ln>
        </p:spPr>
        <p:txBody>
          <a:bodyPr/>
          <a:lstStyle/>
          <a:p>
            <a:endParaRPr lang="en-US"/>
          </a:p>
        </p:txBody>
      </p:sp>
      <p:pic>
        <p:nvPicPr>
          <p:cNvPr id="32" name="Image 4" descr="preencoded.png"/>
          <p:cNvPicPr>
            <a:picLocks noChangeAspect="1"/>
          </p:cNvPicPr>
          <p:nvPr/>
        </p:nvPicPr>
        <p:blipFill>
          <a:blip r:embed="rId7"/>
          <a:stretch>
            <a:fillRect/>
          </a:stretch>
        </p:blipFill>
        <p:spPr>
          <a:xfrm>
            <a:off x="356616" y="4270248"/>
            <a:ext cx="310896" cy="310896"/>
          </a:xfrm>
          <a:prstGeom prst="rect">
            <a:avLst/>
          </a:prstGeom>
        </p:spPr>
      </p:pic>
      <p:sp>
        <p:nvSpPr>
          <p:cNvPr id="33" name="Text 26"/>
          <p:cNvSpPr/>
          <p:nvPr/>
        </p:nvSpPr>
        <p:spPr>
          <a:xfrm>
            <a:off x="804672" y="4151376"/>
            <a:ext cx="2011680" cy="256032"/>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Executive Briefing Gen</a:t>
            </a:r>
            <a:endParaRPr lang="en-US" sz="1150" dirty="0"/>
          </a:p>
        </p:txBody>
      </p:sp>
      <p:sp>
        <p:nvSpPr>
          <p:cNvPr id="34" name="Text 27"/>
          <p:cNvSpPr/>
          <p:nvPr/>
        </p:nvSpPr>
        <p:spPr>
          <a:xfrm>
            <a:off x="2880360" y="4151376"/>
            <a:ext cx="5852160" cy="54864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One-tap AO and PM posture summaries. PDF and PPTX output. Validated against live data at generation time.</a:t>
            </a:r>
            <a:endParaRPr lang="en-US" sz="1000" dirty="0"/>
          </a:p>
        </p:txBody>
      </p:sp>
      <p:sp>
        <p:nvSpPr>
          <p:cNvPr id="35" name="Shape 28"/>
          <p:cNvSpPr/>
          <p:nvPr/>
        </p:nvSpPr>
        <p:spPr>
          <a:xfrm>
            <a:off x="2816352" y="4233672"/>
            <a:ext cx="27432" cy="365760"/>
          </a:xfrm>
          <a:prstGeom prst="rect">
            <a:avLst/>
          </a:prstGeom>
          <a:solidFill>
            <a:srgbClr val="CADCFC"/>
          </a:solidFill>
          <a:ln w="12700">
            <a:solidFill>
              <a:srgbClr val="CADCFC"/>
            </a:solidFill>
            <a:prstDash val="solid"/>
          </a:ln>
        </p:spPr>
        <p:txBody>
          <a:bodyPr/>
          <a:lstStyle/>
          <a:p>
            <a:endParaRPr lang="en-US"/>
          </a:p>
        </p:txBody>
      </p:sp>
      <p:sp>
        <p:nvSpPr>
          <p:cNvPr id="37" name="Text 29"/>
          <p:cNvSpPr/>
          <p:nvPr/>
        </p:nvSpPr>
        <p:spPr>
          <a:xfrm>
            <a:off x="0" y="4956048"/>
            <a:ext cx="9144000" cy="182880"/>
          </a:xfrm>
          <a:prstGeom prst="rect">
            <a:avLst/>
          </a:prstGeom>
          <a:noFill/>
          <a:ln/>
        </p:spPr>
        <p:txBody>
          <a:bodyPr wrap="square" lIns="0" tIns="0" rIns="0" bIns="0" rtlCol="0" anchor="ctr"/>
          <a:lstStyle/>
          <a:p>
            <a:pPr marL="0" indent="0" algn="ctr">
              <a:buNone/>
            </a:pPr>
            <a:r>
              <a:rPr lang="en-US" sz="800" b="1" dirty="0">
                <a:solidFill>
                  <a:srgbClr val="8A9FCC"/>
                </a:solidFill>
                <a:latin typeface="Calibri" pitchFamily="34" charset="0"/>
                <a:ea typeface="Calibri" pitchFamily="34" charset="-122"/>
                <a:cs typeface="Calibri" pitchFamily="34" charset="-120"/>
              </a:rPr>
              <a:t>UNCLASSIFIED // FOR OFFICIAL USE ONLY</a:t>
            </a:r>
            <a:endParaRPr lang="en-US" sz="800" dirty="0"/>
          </a:p>
        </p:txBody>
      </p:sp>
      <p:sp>
        <p:nvSpPr>
          <p:cNvPr id="38" name="Text 30"/>
          <p:cNvSpPr/>
          <p:nvPr/>
        </p:nvSpPr>
        <p:spPr>
          <a:xfrm>
            <a:off x="8046720" y="4956048"/>
            <a:ext cx="1097280" cy="182880"/>
          </a:xfrm>
          <a:prstGeom prst="rect">
            <a:avLst/>
          </a:prstGeom>
          <a:noFill/>
          <a:ln/>
        </p:spPr>
        <p:txBody>
          <a:bodyPr wrap="square" lIns="0" tIns="0" rIns="0" bIns="0" rtlCol="0" anchor="ctr"/>
          <a:lstStyle/>
          <a:p>
            <a:pPr marL="0" indent="0" algn="r">
              <a:buNone/>
            </a:pPr>
            <a:r>
              <a:rPr lang="en-US" sz="800" dirty="0">
                <a:solidFill>
                  <a:srgbClr val="8A9FCC"/>
                </a:solidFill>
                <a:latin typeface="Calibri" pitchFamily="34" charset="0"/>
                <a:ea typeface="Calibri" pitchFamily="34" charset="-122"/>
                <a:cs typeface="Calibri" pitchFamily="34" charset="-120"/>
              </a:rPr>
              <a:t>4 / 12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4A90D9"/>
          </a:solidFill>
          <a:ln w="12700">
            <a:solidFill>
              <a:srgbClr val="4A90D9"/>
            </a:solidFill>
            <a:prstDash val="solid"/>
          </a:ln>
        </p:spPr>
        <p:txBody>
          <a:bodyPr/>
          <a:lstStyle/>
          <a:p>
            <a:endParaRPr lang="en-US"/>
          </a:p>
        </p:txBody>
      </p:sp>
      <p:sp>
        <p:nvSpPr>
          <p:cNvPr id="3" name="Text 1"/>
          <p:cNvSpPr/>
          <p:nvPr/>
        </p:nvSpPr>
        <p:spPr>
          <a:xfrm>
            <a:off x="320040" y="164592"/>
            <a:ext cx="7315200" cy="201168"/>
          </a:xfrm>
          <a:prstGeom prst="rect">
            <a:avLst/>
          </a:prstGeom>
          <a:noFill/>
          <a:ln/>
        </p:spPr>
        <p:txBody>
          <a:bodyPr wrap="square" lIns="0" tIns="0" rIns="0" bIns="0" rtlCol="0" anchor="ctr"/>
          <a:lstStyle/>
          <a:p>
            <a:pPr marL="0" indent="0">
              <a:buNone/>
            </a:pPr>
            <a:r>
              <a:rPr lang="en-US" sz="850" b="1" kern="0" spc="300" dirty="0">
                <a:solidFill>
                  <a:srgbClr val="4A90D9"/>
                </a:solidFill>
                <a:latin typeface="Calibri" pitchFamily="34" charset="0"/>
                <a:ea typeface="Calibri" pitchFamily="34" charset="-122"/>
                <a:cs typeface="Calibri" pitchFamily="34" charset="-120"/>
              </a:rPr>
              <a:t>03  AI GOVERNANCE</a:t>
            </a:r>
            <a:endParaRPr lang="en-US" sz="850" dirty="0"/>
          </a:p>
        </p:txBody>
      </p:sp>
      <p:sp>
        <p:nvSpPr>
          <p:cNvPr id="4" name="Text 2"/>
          <p:cNvSpPr/>
          <p:nvPr/>
        </p:nvSpPr>
        <p:spPr>
          <a:xfrm>
            <a:off x="320040" y="411480"/>
            <a:ext cx="8503920" cy="50292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NIST AI RMF 1.0 Alignment</a:t>
            </a:r>
            <a:endParaRPr lang="en-US" sz="2600" dirty="0"/>
          </a:p>
        </p:txBody>
      </p:sp>
      <p:sp>
        <p:nvSpPr>
          <p:cNvPr id="5" name="Shape 3"/>
          <p:cNvSpPr/>
          <p:nvPr/>
        </p:nvSpPr>
        <p:spPr>
          <a:xfrm>
            <a:off x="320040" y="960120"/>
            <a:ext cx="8503920" cy="18288"/>
          </a:xfrm>
          <a:prstGeom prst="rect">
            <a:avLst/>
          </a:prstGeom>
          <a:solidFill>
            <a:srgbClr val="CADCFC"/>
          </a:solidFill>
          <a:ln w="12700">
            <a:solidFill>
              <a:srgbClr val="CADCFC"/>
            </a:solidFill>
            <a:prstDash val="solid"/>
          </a:ln>
        </p:spPr>
        <p:txBody>
          <a:bodyPr/>
          <a:lstStyle/>
          <a:p>
            <a:endParaRPr lang="en-US"/>
          </a:p>
        </p:txBody>
      </p:sp>
      <p:sp>
        <p:nvSpPr>
          <p:cNvPr id="6" name="Shape 4"/>
          <p:cNvSpPr/>
          <p:nvPr/>
        </p:nvSpPr>
        <p:spPr>
          <a:xfrm>
            <a:off x="320040" y="1078992"/>
            <a:ext cx="1097280" cy="777240"/>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320040" y="1170432"/>
            <a:ext cx="109728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GOVERN</a:t>
            </a:r>
            <a:endParaRPr lang="en-US" sz="1400" dirty="0"/>
          </a:p>
        </p:txBody>
      </p:sp>
      <p:sp>
        <p:nvSpPr>
          <p:cNvPr id="8" name="Shape 6"/>
          <p:cNvSpPr/>
          <p:nvPr/>
        </p:nvSpPr>
        <p:spPr>
          <a:xfrm>
            <a:off x="1463040" y="1078992"/>
            <a:ext cx="7360920" cy="7772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9" name="Text 7"/>
          <p:cNvSpPr/>
          <p:nvPr/>
        </p:nvSpPr>
        <p:spPr>
          <a:xfrm>
            <a:off x="1572768" y="1170432"/>
            <a:ext cx="7178040" cy="5943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Policies and accountability in place. Human-in-the-loop mandate. Role-scoped access. Full audit trail. AI cannot submit artifacts without ISSM/ISSO approval.</a:t>
            </a:r>
            <a:endParaRPr lang="en-US" sz="1000" dirty="0"/>
          </a:p>
        </p:txBody>
      </p:sp>
      <p:sp>
        <p:nvSpPr>
          <p:cNvPr id="10" name="Shape 8"/>
          <p:cNvSpPr/>
          <p:nvPr/>
        </p:nvSpPr>
        <p:spPr>
          <a:xfrm>
            <a:off x="320040" y="2011680"/>
            <a:ext cx="1097280" cy="777240"/>
          </a:xfrm>
          <a:prstGeom prst="rect">
            <a:avLst/>
          </a:prstGeom>
          <a:solidFill>
            <a:srgbClr val="2E5FA3"/>
          </a:solidFill>
          <a:ln w="12700">
            <a:solidFill>
              <a:srgbClr val="2E5FA3"/>
            </a:solidFill>
            <a:prstDash val="solid"/>
          </a:ln>
        </p:spPr>
        <p:txBody>
          <a:bodyPr/>
          <a:lstStyle/>
          <a:p>
            <a:endParaRPr lang="en-US"/>
          </a:p>
        </p:txBody>
      </p:sp>
      <p:sp>
        <p:nvSpPr>
          <p:cNvPr id="11" name="Text 9"/>
          <p:cNvSpPr/>
          <p:nvPr/>
        </p:nvSpPr>
        <p:spPr>
          <a:xfrm>
            <a:off x="320040" y="2103120"/>
            <a:ext cx="109728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MAP</a:t>
            </a:r>
            <a:endParaRPr lang="en-US" sz="1400" dirty="0"/>
          </a:p>
        </p:txBody>
      </p:sp>
      <p:sp>
        <p:nvSpPr>
          <p:cNvPr id="12" name="Shape 10"/>
          <p:cNvSpPr/>
          <p:nvPr/>
        </p:nvSpPr>
        <p:spPr>
          <a:xfrm>
            <a:off x="1463040" y="2011680"/>
            <a:ext cx="7360920" cy="7772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3" name="Text 11"/>
          <p:cNvSpPr/>
          <p:nvPr/>
        </p:nvSpPr>
        <p:spPr>
          <a:xfrm>
            <a:off x="1572768" y="2103120"/>
            <a:ext cx="7178040" cy="5943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Use case scoped to assistive drafting and query only. No authorization decisions. Model transparency with source citations on every AI response. RAG grounding reduces hallucination risk.</a:t>
            </a:r>
            <a:endParaRPr lang="en-US" sz="1000" dirty="0"/>
          </a:p>
        </p:txBody>
      </p:sp>
      <p:sp>
        <p:nvSpPr>
          <p:cNvPr id="14" name="Shape 12"/>
          <p:cNvSpPr/>
          <p:nvPr/>
        </p:nvSpPr>
        <p:spPr>
          <a:xfrm>
            <a:off x="320040" y="2944368"/>
            <a:ext cx="1097280" cy="777240"/>
          </a:xfrm>
          <a:prstGeom prst="rect">
            <a:avLst/>
          </a:prstGeom>
          <a:solidFill>
            <a:srgbClr val="3A7BD5"/>
          </a:solidFill>
          <a:ln w="12700">
            <a:solidFill>
              <a:srgbClr val="3A7BD5"/>
            </a:solidFill>
            <a:prstDash val="solid"/>
          </a:ln>
        </p:spPr>
        <p:txBody>
          <a:bodyPr/>
          <a:lstStyle/>
          <a:p>
            <a:endParaRPr lang="en-US"/>
          </a:p>
        </p:txBody>
      </p:sp>
      <p:sp>
        <p:nvSpPr>
          <p:cNvPr id="15" name="Text 13"/>
          <p:cNvSpPr/>
          <p:nvPr/>
        </p:nvSpPr>
        <p:spPr>
          <a:xfrm>
            <a:off x="320040" y="3035808"/>
            <a:ext cx="109728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MEASURE</a:t>
            </a:r>
            <a:endParaRPr lang="en-US" sz="1400" dirty="0"/>
          </a:p>
        </p:txBody>
      </p:sp>
      <p:sp>
        <p:nvSpPr>
          <p:cNvPr id="16" name="Shape 14"/>
          <p:cNvSpPr/>
          <p:nvPr/>
        </p:nvSpPr>
        <p:spPr>
          <a:xfrm>
            <a:off x="1463040" y="2944368"/>
            <a:ext cx="7360920" cy="7772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7" name="Text 15"/>
          <p:cNvSpPr/>
          <p:nvPr/>
        </p:nvSpPr>
        <p:spPr>
          <a:xfrm>
            <a:off x="1572768" y="3035808"/>
            <a:ext cx="7178040" cy="5943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Pilot metrics: 70% AI draft acceptance, 100% source citation accuracy, 80% user confidence. Human approval gate: zero AI artifacts submitted without review.</a:t>
            </a:r>
            <a:endParaRPr lang="en-US" sz="1000" dirty="0"/>
          </a:p>
        </p:txBody>
      </p:sp>
      <p:sp>
        <p:nvSpPr>
          <p:cNvPr id="18" name="Shape 16"/>
          <p:cNvSpPr/>
          <p:nvPr/>
        </p:nvSpPr>
        <p:spPr>
          <a:xfrm>
            <a:off x="320040" y="3877056"/>
            <a:ext cx="1097280" cy="777240"/>
          </a:xfrm>
          <a:prstGeom prst="rect">
            <a:avLst/>
          </a:prstGeom>
          <a:solidFill>
            <a:srgbClr val="4A90D9"/>
          </a:solidFill>
          <a:ln w="12700">
            <a:solidFill>
              <a:srgbClr val="4A90D9"/>
            </a:solidFill>
            <a:prstDash val="solid"/>
          </a:ln>
        </p:spPr>
        <p:txBody>
          <a:bodyPr/>
          <a:lstStyle/>
          <a:p>
            <a:endParaRPr lang="en-US"/>
          </a:p>
        </p:txBody>
      </p:sp>
      <p:sp>
        <p:nvSpPr>
          <p:cNvPr id="19" name="Text 17"/>
          <p:cNvSpPr/>
          <p:nvPr/>
        </p:nvSpPr>
        <p:spPr>
          <a:xfrm>
            <a:off x="320040" y="3968496"/>
            <a:ext cx="109728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MANAGE</a:t>
            </a:r>
            <a:endParaRPr lang="en-US" sz="1400" dirty="0"/>
          </a:p>
        </p:txBody>
      </p:sp>
      <p:sp>
        <p:nvSpPr>
          <p:cNvPr id="20" name="Shape 18"/>
          <p:cNvSpPr/>
          <p:nvPr/>
        </p:nvSpPr>
        <p:spPr>
          <a:xfrm>
            <a:off x="1463040" y="3877056"/>
            <a:ext cx="7360920" cy="7772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1" name="Text 19"/>
          <p:cNvSpPr/>
          <p:nvPr/>
        </p:nvSpPr>
        <p:spPr>
          <a:xfrm>
            <a:off x="1572768" y="3968496"/>
            <a:ext cx="7178040" cy="59436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Incident response for flagged AI outputs within 24 hours. Scope creep prevention by product design. 30-day AO touchpoints throughout pilot.</a:t>
            </a:r>
            <a:endParaRPr lang="en-US" sz="1000" dirty="0"/>
          </a:p>
        </p:txBody>
      </p:sp>
      <p:sp>
        <p:nvSpPr>
          <p:cNvPr id="22" name="Text 20"/>
          <p:cNvSpPr/>
          <p:nvPr/>
        </p:nvSpPr>
        <p:spPr>
          <a:xfrm>
            <a:off x="320040" y="4736592"/>
            <a:ext cx="8503920" cy="201168"/>
          </a:xfrm>
          <a:prstGeom prst="rect">
            <a:avLst/>
          </a:prstGeom>
          <a:noFill/>
          <a:ln/>
        </p:spPr>
        <p:txBody>
          <a:bodyPr wrap="square" lIns="0" tIns="0" rIns="0" bIns="0" rtlCol="0" anchor="ctr"/>
          <a:lstStyle/>
          <a:p>
            <a:pPr marL="0" indent="0">
              <a:buNone/>
            </a:pPr>
            <a:r>
              <a:rPr lang="en-US" sz="900" b="1" i="1" dirty="0">
                <a:solidFill>
                  <a:srgbClr val="4A90D9"/>
                </a:solidFill>
                <a:latin typeface="Calibri" pitchFamily="34" charset="0"/>
                <a:ea typeface="Calibri" pitchFamily="34" charset="-122"/>
                <a:cs typeface="Calibri" pitchFamily="34" charset="-120"/>
              </a:rPr>
              <a:t>All AI output carries a visible AI-DRAFTED label until the ISSM or ISSO explicitly approves it. This gate cannot be bypassed.</a:t>
            </a:r>
            <a:endParaRPr lang="en-US" sz="900" dirty="0"/>
          </a:p>
        </p:txBody>
      </p:sp>
      <p:sp>
        <p:nvSpPr>
          <p:cNvPr id="24" name="Text 21"/>
          <p:cNvSpPr/>
          <p:nvPr/>
        </p:nvSpPr>
        <p:spPr>
          <a:xfrm>
            <a:off x="0" y="4956048"/>
            <a:ext cx="9144000" cy="182880"/>
          </a:xfrm>
          <a:prstGeom prst="rect">
            <a:avLst/>
          </a:prstGeom>
          <a:noFill/>
          <a:ln/>
        </p:spPr>
        <p:txBody>
          <a:bodyPr wrap="square" lIns="0" tIns="0" rIns="0" bIns="0" rtlCol="0" anchor="ctr"/>
          <a:lstStyle/>
          <a:p>
            <a:pPr marL="0" indent="0" algn="ctr">
              <a:buNone/>
            </a:pPr>
            <a:r>
              <a:rPr lang="en-US" sz="800" b="1" dirty="0">
                <a:solidFill>
                  <a:srgbClr val="8A9FCC"/>
                </a:solidFill>
                <a:latin typeface="Calibri" pitchFamily="34" charset="0"/>
                <a:ea typeface="Calibri" pitchFamily="34" charset="-122"/>
                <a:cs typeface="Calibri" pitchFamily="34" charset="-120"/>
              </a:rPr>
              <a:t>UNCLASSIFIED // FOR OFFICIAL USE ONLY</a:t>
            </a:r>
            <a:endParaRPr lang="en-US" sz="800" dirty="0"/>
          </a:p>
        </p:txBody>
      </p:sp>
      <p:sp>
        <p:nvSpPr>
          <p:cNvPr id="25" name="Text 22"/>
          <p:cNvSpPr/>
          <p:nvPr/>
        </p:nvSpPr>
        <p:spPr>
          <a:xfrm>
            <a:off x="8046720" y="4956048"/>
            <a:ext cx="1097280" cy="182880"/>
          </a:xfrm>
          <a:prstGeom prst="rect">
            <a:avLst/>
          </a:prstGeom>
          <a:noFill/>
          <a:ln/>
        </p:spPr>
        <p:txBody>
          <a:bodyPr wrap="square" lIns="0" tIns="0" rIns="0" bIns="0" rtlCol="0" anchor="ctr"/>
          <a:lstStyle/>
          <a:p>
            <a:pPr marL="0" indent="0" algn="r">
              <a:buNone/>
            </a:pPr>
            <a:r>
              <a:rPr lang="en-US" sz="800" dirty="0">
                <a:solidFill>
                  <a:srgbClr val="8A9FCC"/>
                </a:solidFill>
                <a:latin typeface="Calibri" pitchFamily="34" charset="0"/>
                <a:ea typeface="Calibri" pitchFamily="34" charset="-122"/>
                <a:cs typeface="Calibri" pitchFamily="34" charset="-120"/>
              </a:rPr>
              <a:t>5 / 12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4A90D9"/>
          </a:solidFill>
          <a:ln w="12700">
            <a:solidFill>
              <a:srgbClr val="4A90D9"/>
            </a:solidFill>
            <a:prstDash val="solid"/>
          </a:ln>
        </p:spPr>
        <p:txBody>
          <a:bodyPr/>
          <a:lstStyle/>
          <a:p>
            <a:endParaRPr lang="en-US"/>
          </a:p>
        </p:txBody>
      </p:sp>
      <p:sp>
        <p:nvSpPr>
          <p:cNvPr id="3" name="Text 1"/>
          <p:cNvSpPr/>
          <p:nvPr/>
        </p:nvSpPr>
        <p:spPr>
          <a:xfrm>
            <a:off x="320040" y="164592"/>
            <a:ext cx="7315200" cy="201168"/>
          </a:xfrm>
          <a:prstGeom prst="rect">
            <a:avLst/>
          </a:prstGeom>
          <a:noFill/>
          <a:ln/>
        </p:spPr>
        <p:txBody>
          <a:bodyPr wrap="square" lIns="0" tIns="0" rIns="0" bIns="0" rtlCol="0" anchor="ctr"/>
          <a:lstStyle/>
          <a:p>
            <a:pPr marL="0" indent="0">
              <a:buNone/>
            </a:pPr>
            <a:r>
              <a:rPr lang="en-US" sz="850" b="1" kern="0" spc="300" dirty="0">
                <a:solidFill>
                  <a:srgbClr val="4A90D9"/>
                </a:solidFill>
                <a:latin typeface="Calibri" pitchFamily="34" charset="0"/>
                <a:ea typeface="Calibri" pitchFamily="34" charset="-122"/>
                <a:cs typeface="Calibri" pitchFamily="34" charset="-120"/>
              </a:rPr>
              <a:t>04  SECURITY ARCHITECTURE</a:t>
            </a:r>
            <a:endParaRPr lang="en-US" sz="850" dirty="0"/>
          </a:p>
        </p:txBody>
      </p:sp>
      <p:sp>
        <p:nvSpPr>
          <p:cNvPr id="4" name="Text 2"/>
          <p:cNvSpPr/>
          <p:nvPr/>
        </p:nvSpPr>
        <p:spPr>
          <a:xfrm>
            <a:off x="320040" y="411480"/>
            <a:ext cx="8503920" cy="50292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How the Platform Protects DoD Data</a:t>
            </a:r>
            <a:endParaRPr lang="en-US" sz="2600" dirty="0"/>
          </a:p>
        </p:txBody>
      </p:sp>
      <p:sp>
        <p:nvSpPr>
          <p:cNvPr id="5" name="Shape 3"/>
          <p:cNvSpPr/>
          <p:nvPr/>
        </p:nvSpPr>
        <p:spPr>
          <a:xfrm>
            <a:off x="320040" y="960120"/>
            <a:ext cx="8503920" cy="18288"/>
          </a:xfrm>
          <a:prstGeom prst="rect">
            <a:avLst/>
          </a:prstGeom>
          <a:solidFill>
            <a:srgbClr val="CADCFC"/>
          </a:solidFill>
          <a:ln w="12700">
            <a:solidFill>
              <a:srgbClr val="CADCFC"/>
            </a:solidFill>
            <a:prstDash val="solid"/>
          </a:ln>
        </p:spPr>
        <p:txBody>
          <a:bodyPr/>
          <a:lstStyle/>
          <a:p>
            <a:endParaRPr lang="en-US"/>
          </a:p>
        </p:txBody>
      </p:sp>
      <p:sp>
        <p:nvSpPr>
          <p:cNvPr id="6" name="Shape 4"/>
          <p:cNvSpPr/>
          <p:nvPr/>
        </p:nvSpPr>
        <p:spPr>
          <a:xfrm>
            <a:off x="320040" y="1024128"/>
            <a:ext cx="8503920" cy="475488"/>
          </a:xfrm>
          <a:prstGeom prst="rect">
            <a:avLst/>
          </a:prstGeom>
          <a:solidFill>
            <a:srgbClr val="0F1A3D"/>
          </a:solidFill>
          <a:ln w="12700">
            <a:solidFill>
              <a:srgbClr val="0F1A3D"/>
            </a:solidFill>
            <a:prstDash val="solid"/>
          </a:ln>
        </p:spPr>
        <p:txBody>
          <a:bodyPr/>
          <a:lstStyle/>
          <a:p>
            <a:endParaRPr lang="en-US"/>
          </a:p>
        </p:txBody>
      </p:sp>
      <p:sp>
        <p:nvSpPr>
          <p:cNvPr id="7" name="Text 5"/>
          <p:cNvSpPr/>
          <p:nvPr/>
        </p:nvSpPr>
        <p:spPr>
          <a:xfrm>
            <a:off x="438912" y="1060704"/>
            <a:ext cx="8275320" cy="402336"/>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Core Principle: The app never touches eMASS directly. A DoD-authorized cloud backend mediates every request. API credentials never reach the client device.</a:t>
            </a:r>
            <a:endParaRPr lang="en-US" sz="1050" dirty="0"/>
          </a:p>
        </p:txBody>
      </p:sp>
      <p:sp>
        <p:nvSpPr>
          <p:cNvPr id="8" name="Shape 6"/>
          <p:cNvSpPr/>
          <p:nvPr/>
        </p:nvSpPr>
        <p:spPr>
          <a:xfrm>
            <a:off x="320040" y="1600200"/>
            <a:ext cx="4114800" cy="1005840"/>
          </a:xfrm>
          <a:prstGeom prst="rect">
            <a:avLst/>
          </a:prstGeom>
          <a:solidFill>
            <a:srgbClr val="FFFFFF"/>
          </a:solidFill>
          <a:ln/>
          <a:effectLst>
            <a:outerShdw blurRad="63500" dist="12700" dir="8100000" algn="bl" rotWithShape="0">
              <a:srgbClr val="000000">
                <a:alpha val="9000"/>
              </a:srgbClr>
            </a:outerShdw>
          </a:effectLst>
        </p:spPr>
        <p:txBody>
          <a:bodyPr/>
          <a:lstStyle/>
          <a:p>
            <a:endParaRPr lang="en-US"/>
          </a:p>
        </p:txBody>
      </p:sp>
      <p:sp>
        <p:nvSpPr>
          <p:cNvPr id="9" name="Shape 7"/>
          <p:cNvSpPr/>
          <p:nvPr/>
        </p:nvSpPr>
        <p:spPr>
          <a:xfrm>
            <a:off x="411480" y="1709928"/>
            <a:ext cx="347472" cy="347472"/>
          </a:xfrm>
          <a:prstGeom prst="rect">
            <a:avLst/>
          </a:prstGeom>
          <a:solidFill>
            <a:srgbClr val="1E2761"/>
          </a:solidFill>
          <a:ln w="12700">
            <a:solidFill>
              <a:srgbClr val="1E2761"/>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448056" y="1746504"/>
            <a:ext cx="274320" cy="274320"/>
          </a:xfrm>
          <a:prstGeom prst="rect">
            <a:avLst/>
          </a:prstGeom>
        </p:spPr>
      </p:pic>
      <p:sp>
        <p:nvSpPr>
          <p:cNvPr id="11" name="Text 8"/>
          <p:cNvSpPr/>
          <p:nvPr/>
        </p:nvSpPr>
        <p:spPr>
          <a:xfrm>
            <a:off x="868680" y="1691640"/>
            <a:ext cx="3474720"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Derived Credentials</a:t>
            </a:r>
            <a:endParaRPr lang="en-US" sz="1100" dirty="0"/>
          </a:p>
        </p:txBody>
      </p:sp>
      <p:sp>
        <p:nvSpPr>
          <p:cNvPr id="12" name="Text 9"/>
          <p:cNvSpPr/>
          <p:nvPr/>
        </p:nvSpPr>
        <p:spPr>
          <a:xfrm>
            <a:off x="411480" y="2057400"/>
            <a:ext cx="3931920"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CAC/PIV via Purebred on MDM-enrolled devices. 15-min JWT. No password auth.</a:t>
            </a:r>
            <a:endParaRPr lang="en-US" sz="950" dirty="0"/>
          </a:p>
        </p:txBody>
      </p:sp>
      <p:sp>
        <p:nvSpPr>
          <p:cNvPr id="13" name="Shape 10"/>
          <p:cNvSpPr/>
          <p:nvPr/>
        </p:nvSpPr>
        <p:spPr>
          <a:xfrm>
            <a:off x="4663440" y="1600200"/>
            <a:ext cx="4114800" cy="1005840"/>
          </a:xfrm>
          <a:prstGeom prst="rect">
            <a:avLst/>
          </a:prstGeom>
          <a:solidFill>
            <a:srgbClr val="FFFFFF"/>
          </a:solidFill>
          <a:ln/>
          <a:effectLst>
            <a:outerShdw blurRad="63500" dist="12700" dir="8100000" algn="bl" rotWithShape="0">
              <a:srgbClr val="000000">
                <a:alpha val="9000"/>
              </a:srgbClr>
            </a:outerShdw>
          </a:effectLst>
        </p:spPr>
        <p:txBody>
          <a:bodyPr/>
          <a:lstStyle/>
          <a:p>
            <a:endParaRPr lang="en-US"/>
          </a:p>
        </p:txBody>
      </p:sp>
      <p:sp>
        <p:nvSpPr>
          <p:cNvPr id="14" name="Shape 11"/>
          <p:cNvSpPr/>
          <p:nvPr/>
        </p:nvSpPr>
        <p:spPr>
          <a:xfrm>
            <a:off x="4754880" y="1709928"/>
            <a:ext cx="347472" cy="347472"/>
          </a:xfrm>
          <a:prstGeom prst="rect">
            <a:avLst/>
          </a:prstGeom>
          <a:solidFill>
            <a:srgbClr val="1E2761"/>
          </a:solidFill>
          <a:ln w="12700">
            <a:solidFill>
              <a:srgbClr val="1E2761"/>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791456" y="1746504"/>
            <a:ext cx="274320" cy="274320"/>
          </a:xfrm>
          <a:prstGeom prst="rect">
            <a:avLst/>
          </a:prstGeom>
        </p:spPr>
      </p:pic>
      <p:sp>
        <p:nvSpPr>
          <p:cNvPr id="16" name="Text 12"/>
          <p:cNvSpPr/>
          <p:nvPr/>
        </p:nvSpPr>
        <p:spPr>
          <a:xfrm>
            <a:off x="5212080" y="1691640"/>
            <a:ext cx="3474720"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DoD Cloud Backend</a:t>
            </a:r>
            <a:endParaRPr lang="en-US" sz="1100" dirty="0"/>
          </a:p>
        </p:txBody>
      </p:sp>
      <p:sp>
        <p:nvSpPr>
          <p:cNvPr id="17" name="Text 13"/>
          <p:cNvSpPr/>
          <p:nvPr/>
        </p:nvSpPr>
        <p:spPr>
          <a:xfrm>
            <a:off x="4754880" y="2057400"/>
            <a:ext cx="3931920"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Azure Gov IL4 or AWS GovCloud. NIPRNET connectivity. All AI inference stays in boundary.</a:t>
            </a:r>
            <a:endParaRPr lang="en-US" sz="950" dirty="0"/>
          </a:p>
        </p:txBody>
      </p:sp>
      <p:sp>
        <p:nvSpPr>
          <p:cNvPr id="18" name="Shape 14"/>
          <p:cNvSpPr/>
          <p:nvPr/>
        </p:nvSpPr>
        <p:spPr>
          <a:xfrm>
            <a:off x="320040" y="2697480"/>
            <a:ext cx="4114800" cy="1005840"/>
          </a:xfrm>
          <a:prstGeom prst="rect">
            <a:avLst/>
          </a:prstGeom>
          <a:solidFill>
            <a:srgbClr val="FFFFFF"/>
          </a:solidFill>
          <a:ln/>
          <a:effectLst>
            <a:outerShdw blurRad="63500" dist="12700" dir="8100000" algn="bl" rotWithShape="0">
              <a:srgbClr val="000000">
                <a:alpha val="9000"/>
              </a:srgbClr>
            </a:outerShdw>
          </a:effectLst>
        </p:spPr>
        <p:txBody>
          <a:bodyPr/>
          <a:lstStyle/>
          <a:p>
            <a:endParaRPr lang="en-US"/>
          </a:p>
        </p:txBody>
      </p:sp>
      <p:sp>
        <p:nvSpPr>
          <p:cNvPr id="19" name="Shape 15"/>
          <p:cNvSpPr/>
          <p:nvPr/>
        </p:nvSpPr>
        <p:spPr>
          <a:xfrm>
            <a:off x="411480" y="2807208"/>
            <a:ext cx="347472" cy="347472"/>
          </a:xfrm>
          <a:prstGeom prst="rect">
            <a:avLst/>
          </a:prstGeom>
          <a:solidFill>
            <a:srgbClr val="1E2761"/>
          </a:solidFill>
          <a:ln w="12700">
            <a:solidFill>
              <a:srgbClr val="1E2761"/>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448056" y="2843784"/>
            <a:ext cx="274320" cy="274320"/>
          </a:xfrm>
          <a:prstGeom prst="rect">
            <a:avLst/>
          </a:prstGeom>
        </p:spPr>
      </p:pic>
      <p:sp>
        <p:nvSpPr>
          <p:cNvPr id="21" name="Text 16"/>
          <p:cNvSpPr/>
          <p:nvPr/>
        </p:nvSpPr>
        <p:spPr>
          <a:xfrm>
            <a:off x="868680" y="2788920"/>
            <a:ext cx="3474720"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Secrets Management</a:t>
            </a:r>
            <a:endParaRPr lang="en-US" sz="1100" dirty="0"/>
          </a:p>
        </p:txBody>
      </p:sp>
      <p:sp>
        <p:nvSpPr>
          <p:cNvPr id="22" name="Text 17"/>
          <p:cNvSpPr/>
          <p:nvPr/>
        </p:nvSpPr>
        <p:spPr>
          <a:xfrm>
            <a:off x="411480" y="3154680"/>
            <a:ext cx="3931920"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Azure Key Vault / AWS Secrets Manager. 90-day auto-rotation. Keys never in app.</a:t>
            </a:r>
            <a:endParaRPr lang="en-US" sz="950" dirty="0"/>
          </a:p>
        </p:txBody>
      </p:sp>
      <p:sp>
        <p:nvSpPr>
          <p:cNvPr id="23" name="Shape 18"/>
          <p:cNvSpPr/>
          <p:nvPr/>
        </p:nvSpPr>
        <p:spPr>
          <a:xfrm>
            <a:off x="4663440" y="2697480"/>
            <a:ext cx="4114800" cy="1005840"/>
          </a:xfrm>
          <a:prstGeom prst="rect">
            <a:avLst/>
          </a:prstGeom>
          <a:solidFill>
            <a:srgbClr val="FFFFFF"/>
          </a:solidFill>
          <a:ln/>
          <a:effectLst>
            <a:outerShdw blurRad="63500" dist="12700" dir="8100000" algn="bl" rotWithShape="0">
              <a:srgbClr val="000000">
                <a:alpha val="9000"/>
              </a:srgbClr>
            </a:outerShdw>
          </a:effectLst>
        </p:spPr>
        <p:txBody>
          <a:bodyPr/>
          <a:lstStyle/>
          <a:p>
            <a:endParaRPr lang="en-US"/>
          </a:p>
        </p:txBody>
      </p:sp>
      <p:sp>
        <p:nvSpPr>
          <p:cNvPr id="24" name="Shape 19"/>
          <p:cNvSpPr/>
          <p:nvPr/>
        </p:nvSpPr>
        <p:spPr>
          <a:xfrm>
            <a:off x="4754880" y="2807208"/>
            <a:ext cx="347472" cy="347472"/>
          </a:xfrm>
          <a:prstGeom prst="rect">
            <a:avLst/>
          </a:prstGeom>
          <a:solidFill>
            <a:srgbClr val="1E2761"/>
          </a:solidFill>
          <a:ln w="12700">
            <a:solidFill>
              <a:srgbClr val="1E2761"/>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4791456" y="2843784"/>
            <a:ext cx="274320" cy="274320"/>
          </a:xfrm>
          <a:prstGeom prst="rect">
            <a:avLst/>
          </a:prstGeom>
        </p:spPr>
      </p:pic>
      <p:sp>
        <p:nvSpPr>
          <p:cNvPr id="26" name="Text 20"/>
          <p:cNvSpPr/>
          <p:nvPr/>
        </p:nvSpPr>
        <p:spPr>
          <a:xfrm>
            <a:off x="5212080" y="2788920"/>
            <a:ext cx="3474720"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Transport Security</a:t>
            </a:r>
            <a:endParaRPr lang="en-US" sz="1100" dirty="0"/>
          </a:p>
        </p:txBody>
      </p:sp>
      <p:sp>
        <p:nvSpPr>
          <p:cNvPr id="27" name="Text 21"/>
          <p:cNvSpPr/>
          <p:nvPr/>
        </p:nvSpPr>
        <p:spPr>
          <a:xfrm>
            <a:off x="4754880" y="3154680"/>
            <a:ext cx="3931920"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TLS 1.3 minimum. mTLS for backend-to-eMASS. Certificate pinning on app.</a:t>
            </a:r>
            <a:endParaRPr lang="en-US" sz="950" dirty="0"/>
          </a:p>
        </p:txBody>
      </p:sp>
      <p:sp>
        <p:nvSpPr>
          <p:cNvPr id="28" name="Shape 22"/>
          <p:cNvSpPr/>
          <p:nvPr/>
        </p:nvSpPr>
        <p:spPr>
          <a:xfrm>
            <a:off x="320040" y="3794760"/>
            <a:ext cx="4114800" cy="1005840"/>
          </a:xfrm>
          <a:prstGeom prst="rect">
            <a:avLst/>
          </a:prstGeom>
          <a:solidFill>
            <a:srgbClr val="FFFFFF"/>
          </a:solidFill>
          <a:ln/>
          <a:effectLst>
            <a:outerShdw blurRad="63500" dist="12700" dir="8100000" algn="bl" rotWithShape="0">
              <a:srgbClr val="000000">
                <a:alpha val="9000"/>
              </a:srgbClr>
            </a:outerShdw>
          </a:effectLst>
        </p:spPr>
        <p:txBody>
          <a:bodyPr/>
          <a:lstStyle/>
          <a:p>
            <a:endParaRPr lang="en-US"/>
          </a:p>
        </p:txBody>
      </p:sp>
      <p:sp>
        <p:nvSpPr>
          <p:cNvPr id="29" name="Shape 23"/>
          <p:cNvSpPr/>
          <p:nvPr/>
        </p:nvSpPr>
        <p:spPr>
          <a:xfrm>
            <a:off x="411480" y="3904488"/>
            <a:ext cx="347472" cy="347472"/>
          </a:xfrm>
          <a:prstGeom prst="rect">
            <a:avLst/>
          </a:prstGeom>
          <a:solidFill>
            <a:srgbClr val="1E2761"/>
          </a:solidFill>
          <a:ln w="12700">
            <a:solidFill>
              <a:srgbClr val="1E2761"/>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448056" y="3941064"/>
            <a:ext cx="274320" cy="274320"/>
          </a:xfrm>
          <a:prstGeom prst="rect">
            <a:avLst/>
          </a:prstGeom>
        </p:spPr>
      </p:pic>
      <p:sp>
        <p:nvSpPr>
          <p:cNvPr id="31" name="Text 24"/>
          <p:cNvSpPr/>
          <p:nvPr/>
        </p:nvSpPr>
        <p:spPr>
          <a:xfrm>
            <a:off x="868680" y="3886200"/>
            <a:ext cx="3474720"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Zero Device Persistence</a:t>
            </a:r>
            <a:endParaRPr lang="en-US" sz="1100" dirty="0"/>
          </a:p>
        </p:txBody>
      </p:sp>
      <p:sp>
        <p:nvSpPr>
          <p:cNvPr id="32" name="Text 25"/>
          <p:cNvSpPr/>
          <p:nvPr/>
        </p:nvSpPr>
        <p:spPr>
          <a:xfrm>
            <a:off x="411480" y="4251960"/>
            <a:ext cx="3931920"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No eMASS data written to device storage, cache, or clipboard. Session wipe on background.</a:t>
            </a:r>
            <a:endParaRPr lang="en-US" sz="950" dirty="0"/>
          </a:p>
        </p:txBody>
      </p:sp>
      <p:sp>
        <p:nvSpPr>
          <p:cNvPr id="33" name="Shape 26"/>
          <p:cNvSpPr/>
          <p:nvPr/>
        </p:nvSpPr>
        <p:spPr>
          <a:xfrm>
            <a:off x="4663440" y="3794760"/>
            <a:ext cx="4114800" cy="1005840"/>
          </a:xfrm>
          <a:prstGeom prst="rect">
            <a:avLst/>
          </a:prstGeom>
          <a:solidFill>
            <a:srgbClr val="FFFFFF"/>
          </a:solidFill>
          <a:ln/>
          <a:effectLst>
            <a:outerShdw blurRad="63500" dist="12700" dir="8100000" algn="bl" rotWithShape="0">
              <a:srgbClr val="000000">
                <a:alpha val="9000"/>
              </a:srgbClr>
            </a:outerShdw>
          </a:effectLst>
        </p:spPr>
        <p:txBody>
          <a:bodyPr/>
          <a:lstStyle/>
          <a:p>
            <a:endParaRPr lang="en-US"/>
          </a:p>
        </p:txBody>
      </p:sp>
      <p:sp>
        <p:nvSpPr>
          <p:cNvPr id="34" name="Shape 27"/>
          <p:cNvSpPr/>
          <p:nvPr/>
        </p:nvSpPr>
        <p:spPr>
          <a:xfrm>
            <a:off x="4754880" y="3904488"/>
            <a:ext cx="347472" cy="347472"/>
          </a:xfrm>
          <a:prstGeom prst="rect">
            <a:avLst/>
          </a:prstGeom>
          <a:solidFill>
            <a:srgbClr val="1E2761"/>
          </a:solidFill>
          <a:ln w="12700">
            <a:solidFill>
              <a:srgbClr val="1E2761"/>
            </a:solidFill>
            <a:prstDash val="solid"/>
          </a:ln>
        </p:spPr>
        <p:txBody>
          <a:bodyPr/>
          <a:lstStyle/>
          <a:p>
            <a:endParaRPr lang="en-US"/>
          </a:p>
        </p:txBody>
      </p:sp>
      <p:pic>
        <p:nvPicPr>
          <p:cNvPr id="35" name="Image 5" descr="preencoded.png"/>
          <p:cNvPicPr>
            <a:picLocks noChangeAspect="1"/>
          </p:cNvPicPr>
          <p:nvPr/>
        </p:nvPicPr>
        <p:blipFill>
          <a:blip r:embed="rId8"/>
          <a:stretch>
            <a:fillRect/>
          </a:stretch>
        </p:blipFill>
        <p:spPr>
          <a:xfrm>
            <a:off x="4791456" y="3941064"/>
            <a:ext cx="274320" cy="274320"/>
          </a:xfrm>
          <a:prstGeom prst="rect">
            <a:avLst/>
          </a:prstGeom>
        </p:spPr>
      </p:pic>
      <p:sp>
        <p:nvSpPr>
          <p:cNvPr id="36" name="Text 28"/>
          <p:cNvSpPr/>
          <p:nvPr/>
        </p:nvSpPr>
        <p:spPr>
          <a:xfrm>
            <a:off x="5212080" y="3886200"/>
            <a:ext cx="3474720"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Audit Logging</a:t>
            </a:r>
            <a:endParaRPr lang="en-US" sz="1100" dirty="0"/>
          </a:p>
        </p:txBody>
      </p:sp>
      <p:sp>
        <p:nvSpPr>
          <p:cNvPr id="37" name="Text 29"/>
          <p:cNvSpPr/>
          <p:nvPr/>
        </p:nvSpPr>
        <p:spPr>
          <a:xfrm>
            <a:off x="4754880" y="4251960"/>
            <a:ext cx="3931920" cy="45720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All API calls, AI prompts, outputs, and approvals logged. 1-year retention minimum.</a:t>
            </a:r>
            <a:endParaRPr lang="en-US" sz="950" dirty="0"/>
          </a:p>
        </p:txBody>
      </p:sp>
      <p:sp>
        <p:nvSpPr>
          <p:cNvPr id="39" name="Text 30"/>
          <p:cNvSpPr/>
          <p:nvPr/>
        </p:nvSpPr>
        <p:spPr>
          <a:xfrm>
            <a:off x="0" y="4956048"/>
            <a:ext cx="9144000" cy="182880"/>
          </a:xfrm>
          <a:prstGeom prst="rect">
            <a:avLst/>
          </a:prstGeom>
          <a:noFill/>
          <a:ln/>
        </p:spPr>
        <p:txBody>
          <a:bodyPr wrap="square" lIns="0" tIns="0" rIns="0" bIns="0" rtlCol="0" anchor="ctr"/>
          <a:lstStyle/>
          <a:p>
            <a:pPr marL="0" indent="0" algn="ctr">
              <a:buNone/>
            </a:pPr>
            <a:r>
              <a:rPr lang="en-US" sz="800" b="1" dirty="0">
                <a:solidFill>
                  <a:srgbClr val="8A9FCC"/>
                </a:solidFill>
                <a:latin typeface="Calibri" pitchFamily="34" charset="0"/>
                <a:ea typeface="Calibri" pitchFamily="34" charset="-122"/>
                <a:cs typeface="Calibri" pitchFamily="34" charset="-120"/>
              </a:rPr>
              <a:t>UNCLASSIFIED // FOR OFFICIAL USE ONLY</a:t>
            </a:r>
            <a:endParaRPr lang="en-US" sz="800" dirty="0"/>
          </a:p>
        </p:txBody>
      </p:sp>
      <p:sp>
        <p:nvSpPr>
          <p:cNvPr id="40" name="Text 31"/>
          <p:cNvSpPr/>
          <p:nvPr/>
        </p:nvSpPr>
        <p:spPr>
          <a:xfrm>
            <a:off x="8046720" y="4956048"/>
            <a:ext cx="1097280" cy="182880"/>
          </a:xfrm>
          <a:prstGeom prst="rect">
            <a:avLst/>
          </a:prstGeom>
          <a:noFill/>
          <a:ln/>
        </p:spPr>
        <p:txBody>
          <a:bodyPr wrap="square" lIns="0" tIns="0" rIns="0" bIns="0" rtlCol="0" anchor="ctr"/>
          <a:lstStyle/>
          <a:p>
            <a:pPr marL="0" indent="0" algn="r">
              <a:buNone/>
            </a:pPr>
            <a:r>
              <a:rPr lang="en-US" sz="800" dirty="0">
                <a:solidFill>
                  <a:srgbClr val="8A9FCC"/>
                </a:solidFill>
                <a:latin typeface="Calibri" pitchFamily="34" charset="0"/>
                <a:ea typeface="Calibri" pitchFamily="34" charset="-122"/>
                <a:cs typeface="Calibri" pitchFamily="34" charset="-120"/>
              </a:rPr>
              <a:t>6 / 12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4A90D9"/>
          </a:solidFill>
          <a:ln w="12700">
            <a:solidFill>
              <a:srgbClr val="4A90D9"/>
            </a:solidFill>
            <a:prstDash val="solid"/>
          </a:ln>
        </p:spPr>
        <p:txBody>
          <a:bodyPr/>
          <a:lstStyle/>
          <a:p>
            <a:endParaRPr lang="en-US"/>
          </a:p>
        </p:txBody>
      </p:sp>
      <p:sp>
        <p:nvSpPr>
          <p:cNvPr id="3" name="Text 1"/>
          <p:cNvSpPr/>
          <p:nvPr/>
        </p:nvSpPr>
        <p:spPr>
          <a:xfrm>
            <a:off x="320040" y="164592"/>
            <a:ext cx="7315200" cy="201168"/>
          </a:xfrm>
          <a:prstGeom prst="rect">
            <a:avLst/>
          </a:prstGeom>
          <a:noFill/>
          <a:ln/>
        </p:spPr>
        <p:txBody>
          <a:bodyPr wrap="square" lIns="0" tIns="0" rIns="0" bIns="0" rtlCol="0" anchor="ctr"/>
          <a:lstStyle/>
          <a:p>
            <a:pPr marL="0" indent="0">
              <a:buNone/>
            </a:pPr>
            <a:r>
              <a:rPr lang="en-US" sz="850" b="1" kern="0" spc="300" dirty="0">
                <a:solidFill>
                  <a:srgbClr val="4A90D9"/>
                </a:solidFill>
                <a:latin typeface="Calibri" pitchFamily="34" charset="0"/>
                <a:ea typeface="Calibri" pitchFamily="34" charset="-122"/>
                <a:cs typeface="Calibri" pitchFamily="34" charset="-120"/>
              </a:rPr>
              <a:t>05  PILOT PLAN</a:t>
            </a:r>
            <a:endParaRPr lang="en-US" sz="850" dirty="0"/>
          </a:p>
        </p:txBody>
      </p:sp>
      <p:sp>
        <p:nvSpPr>
          <p:cNvPr id="4" name="Text 2"/>
          <p:cNvSpPr/>
          <p:nvPr/>
        </p:nvSpPr>
        <p:spPr>
          <a:xfrm>
            <a:off x="320040" y="411480"/>
            <a:ext cx="8503920" cy="50292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90-Day Pilot — Scope and Boundaries</a:t>
            </a:r>
            <a:endParaRPr lang="en-US" sz="2600" dirty="0"/>
          </a:p>
        </p:txBody>
      </p:sp>
      <p:sp>
        <p:nvSpPr>
          <p:cNvPr id="5" name="Shape 3"/>
          <p:cNvSpPr/>
          <p:nvPr/>
        </p:nvSpPr>
        <p:spPr>
          <a:xfrm>
            <a:off x="320040" y="960120"/>
            <a:ext cx="8503920" cy="18288"/>
          </a:xfrm>
          <a:prstGeom prst="rect">
            <a:avLst/>
          </a:prstGeom>
          <a:solidFill>
            <a:srgbClr val="CADCFC"/>
          </a:solidFill>
          <a:ln w="12700">
            <a:solidFill>
              <a:srgbClr val="CADCFC"/>
            </a:solidFill>
            <a:prstDash val="solid"/>
          </a:ln>
        </p:spPr>
        <p:txBody>
          <a:bodyPr/>
          <a:lstStyle/>
          <a:p>
            <a:endParaRPr lang="en-US"/>
          </a:p>
        </p:txBody>
      </p:sp>
      <p:sp>
        <p:nvSpPr>
          <p:cNvPr id="6" name="Shape 4"/>
          <p:cNvSpPr/>
          <p:nvPr/>
        </p:nvSpPr>
        <p:spPr>
          <a:xfrm>
            <a:off x="320040" y="1024128"/>
            <a:ext cx="4114800" cy="292608"/>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320040" y="1042416"/>
            <a:ext cx="41148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INCLUDED IN PILOT</a:t>
            </a:r>
            <a:endParaRPr lang="en-US" sz="1000" dirty="0"/>
          </a:p>
        </p:txBody>
      </p:sp>
      <p:sp>
        <p:nvSpPr>
          <p:cNvPr id="8" name="Shape 6"/>
          <p:cNvSpPr/>
          <p:nvPr/>
        </p:nvSpPr>
        <p:spPr>
          <a:xfrm>
            <a:off x="320040" y="1335024"/>
            <a:ext cx="4114800" cy="402336"/>
          </a:xfrm>
          <a:prstGeom prst="rect">
            <a:avLst/>
          </a:prstGeom>
          <a:solidFill>
            <a:srgbClr val="FFFFFF"/>
          </a:solidFill>
          <a:ln w="12700">
            <a:solidFill>
              <a:srgbClr val="D0D8EE"/>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11480" y="1389888"/>
            <a:ext cx="237744" cy="237744"/>
          </a:xfrm>
          <a:prstGeom prst="rect">
            <a:avLst/>
          </a:prstGeom>
        </p:spPr>
      </p:pic>
      <p:sp>
        <p:nvSpPr>
          <p:cNvPr id="10" name="Text 7"/>
          <p:cNvSpPr/>
          <p:nvPr/>
        </p:nvSpPr>
        <p:spPr>
          <a:xfrm>
            <a:off x="713232" y="1371600"/>
            <a:ext cx="3657600" cy="329184"/>
          </a:xfrm>
          <a:prstGeom prst="rect">
            <a:avLst/>
          </a:prstGeom>
          <a:noFill/>
          <a:ln/>
        </p:spPr>
        <p:txBody>
          <a:bodyPr wrap="square" lIns="0" tIns="0" rIns="0" bIns="0" rtlCol="0" anchor="ctr"/>
          <a:lstStyle/>
          <a:p>
            <a:pPr marL="0" indent="0">
              <a:buNone/>
            </a:pPr>
            <a:r>
              <a:rPr lang="en-US" sz="1000" dirty="0">
                <a:solidFill>
                  <a:srgbClr val="1A1F36"/>
                </a:solidFill>
                <a:latin typeface="Calibri" pitchFamily="34" charset="0"/>
                <a:ea typeface="Calibri" pitchFamily="34" charset="-122"/>
                <a:cs typeface="Calibri" pitchFamily="34" charset="-120"/>
              </a:rPr>
              <a:t>Read-only dashboard using mock, sandbox, or test data</a:t>
            </a:r>
            <a:endParaRPr lang="en-US" sz="1000" dirty="0"/>
          </a:p>
        </p:txBody>
      </p:sp>
      <p:sp>
        <p:nvSpPr>
          <p:cNvPr id="11" name="Shape 8"/>
          <p:cNvSpPr/>
          <p:nvPr/>
        </p:nvSpPr>
        <p:spPr>
          <a:xfrm>
            <a:off x="320040" y="1810512"/>
            <a:ext cx="4114800" cy="402336"/>
          </a:xfrm>
          <a:prstGeom prst="rect">
            <a:avLst/>
          </a:prstGeom>
          <a:solidFill>
            <a:srgbClr val="EEF3FC"/>
          </a:solidFill>
          <a:ln w="12700">
            <a:solidFill>
              <a:srgbClr val="D0D8EE"/>
            </a:solidFill>
            <a:prstDash val="solid"/>
          </a:ln>
        </p:spPr>
        <p:txBody>
          <a:bodyPr/>
          <a:lstStyle/>
          <a:p>
            <a:endParaRPr lang="en-US"/>
          </a:p>
        </p:txBody>
      </p:sp>
      <p:pic>
        <p:nvPicPr>
          <p:cNvPr id="12" name="Image 1" descr="preencoded.png"/>
          <p:cNvPicPr>
            <a:picLocks noChangeAspect="1"/>
          </p:cNvPicPr>
          <p:nvPr/>
        </p:nvPicPr>
        <p:blipFill>
          <a:blip r:embed="rId3"/>
          <a:stretch>
            <a:fillRect/>
          </a:stretch>
        </p:blipFill>
        <p:spPr>
          <a:xfrm>
            <a:off x="411480" y="1865376"/>
            <a:ext cx="237744" cy="237744"/>
          </a:xfrm>
          <a:prstGeom prst="rect">
            <a:avLst/>
          </a:prstGeom>
        </p:spPr>
      </p:pic>
      <p:sp>
        <p:nvSpPr>
          <p:cNvPr id="13" name="Text 9"/>
          <p:cNvSpPr/>
          <p:nvPr/>
        </p:nvSpPr>
        <p:spPr>
          <a:xfrm>
            <a:off x="713232" y="1847088"/>
            <a:ext cx="3657600" cy="329184"/>
          </a:xfrm>
          <a:prstGeom prst="rect">
            <a:avLst/>
          </a:prstGeom>
          <a:noFill/>
          <a:ln/>
        </p:spPr>
        <p:txBody>
          <a:bodyPr wrap="square" lIns="0" tIns="0" rIns="0" bIns="0" rtlCol="0" anchor="ctr"/>
          <a:lstStyle/>
          <a:p>
            <a:pPr marL="0" indent="0">
              <a:buNone/>
            </a:pPr>
            <a:r>
              <a:rPr lang="en-US" sz="1000" dirty="0">
                <a:solidFill>
                  <a:srgbClr val="1A1F36"/>
                </a:solidFill>
                <a:latin typeface="Calibri" pitchFamily="34" charset="0"/>
                <a:ea typeface="Calibri" pitchFamily="34" charset="-122"/>
                <a:cs typeface="Calibri" pitchFamily="34" charset="-120"/>
              </a:rPr>
              <a:t>ATO expiration countdowns and threshold alerts</a:t>
            </a:r>
            <a:endParaRPr lang="en-US" sz="1000" dirty="0"/>
          </a:p>
        </p:txBody>
      </p:sp>
      <p:sp>
        <p:nvSpPr>
          <p:cNvPr id="14" name="Shape 10"/>
          <p:cNvSpPr/>
          <p:nvPr/>
        </p:nvSpPr>
        <p:spPr>
          <a:xfrm>
            <a:off x="320040" y="2286000"/>
            <a:ext cx="4114800" cy="402336"/>
          </a:xfrm>
          <a:prstGeom prst="rect">
            <a:avLst/>
          </a:prstGeom>
          <a:solidFill>
            <a:srgbClr val="FFFFFF"/>
          </a:solidFill>
          <a:ln w="12700">
            <a:solidFill>
              <a:srgbClr val="D0D8EE"/>
            </a:solidFill>
            <a:prstDash val="solid"/>
          </a:ln>
        </p:spPr>
        <p:txBody>
          <a:bodyPr/>
          <a:lstStyle/>
          <a:p>
            <a:endParaRPr lang="en-US"/>
          </a:p>
        </p:txBody>
      </p:sp>
      <p:pic>
        <p:nvPicPr>
          <p:cNvPr id="15" name="Image 2" descr="preencoded.png"/>
          <p:cNvPicPr>
            <a:picLocks noChangeAspect="1"/>
          </p:cNvPicPr>
          <p:nvPr/>
        </p:nvPicPr>
        <p:blipFill>
          <a:blip r:embed="rId3"/>
          <a:stretch>
            <a:fillRect/>
          </a:stretch>
        </p:blipFill>
        <p:spPr>
          <a:xfrm>
            <a:off x="411480" y="2340864"/>
            <a:ext cx="237744" cy="237744"/>
          </a:xfrm>
          <a:prstGeom prst="rect">
            <a:avLst/>
          </a:prstGeom>
        </p:spPr>
      </p:pic>
      <p:sp>
        <p:nvSpPr>
          <p:cNvPr id="16" name="Text 11"/>
          <p:cNvSpPr/>
          <p:nvPr/>
        </p:nvSpPr>
        <p:spPr>
          <a:xfrm>
            <a:off x="713232" y="2322576"/>
            <a:ext cx="3657600" cy="329184"/>
          </a:xfrm>
          <a:prstGeom prst="rect">
            <a:avLst/>
          </a:prstGeom>
          <a:noFill/>
          <a:ln/>
        </p:spPr>
        <p:txBody>
          <a:bodyPr wrap="square" lIns="0" tIns="0" rIns="0" bIns="0" rtlCol="0" anchor="ctr"/>
          <a:lstStyle/>
          <a:p>
            <a:pPr marL="0" indent="0">
              <a:buNone/>
            </a:pPr>
            <a:r>
              <a:rPr lang="en-US" sz="1000" dirty="0">
                <a:solidFill>
                  <a:srgbClr val="1A1F36"/>
                </a:solidFill>
                <a:latin typeface="Calibri" pitchFamily="34" charset="0"/>
                <a:ea typeface="Calibri" pitchFamily="34" charset="-122"/>
                <a:cs typeface="Calibri" pitchFamily="34" charset="-120"/>
              </a:rPr>
              <a:t>Mock POA&amp;M status and control posture visibility</a:t>
            </a:r>
            <a:endParaRPr lang="en-US" sz="1000" dirty="0"/>
          </a:p>
        </p:txBody>
      </p:sp>
      <p:sp>
        <p:nvSpPr>
          <p:cNvPr id="17" name="Shape 12"/>
          <p:cNvSpPr/>
          <p:nvPr/>
        </p:nvSpPr>
        <p:spPr>
          <a:xfrm>
            <a:off x="320040" y="2761488"/>
            <a:ext cx="4114800" cy="402336"/>
          </a:xfrm>
          <a:prstGeom prst="rect">
            <a:avLst/>
          </a:prstGeom>
          <a:solidFill>
            <a:srgbClr val="EEF3FC"/>
          </a:solidFill>
          <a:ln w="12700">
            <a:solidFill>
              <a:srgbClr val="D0D8EE"/>
            </a:solidFill>
            <a:prstDash val="solid"/>
          </a:ln>
        </p:spPr>
        <p:txBody>
          <a:bodyPr/>
          <a:lstStyle/>
          <a:p>
            <a:endParaRPr lang="en-US"/>
          </a:p>
        </p:txBody>
      </p:sp>
      <p:pic>
        <p:nvPicPr>
          <p:cNvPr id="18" name="Image 3" descr="preencoded.png"/>
          <p:cNvPicPr>
            <a:picLocks noChangeAspect="1"/>
          </p:cNvPicPr>
          <p:nvPr/>
        </p:nvPicPr>
        <p:blipFill>
          <a:blip r:embed="rId3"/>
          <a:stretch>
            <a:fillRect/>
          </a:stretch>
        </p:blipFill>
        <p:spPr>
          <a:xfrm>
            <a:off x="411480" y="2816352"/>
            <a:ext cx="237744" cy="237744"/>
          </a:xfrm>
          <a:prstGeom prst="rect">
            <a:avLst/>
          </a:prstGeom>
        </p:spPr>
      </p:pic>
      <p:sp>
        <p:nvSpPr>
          <p:cNvPr id="19" name="Text 13"/>
          <p:cNvSpPr/>
          <p:nvPr/>
        </p:nvSpPr>
        <p:spPr>
          <a:xfrm>
            <a:off x="713232" y="2798064"/>
            <a:ext cx="3657600" cy="329184"/>
          </a:xfrm>
          <a:prstGeom prst="rect">
            <a:avLst/>
          </a:prstGeom>
          <a:noFill/>
          <a:ln/>
        </p:spPr>
        <p:txBody>
          <a:bodyPr wrap="square" lIns="0" tIns="0" rIns="0" bIns="0" rtlCol="0" anchor="ctr"/>
          <a:lstStyle/>
          <a:p>
            <a:pPr marL="0" indent="0">
              <a:buNone/>
            </a:pPr>
            <a:r>
              <a:rPr lang="en-US" sz="1000" dirty="0">
                <a:solidFill>
                  <a:srgbClr val="1A1F36"/>
                </a:solidFill>
                <a:latin typeface="Calibri" pitchFamily="34" charset="0"/>
                <a:ea typeface="Calibri" pitchFamily="34" charset="-122"/>
                <a:cs typeface="Calibri" pitchFamily="34" charset="-120"/>
              </a:rPr>
              <a:t>AI-assisted draft language — mock data, human approval</a:t>
            </a:r>
            <a:endParaRPr lang="en-US" sz="1000" dirty="0"/>
          </a:p>
        </p:txBody>
      </p:sp>
      <p:sp>
        <p:nvSpPr>
          <p:cNvPr id="20" name="Shape 14"/>
          <p:cNvSpPr/>
          <p:nvPr/>
        </p:nvSpPr>
        <p:spPr>
          <a:xfrm>
            <a:off x="320040" y="3236976"/>
            <a:ext cx="4114800" cy="402336"/>
          </a:xfrm>
          <a:prstGeom prst="rect">
            <a:avLst/>
          </a:prstGeom>
          <a:solidFill>
            <a:srgbClr val="FFFFFF"/>
          </a:solidFill>
          <a:ln w="12700">
            <a:solidFill>
              <a:srgbClr val="D0D8EE"/>
            </a:solidFill>
            <a:prstDash val="solid"/>
          </a:ln>
        </p:spPr>
        <p:txBody>
          <a:bodyPr/>
          <a:lstStyle/>
          <a:p>
            <a:endParaRPr lang="en-US"/>
          </a:p>
        </p:txBody>
      </p:sp>
      <p:pic>
        <p:nvPicPr>
          <p:cNvPr id="21" name="Image 4" descr="preencoded.png"/>
          <p:cNvPicPr>
            <a:picLocks noChangeAspect="1"/>
          </p:cNvPicPr>
          <p:nvPr/>
        </p:nvPicPr>
        <p:blipFill>
          <a:blip r:embed="rId3"/>
          <a:stretch>
            <a:fillRect/>
          </a:stretch>
        </p:blipFill>
        <p:spPr>
          <a:xfrm>
            <a:off x="411480" y="3291840"/>
            <a:ext cx="237744" cy="237744"/>
          </a:xfrm>
          <a:prstGeom prst="rect">
            <a:avLst/>
          </a:prstGeom>
        </p:spPr>
      </p:pic>
      <p:sp>
        <p:nvSpPr>
          <p:cNvPr id="22" name="Text 15"/>
          <p:cNvSpPr/>
          <p:nvPr/>
        </p:nvSpPr>
        <p:spPr>
          <a:xfrm>
            <a:off x="713232" y="3273552"/>
            <a:ext cx="3657600" cy="329184"/>
          </a:xfrm>
          <a:prstGeom prst="rect">
            <a:avLst/>
          </a:prstGeom>
          <a:noFill/>
          <a:ln/>
        </p:spPr>
        <p:txBody>
          <a:bodyPr wrap="square" lIns="0" tIns="0" rIns="0" bIns="0" rtlCol="0" anchor="ctr"/>
          <a:lstStyle/>
          <a:p>
            <a:pPr marL="0" indent="0">
              <a:buNone/>
            </a:pPr>
            <a:r>
              <a:rPr lang="en-US" sz="1000" dirty="0">
                <a:solidFill>
                  <a:srgbClr val="1A1F36"/>
                </a:solidFill>
                <a:latin typeface="Calibri" pitchFamily="34" charset="0"/>
                <a:ea typeface="Calibri" pitchFamily="34" charset="-122"/>
                <a:cs typeface="Calibri" pitchFamily="34" charset="-120"/>
              </a:rPr>
              <a:t>Role-based test accounts (ISSMs, ISSOs, AO support)</a:t>
            </a:r>
            <a:endParaRPr lang="en-US" sz="1000" dirty="0"/>
          </a:p>
        </p:txBody>
      </p:sp>
      <p:sp>
        <p:nvSpPr>
          <p:cNvPr id="23" name="Shape 16"/>
          <p:cNvSpPr/>
          <p:nvPr/>
        </p:nvSpPr>
        <p:spPr>
          <a:xfrm>
            <a:off x="4709160" y="1024128"/>
            <a:ext cx="4114800" cy="292608"/>
          </a:xfrm>
          <a:prstGeom prst="rect">
            <a:avLst/>
          </a:prstGeom>
          <a:solidFill>
            <a:srgbClr val="8B1A1A"/>
          </a:solidFill>
          <a:ln w="12700">
            <a:solidFill>
              <a:srgbClr val="8B1A1A"/>
            </a:solidFill>
            <a:prstDash val="solid"/>
          </a:ln>
        </p:spPr>
        <p:txBody>
          <a:bodyPr/>
          <a:lstStyle/>
          <a:p>
            <a:endParaRPr lang="en-US"/>
          </a:p>
        </p:txBody>
      </p:sp>
      <p:sp>
        <p:nvSpPr>
          <p:cNvPr id="24" name="Text 17"/>
          <p:cNvSpPr/>
          <p:nvPr/>
        </p:nvSpPr>
        <p:spPr>
          <a:xfrm>
            <a:off x="4709160" y="1042416"/>
            <a:ext cx="411480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EXCLUDED FROM PILOT</a:t>
            </a:r>
            <a:endParaRPr lang="en-US" sz="1000" dirty="0"/>
          </a:p>
        </p:txBody>
      </p:sp>
      <p:sp>
        <p:nvSpPr>
          <p:cNvPr id="25" name="Shape 18"/>
          <p:cNvSpPr/>
          <p:nvPr/>
        </p:nvSpPr>
        <p:spPr>
          <a:xfrm>
            <a:off x="4709160" y="1335024"/>
            <a:ext cx="4114800" cy="402336"/>
          </a:xfrm>
          <a:prstGeom prst="rect">
            <a:avLst/>
          </a:prstGeom>
          <a:solidFill>
            <a:srgbClr val="FFF5F5"/>
          </a:solidFill>
          <a:ln w="12700">
            <a:solidFill>
              <a:srgbClr val="D0D8EE"/>
            </a:solidFill>
            <a:prstDash val="solid"/>
          </a:ln>
        </p:spPr>
        <p:txBody>
          <a:bodyPr/>
          <a:lstStyle/>
          <a:p>
            <a:endParaRPr lang="en-US"/>
          </a:p>
        </p:txBody>
      </p:sp>
      <p:pic>
        <p:nvPicPr>
          <p:cNvPr id="26" name="Image 5" descr="preencoded.png"/>
          <p:cNvPicPr>
            <a:picLocks noChangeAspect="1"/>
          </p:cNvPicPr>
          <p:nvPr/>
        </p:nvPicPr>
        <p:blipFill>
          <a:blip r:embed="rId4"/>
          <a:stretch>
            <a:fillRect/>
          </a:stretch>
        </p:blipFill>
        <p:spPr>
          <a:xfrm>
            <a:off x="4800600" y="1389888"/>
            <a:ext cx="237744" cy="237744"/>
          </a:xfrm>
          <a:prstGeom prst="rect">
            <a:avLst/>
          </a:prstGeom>
        </p:spPr>
      </p:pic>
      <p:sp>
        <p:nvSpPr>
          <p:cNvPr id="27" name="Text 19"/>
          <p:cNvSpPr/>
          <p:nvPr/>
        </p:nvSpPr>
        <p:spPr>
          <a:xfrm>
            <a:off x="5102352" y="1371600"/>
            <a:ext cx="3657600" cy="329184"/>
          </a:xfrm>
          <a:prstGeom prst="rect">
            <a:avLst/>
          </a:prstGeom>
          <a:noFill/>
          <a:ln/>
        </p:spPr>
        <p:txBody>
          <a:bodyPr wrap="square" lIns="0" tIns="0" rIns="0" bIns="0" rtlCol="0" anchor="ctr"/>
          <a:lstStyle/>
          <a:p>
            <a:pPr marL="0" indent="0">
              <a:buNone/>
            </a:pPr>
            <a:r>
              <a:rPr lang="en-US" sz="1000" dirty="0">
                <a:solidFill>
                  <a:srgbClr val="1A1F36"/>
                </a:solidFill>
                <a:latin typeface="Calibri" pitchFamily="34" charset="0"/>
                <a:ea typeface="Calibri" pitchFamily="34" charset="-122"/>
                <a:cs typeface="Calibri" pitchFamily="34" charset="-120"/>
              </a:rPr>
              <a:t>Production eMASS data</a:t>
            </a:r>
            <a:endParaRPr lang="en-US" sz="1000" dirty="0"/>
          </a:p>
        </p:txBody>
      </p:sp>
      <p:sp>
        <p:nvSpPr>
          <p:cNvPr id="28" name="Shape 20"/>
          <p:cNvSpPr/>
          <p:nvPr/>
        </p:nvSpPr>
        <p:spPr>
          <a:xfrm>
            <a:off x="4709160" y="1810512"/>
            <a:ext cx="4114800" cy="402336"/>
          </a:xfrm>
          <a:prstGeom prst="rect">
            <a:avLst/>
          </a:prstGeom>
          <a:solidFill>
            <a:srgbClr val="FFFFFF"/>
          </a:solidFill>
          <a:ln w="12700">
            <a:solidFill>
              <a:srgbClr val="D0D8EE"/>
            </a:solidFill>
            <a:prstDash val="solid"/>
          </a:ln>
        </p:spPr>
        <p:txBody>
          <a:bodyPr/>
          <a:lstStyle/>
          <a:p>
            <a:endParaRPr lang="en-US"/>
          </a:p>
        </p:txBody>
      </p:sp>
      <p:pic>
        <p:nvPicPr>
          <p:cNvPr id="29" name="Image 6" descr="preencoded.png"/>
          <p:cNvPicPr>
            <a:picLocks noChangeAspect="1"/>
          </p:cNvPicPr>
          <p:nvPr/>
        </p:nvPicPr>
        <p:blipFill>
          <a:blip r:embed="rId4"/>
          <a:stretch>
            <a:fillRect/>
          </a:stretch>
        </p:blipFill>
        <p:spPr>
          <a:xfrm>
            <a:off x="4800600" y="1865376"/>
            <a:ext cx="237744" cy="237744"/>
          </a:xfrm>
          <a:prstGeom prst="rect">
            <a:avLst/>
          </a:prstGeom>
        </p:spPr>
      </p:pic>
      <p:sp>
        <p:nvSpPr>
          <p:cNvPr id="30" name="Text 21"/>
          <p:cNvSpPr/>
          <p:nvPr/>
        </p:nvSpPr>
        <p:spPr>
          <a:xfrm>
            <a:off x="5102352" y="1847088"/>
            <a:ext cx="3657600" cy="329184"/>
          </a:xfrm>
          <a:prstGeom prst="rect">
            <a:avLst/>
          </a:prstGeom>
          <a:noFill/>
          <a:ln/>
        </p:spPr>
        <p:txBody>
          <a:bodyPr wrap="square" lIns="0" tIns="0" rIns="0" bIns="0" rtlCol="0" anchor="ctr"/>
          <a:lstStyle/>
          <a:p>
            <a:pPr marL="0" indent="0">
              <a:buNone/>
            </a:pPr>
            <a:r>
              <a:rPr lang="en-US" sz="1000" dirty="0">
                <a:solidFill>
                  <a:srgbClr val="1A1F36"/>
                </a:solidFill>
                <a:latin typeface="Calibri" pitchFamily="34" charset="0"/>
                <a:ea typeface="Calibri" pitchFamily="34" charset="-122"/>
                <a:cs typeface="Calibri" pitchFamily="34" charset="-120"/>
              </a:rPr>
              <a:t>eMASS write-back or artifact submission</a:t>
            </a:r>
            <a:endParaRPr lang="en-US" sz="1000" dirty="0"/>
          </a:p>
        </p:txBody>
      </p:sp>
      <p:sp>
        <p:nvSpPr>
          <p:cNvPr id="31" name="Shape 22"/>
          <p:cNvSpPr/>
          <p:nvPr/>
        </p:nvSpPr>
        <p:spPr>
          <a:xfrm>
            <a:off x="4709160" y="2286000"/>
            <a:ext cx="4114800" cy="402336"/>
          </a:xfrm>
          <a:prstGeom prst="rect">
            <a:avLst/>
          </a:prstGeom>
          <a:solidFill>
            <a:srgbClr val="FFF5F5"/>
          </a:solidFill>
          <a:ln w="12700">
            <a:solidFill>
              <a:srgbClr val="D0D8EE"/>
            </a:solidFill>
            <a:prstDash val="solid"/>
          </a:ln>
        </p:spPr>
        <p:txBody>
          <a:bodyPr/>
          <a:lstStyle/>
          <a:p>
            <a:endParaRPr lang="en-US"/>
          </a:p>
        </p:txBody>
      </p:sp>
      <p:pic>
        <p:nvPicPr>
          <p:cNvPr id="32" name="Image 7" descr="preencoded.png"/>
          <p:cNvPicPr>
            <a:picLocks noChangeAspect="1"/>
          </p:cNvPicPr>
          <p:nvPr/>
        </p:nvPicPr>
        <p:blipFill>
          <a:blip r:embed="rId4"/>
          <a:stretch>
            <a:fillRect/>
          </a:stretch>
        </p:blipFill>
        <p:spPr>
          <a:xfrm>
            <a:off x="4800600" y="2340864"/>
            <a:ext cx="237744" cy="237744"/>
          </a:xfrm>
          <a:prstGeom prst="rect">
            <a:avLst/>
          </a:prstGeom>
        </p:spPr>
      </p:pic>
      <p:sp>
        <p:nvSpPr>
          <p:cNvPr id="33" name="Text 23"/>
          <p:cNvSpPr/>
          <p:nvPr/>
        </p:nvSpPr>
        <p:spPr>
          <a:xfrm>
            <a:off x="5102352" y="2322576"/>
            <a:ext cx="3657600" cy="329184"/>
          </a:xfrm>
          <a:prstGeom prst="rect">
            <a:avLst/>
          </a:prstGeom>
          <a:noFill/>
          <a:ln/>
        </p:spPr>
        <p:txBody>
          <a:bodyPr wrap="square" lIns="0" tIns="0" rIns="0" bIns="0" rtlCol="0" anchor="ctr"/>
          <a:lstStyle/>
          <a:p>
            <a:pPr marL="0" indent="0">
              <a:buNone/>
            </a:pPr>
            <a:r>
              <a:rPr lang="en-US" sz="1000" dirty="0">
                <a:solidFill>
                  <a:srgbClr val="1A1F36"/>
                </a:solidFill>
                <a:latin typeface="Calibri" pitchFamily="34" charset="0"/>
                <a:ea typeface="Calibri" pitchFamily="34" charset="-122"/>
                <a:cs typeface="Calibri" pitchFamily="34" charset="-120"/>
              </a:rPr>
              <a:t>Classified data or operational decisions</a:t>
            </a:r>
            <a:endParaRPr lang="en-US" sz="1000" dirty="0"/>
          </a:p>
        </p:txBody>
      </p:sp>
      <p:sp>
        <p:nvSpPr>
          <p:cNvPr id="34" name="Shape 24"/>
          <p:cNvSpPr/>
          <p:nvPr/>
        </p:nvSpPr>
        <p:spPr>
          <a:xfrm>
            <a:off x="4709160" y="2761488"/>
            <a:ext cx="4114800" cy="402336"/>
          </a:xfrm>
          <a:prstGeom prst="rect">
            <a:avLst/>
          </a:prstGeom>
          <a:solidFill>
            <a:srgbClr val="FFFFFF"/>
          </a:solidFill>
          <a:ln w="12700">
            <a:solidFill>
              <a:srgbClr val="D0D8EE"/>
            </a:solidFill>
            <a:prstDash val="solid"/>
          </a:ln>
        </p:spPr>
        <p:txBody>
          <a:bodyPr/>
          <a:lstStyle/>
          <a:p>
            <a:endParaRPr lang="en-US"/>
          </a:p>
        </p:txBody>
      </p:sp>
      <p:pic>
        <p:nvPicPr>
          <p:cNvPr id="35" name="Image 8" descr="preencoded.png"/>
          <p:cNvPicPr>
            <a:picLocks noChangeAspect="1"/>
          </p:cNvPicPr>
          <p:nvPr/>
        </p:nvPicPr>
        <p:blipFill>
          <a:blip r:embed="rId4"/>
          <a:stretch>
            <a:fillRect/>
          </a:stretch>
        </p:blipFill>
        <p:spPr>
          <a:xfrm>
            <a:off x="4800600" y="2816352"/>
            <a:ext cx="237744" cy="237744"/>
          </a:xfrm>
          <a:prstGeom prst="rect">
            <a:avLst/>
          </a:prstGeom>
        </p:spPr>
      </p:pic>
      <p:sp>
        <p:nvSpPr>
          <p:cNvPr id="36" name="Text 25"/>
          <p:cNvSpPr/>
          <p:nvPr/>
        </p:nvSpPr>
        <p:spPr>
          <a:xfrm>
            <a:off x="5102352" y="2798064"/>
            <a:ext cx="3657600" cy="329184"/>
          </a:xfrm>
          <a:prstGeom prst="rect">
            <a:avLst/>
          </a:prstGeom>
          <a:noFill/>
          <a:ln/>
        </p:spPr>
        <p:txBody>
          <a:bodyPr wrap="square" lIns="0" tIns="0" rIns="0" bIns="0" rtlCol="0" anchor="ctr"/>
          <a:lstStyle/>
          <a:p>
            <a:pPr marL="0" indent="0">
              <a:buNone/>
            </a:pPr>
            <a:r>
              <a:rPr lang="en-US" sz="1000" dirty="0">
                <a:solidFill>
                  <a:srgbClr val="1A1F36"/>
                </a:solidFill>
                <a:latin typeface="Calibri" pitchFamily="34" charset="0"/>
                <a:ea typeface="Calibri" pitchFamily="34" charset="-122"/>
                <a:cs typeface="Calibri" pitchFamily="34" charset="-120"/>
              </a:rPr>
              <a:t>Public-facing access or non-MDM devices</a:t>
            </a:r>
            <a:endParaRPr lang="en-US" sz="1000" dirty="0"/>
          </a:p>
        </p:txBody>
      </p:sp>
      <p:sp>
        <p:nvSpPr>
          <p:cNvPr id="37" name="Shape 26"/>
          <p:cNvSpPr/>
          <p:nvPr/>
        </p:nvSpPr>
        <p:spPr>
          <a:xfrm>
            <a:off x="4709160" y="3236976"/>
            <a:ext cx="4114800" cy="402336"/>
          </a:xfrm>
          <a:prstGeom prst="rect">
            <a:avLst/>
          </a:prstGeom>
          <a:solidFill>
            <a:srgbClr val="FFF5F5"/>
          </a:solidFill>
          <a:ln w="12700">
            <a:solidFill>
              <a:srgbClr val="D0D8EE"/>
            </a:solidFill>
            <a:prstDash val="solid"/>
          </a:ln>
        </p:spPr>
        <p:txBody>
          <a:bodyPr/>
          <a:lstStyle/>
          <a:p>
            <a:endParaRPr lang="en-US"/>
          </a:p>
        </p:txBody>
      </p:sp>
      <p:pic>
        <p:nvPicPr>
          <p:cNvPr id="38" name="Image 9" descr="preencoded.png"/>
          <p:cNvPicPr>
            <a:picLocks noChangeAspect="1"/>
          </p:cNvPicPr>
          <p:nvPr/>
        </p:nvPicPr>
        <p:blipFill>
          <a:blip r:embed="rId4"/>
          <a:stretch>
            <a:fillRect/>
          </a:stretch>
        </p:blipFill>
        <p:spPr>
          <a:xfrm>
            <a:off x="4800600" y="3291840"/>
            <a:ext cx="237744" cy="237744"/>
          </a:xfrm>
          <a:prstGeom prst="rect">
            <a:avLst/>
          </a:prstGeom>
        </p:spPr>
      </p:pic>
      <p:sp>
        <p:nvSpPr>
          <p:cNvPr id="39" name="Text 27"/>
          <p:cNvSpPr/>
          <p:nvPr/>
        </p:nvSpPr>
        <p:spPr>
          <a:xfrm>
            <a:off x="5102352" y="3273552"/>
            <a:ext cx="3657600" cy="329184"/>
          </a:xfrm>
          <a:prstGeom prst="rect">
            <a:avLst/>
          </a:prstGeom>
          <a:noFill/>
          <a:ln/>
        </p:spPr>
        <p:txBody>
          <a:bodyPr wrap="square" lIns="0" tIns="0" rIns="0" bIns="0" rtlCol="0" anchor="ctr"/>
          <a:lstStyle/>
          <a:p>
            <a:pPr marL="0" indent="0">
              <a:buNone/>
            </a:pPr>
            <a:r>
              <a:rPr lang="en-US" sz="1000" dirty="0">
                <a:solidFill>
                  <a:srgbClr val="1A1F36"/>
                </a:solidFill>
                <a:latin typeface="Calibri" pitchFamily="34" charset="0"/>
                <a:ea typeface="Calibri" pitchFamily="34" charset="-122"/>
                <a:cs typeface="Calibri" pitchFamily="34" charset="-120"/>
              </a:rPr>
              <a:t>Any action requiring production auth package content</a:t>
            </a:r>
            <a:endParaRPr lang="en-US" sz="1000" dirty="0"/>
          </a:p>
        </p:txBody>
      </p:sp>
      <p:sp>
        <p:nvSpPr>
          <p:cNvPr id="41" name="Text 28"/>
          <p:cNvSpPr/>
          <p:nvPr/>
        </p:nvSpPr>
        <p:spPr>
          <a:xfrm>
            <a:off x="0" y="4956048"/>
            <a:ext cx="9144000" cy="182880"/>
          </a:xfrm>
          <a:prstGeom prst="rect">
            <a:avLst/>
          </a:prstGeom>
          <a:noFill/>
          <a:ln/>
        </p:spPr>
        <p:txBody>
          <a:bodyPr wrap="square" lIns="0" tIns="0" rIns="0" bIns="0" rtlCol="0" anchor="ctr"/>
          <a:lstStyle/>
          <a:p>
            <a:pPr marL="0" indent="0" algn="ctr">
              <a:buNone/>
            </a:pPr>
            <a:r>
              <a:rPr lang="en-US" sz="800" b="1" dirty="0">
                <a:solidFill>
                  <a:srgbClr val="8A9FCC"/>
                </a:solidFill>
                <a:latin typeface="Calibri" pitchFamily="34" charset="0"/>
                <a:ea typeface="Calibri" pitchFamily="34" charset="-122"/>
                <a:cs typeface="Calibri" pitchFamily="34" charset="-120"/>
              </a:rPr>
              <a:t>UNCLASSIFIED // FOR OFFICIAL USE ONLY</a:t>
            </a:r>
            <a:endParaRPr lang="en-US" sz="800" dirty="0"/>
          </a:p>
        </p:txBody>
      </p:sp>
      <p:sp>
        <p:nvSpPr>
          <p:cNvPr id="42" name="Text 29"/>
          <p:cNvSpPr/>
          <p:nvPr/>
        </p:nvSpPr>
        <p:spPr>
          <a:xfrm>
            <a:off x="8046720" y="4956048"/>
            <a:ext cx="1097280" cy="182880"/>
          </a:xfrm>
          <a:prstGeom prst="rect">
            <a:avLst/>
          </a:prstGeom>
          <a:noFill/>
          <a:ln/>
        </p:spPr>
        <p:txBody>
          <a:bodyPr wrap="square" lIns="0" tIns="0" rIns="0" bIns="0" rtlCol="0" anchor="ctr"/>
          <a:lstStyle/>
          <a:p>
            <a:pPr marL="0" indent="0" algn="r">
              <a:buNone/>
            </a:pPr>
            <a:r>
              <a:rPr lang="en-US" sz="800" dirty="0">
                <a:solidFill>
                  <a:srgbClr val="8A9FCC"/>
                </a:solidFill>
                <a:latin typeface="Calibri" pitchFamily="34" charset="0"/>
                <a:ea typeface="Calibri" pitchFamily="34" charset="-122"/>
                <a:cs typeface="Calibri" pitchFamily="34" charset="-120"/>
              </a:rPr>
              <a:t>7 / 12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4A90D9"/>
          </a:solidFill>
          <a:ln w="12700">
            <a:solidFill>
              <a:srgbClr val="4A90D9"/>
            </a:solidFill>
            <a:prstDash val="solid"/>
          </a:ln>
        </p:spPr>
        <p:txBody>
          <a:bodyPr/>
          <a:lstStyle/>
          <a:p>
            <a:endParaRPr lang="en-US"/>
          </a:p>
        </p:txBody>
      </p:sp>
      <p:sp>
        <p:nvSpPr>
          <p:cNvPr id="3" name="Text 1"/>
          <p:cNvSpPr/>
          <p:nvPr/>
        </p:nvSpPr>
        <p:spPr>
          <a:xfrm>
            <a:off x="320040" y="164592"/>
            <a:ext cx="7315200" cy="201168"/>
          </a:xfrm>
          <a:prstGeom prst="rect">
            <a:avLst/>
          </a:prstGeom>
          <a:noFill/>
          <a:ln/>
        </p:spPr>
        <p:txBody>
          <a:bodyPr wrap="square" lIns="0" tIns="0" rIns="0" bIns="0" rtlCol="0" anchor="ctr"/>
          <a:lstStyle/>
          <a:p>
            <a:pPr marL="0" indent="0">
              <a:buNone/>
            </a:pPr>
            <a:r>
              <a:rPr lang="en-US" sz="850" b="1" kern="0" spc="300" dirty="0">
                <a:solidFill>
                  <a:srgbClr val="4A90D9"/>
                </a:solidFill>
                <a:latin typeface="Calibri" pitchFamily="34" charset="0"/>
                <a:ea typeface="Calibri" pitchFamily="34" charset="-122"/>
                <a:cs typeface="Calibri" pitchFamily="34" charset="-120"/>
              </a:rPr>
              <a:t>05  PILOT PLAN</a:t>
            </a:r>
            <a:endParaRPr lang="en-US" sz="850" dirty="0"/>
          </a:p>
        </p:txBody>
      </p:sp>
      <p:sp>
        <p:nvSpPr>
          <p:cNvPr id="4" name="Text 2"/>
          <p:cNvSpPr/>
          <p:nvPr/>
        </p:nvSpPr>
        <p:spPr>
          <a:xfrm>
            <a:off x="320040" y="411480"/>
            <a:ext cx="8503920" cy="50292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90-Day Pilot Timeline</a:t>
            </a:r>
            <a:endParaRPr lang="en-US" sz="2600" dirty="0"/>
          </a:p>
        </p:txBody>
      </p:sp>
      <p:sp>
        <p:nvSpPr>
          <p:cNvPr id="5" name="Shape 3"/>
          <p:cNvSpPr/>
          <p:nvPr/>
        </p:nvSpPr>
        <p:spPr>
          <a:xfrm>
            <a:off x="320040" y="960120"/>
            <a:ext cx="8503920" cy="18288"/>
          </a:xfrm>
          <a:prstGeom prst="rect">
            <a:avLst/>
          </a:prstGeom>
          <a:solidFill>
            <a:srgbClr val="CADCFC"/>
          </a:solidFill>
          <a:ln w="12700">
            <a:solidFill>
              <a:srgbClr val="CADCFC"/>
            </a:solidFill>
            <a:prstDash val="solid"/>
          </a:ln>
        </p:spPr>
        <p:txBody>
          <a:bodyPr/>
          <a:lstStyle/>
          <a:p>
            <a:endParaRPr lang="en-US"/>
          </a:p>
        </p:txBody>
      </p:sp>
      <p:sp>
        <p:nvSpPr>
          <p:cNvPr id="6" name="Shape 4"/>
          <p:cNvSpPr/>
          <p:nvPr/>
        </p:nvSpPr>
        <p:spPr>
          <a:xfrm>
            <a:off x="320040" y="1097280"/>
            <a:ext cx="1371600" cy="1417320"/>
          </a:xfrm>
          <a:prstGeom prst="rect">
            <a:avLst/>
          </a:prstGeom>
          <a:solidFill>
            <a:srgbClr val="FFFFFF"/>
          </a:solidFill>
          <a:ln/>
          <a:effectLst>
            <a:outerShdw blurRad="63500" dist="12700" dir="8100000" algn="bl" rotWithShape="0">
              <a:srgbClr val="000000">
                <a:alpha val="10000"/>
              </a:srgbClr>
            </a:outerShdw>
          </a:effectLst>
        </p:spPr>
        <p:txBody>
          <a:bodyPr/>
          <a:lstStyle/>
          <a:p>
            <a:endParaRPr lang="en-US"/>
          </a:p>
        </p:txBody>
      </p:sp>
      <p:sp>
        <p:nvSpPr>
          <p:cNvPr id="7" name="Shape 5"/>
          <p:cNvSpPr/>
          <p:nvPr/>
        </p:nvSpPr>
        <p:spPr>
          <a:xfrm>
            <a:off x="320040" y="1097280"/>
            <a:ext cx="1371600" cy="201168"/>
          </a:xfrm>
          <a:prstGeom prst="rect">
            <a:avLst/>
          </a:prstGeom>
          <a:solidFill>
            <a:srgbClr val="4A90D9"/>
          </a:solidFill>
          <a:ln w="12700">
            <a:solidFill>
              <a:srgbClr val="4A90D9"/>
            </a:solidFill>
            <a:prstDash val="solid"/>
          </a:ln>
        </p:spPr>
        <p:txBody>
          <a:bodyPr/>
          <a:lstStyle/>
          <a:p>
            <a:endParaRPr lang="en-US"/>
          </a:p>
        </p:txBody>
      </p:sp>
      <p:sp>
        <p:nvSpPr>
          <p:cNvPr id="8" name="Text 6"/>
          <p:cNvSpPr/>
          <p:nvPr/>
        </p:nvSpPr>
        <p:spPr>
          <a:xfrm>
            <a:off x="320040" y="1115568"/>
            <a:ext cx="137160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WK 1–2</a:t>
            </a:r>
            <a:endParaRPr lang="en-US" sz="850" dirty="0"/>
          </a:p>
        </p:txBody>
      </p:sp>
      <p:sp>
        <p:nvSpPr>
          <p:cNvPr id="9" name="Text 7"/>
          <p:cNvSpPr/>
          <p:nvPr/>
        </p:nvSpPr>
        <p:spPr>
          <a:xfrm>
            <a:off x="393192" y="1335024"/>
            <a:ext cx="1225296" cy="457200"/>
          </a:xfrm>
          <a:prstGeom prst="rect">
            <a:avLst/>
          </a:prstGeom>
          <a:noFill/>
          <a:ln/>
        </p:spPr>
        <p:txBody>
          <a:bodyPr wrap="square" lIns="0" tIns="0" rIns="0" bIns="0"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Kickoff</a:t>
            </a:r>
            <a:endParaRPr lang="en-US" sz="950" dirty="0"/>
          </a:p>
        </p:txBody>
      </p:sp>
      <p:sp>
        <p:nvSpPr>
          <p:cNvPr id="10" name="Text 8"/>
          <p:cNvSpPr/>
          <p:nvPr/>
        </p:nvSpPr>
        <p:spPr>
          <a:xfrm>
            <a:off x="393192" y="1810512"/>
            <a:ext cx="1225296" cy="658368"/>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Approved scope, user list, success metrics</a:t>
            </a:r>
            <a:endParaRPr lang="en-US" sz="850" dirty="0"/>
          </a:p>
        </p:txBody>
      </p:sp>
      <p:sp>
        <p:nvSpPr>
          <p:cNvPr id="11" name="Shape 9"/>
          <p:cNvSpPr/>
          <p:nvPr/>
        </p:nvSpPr>
        <p:spPr>
          <a:xfrm>
            <a:off x="1783080" y="1097280"/>
            <a:ext cx="1371600" cy="1417320"/>
          </a:xfrm>
          <a:prstGeom prst="rect">
            <a:avLst/>
          </a:prstGeom>
          <a:solidFill>
            <a:srgbClr val="FFFFFF"/>
          </a:solidFill>
          <a:ln/>
          <a:effectLst>
            <a:outerShdw blurRad="63500" dist="12700" dir="8100000" algn="bl" rotWithShape="0">
              <a:srgbClr val="000000">
                <a:alpha val="10000"/>
              </a:srgbClr>
            </a:outerShdw>
          </a:effectLst>
        </p:spPr>
        <p:txBody>
          <a:bodyPr/>
          <a:lstStyle/>
          <a:p>
            <a:endParaRPr lang="en-US"/>
          </a:p>
        </p:txBody>
      </p:sp>
      <p:sp>
        <p:nvSpPr>
          <p:cNvPr id="12" name="Shape 10"/>
          <p:cNvSpPr/>
          <p:nvPr/>
        </p:nvSpPr>
        <p:spPr>
          <a:xfrm>
            <a:off x="1783080" y="1097280"/>
            <a:ext cx="1371600" cy="201168"/>
          </a:xfrm>
          <a:prstGeom prst="rect">
            <a:avLst/>
          </a:prstGeom>
          <a:solidFill>
            <a:srgbClr val="4A90D9"/>
          </a:solidFill>
          <a:ln w="12700">
            <a:solidFill>
              <a:srgbClr val="4A90D9"/>
            </a:solidFill>
            <a:prstDash val="solid"/>
          </a:ln>
        </p:spPr>
        <p:txBody>
          <a:bodyPr/>
          <a:lstStyle/>
          <a:p>
            <a:endParaRPr lang="en-US"/>
          </a:p>
        </p:txBody>
      </p:sp>
      <p:sp>
        <p:nvSpPr>
          <p:cNvPr id="13" name="Text 11"/>
          <p:cNvSpPr/>
          <p:nvPr/>
        </p:nvSpPr>
        <p:spPr>
          <a:xfrm>
            <a:off x="1783080" y="1115568"/>
            <a:ext cx="137160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WK 3–4</a:t>
            </a:r>
            <a:endParaRPr lang="en-US" sz="850" dirty="0"/>
          </a:p>
        </p:txBody>
      </p:sp>
      <p:sp>
        <p:nvSpPr>
          <p:cNvPr id="14" name="Text 12"/>
          <p:cNvSpPr/>
          <p:nvPr/>
        </p:nvSpPr>
        <p:spPr>
          <a:xfrm>
            <a:off x="1856232" y="1335024"/>
            <a:ext cx="1225296" cy="457200"/>
          </a:xfrm>
          <a:prstGeom prst="rect">
            <a:avLst/>
          </a:prstGeom>
          <a:noFill/>
          <a:ln/>
        </p:spPr>
        <p:txBody>
          <a:bodyPr wrap="square" lIns="0" tIns="0" rIns="0" bIns="0"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Dashboard</a:t>
            </a:r>
            <a:endParaRPr lang="en-US" sz="950" dirty="0"/>
          </a:p>
        </p:txBody>
      </p:sp>
      <p:sp>
        <p:nvSpPr>
          <p:cNvPr id="15" name="Text 13"/>
          <p:cNvSpPr/>
          <p:nvPr/>
        </p:nvSpPr>
        <p:spPr>
          <a:xfrm>
            <a:off x="1856232" y="1810512"/>
            <a:ext cx="1225296" cy="658368"/>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Working dashboard with mock system posture cards</a:t>
            </a:r>
            <a:endParaRPr lang="en-US" sz="850" dirty="0"/>
          </a:p>
        </p:txBody>
      </p:sp>
      <p:sp>
        <p:nvSpPr>
          <p:cNvPr id="16" name="Shape 14"/>
          <p:cNvSpPr/>
          <p:nvPr/>
        </p:nvSpPr>
        <p:spPr>
          <a:xfrm>
            <a:off x="3246120" y="1097280"/>
            <a:ext cx="1371600" cy="1417320"/>
          </a:xfrm>
          <a:prstGeom prst="rect">
            <a:avLst/>
          </a:prstGeom>
          <a:solidFill>
            <a:srgbClr val="FFFFFF"/>
          </a:solidFill>
          <a:ln/>
          <a:effectLst>
            <a:outerShdw blurRad="63500" dist="12700" dir="8100000" algn="bl" rotWithShape="0">
              <a:srgbClr val="000000">
                <a:alpha val="10000"/>
              </a:srgbClr>
            </a:outerShdw>
          </a:effectLst>
        </p:spPr>
        <p:txBody>
          <a:bodyPr/>
          <a:lstStyle/>
          <a:p>
            <a:endParaRPr lang="en-US"/>
          </a:p>
        </p:txBody>
      </p:sp>
      <p:sp>
        <p:nvSpPr>
          <p:cNvPr id="17" name="Shape 15"/>
          <p:cNvSpPr/>
          <p:nvPr/>
        </p:nvSpPr>
        <p:spPr>
          <a:xfrm>
            <a:off x="3246120" y="1097280"/>
            <a:ext cx="1371600" cy="201168"/>
          </a:xfrm>
          <a:prstGeom prst="rect">
            <a:avLst/>
          </a:prstGeom>
          <a:solidFill>
            <a:srgbClr val="4A90D9"/>
          </a:solidFill>
          <a:ln w="12700">
            <a:solidFill>
              <a:srgbClr val="4A90D9"/>
            </a:solidFill>
            <a:prstDash val="solid"/>
          </a:ln>
        </p:spPr>
        <p:txBody>
          <a:bodyPr/>
          <a:lstStyle/>
          <a:p>
            <a:endParaRPr lang="en-US"/>
          </a:p>
        </p:txBody>
      </p:sp>
      <p:sp>
        <p:nvSpPr>
          <p:cNvPr id="18" name="Text 16"/>
          <p:cNvSpPr/>
          <p:nvPr/>
        </p:nvSpPr>
        <p:spPr>
          <a:xfrm>
            <a:off x="3246120" y="1115568"/>
            <a:ext cx="137160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WK 5–6</a:t>
            </a:r>
            <a:endParaRPr lang="en-US" sz="850" dirty="0"/>
          </a:p>
        </p:txBody>
      </p:sp>
      <p:sp>
        <p:nvSpPr>
          <p:cNvPr id="19" name="Text 17"/>
          <p:cNvSpPr/>
          <p:nvPr/>
        </p:nvSpPr>
        <p:spPr>
          <a:xfrm>
            <a:off x="3319272" y="1335024"/>
            <a:ext cx="1225296" cy="457200"/>
          </a:xfrm>
          <a:prstGeom prst="rect">
            <a:avLst/>
          </a:prstGeom>
          <a:noFill/>
          <a:ln/>
        </p:spPr>
        <p:txBody>
          <a:bodyPr wrap="square" lIns="0" tIns="0" rIns="0" bIns="0"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Alert Testing</a:t>
            </a:r>
            <a:endParaRPr lang="en-US" sz="950" dirty="0"/>
          </a:p>
        </p:txBody>
      </p:sp>
      <p:sp>
        <p:nvSpPr>
          <p:cNvPr id="20" name="Text 18"/>
          <p:cNvSpPr/>
          <p:nvPr/>
        </p:nvSpPr>
        <p:spPr>
          <a:xfrm>
            <a:off x="3319272" y="1810512"/>
            <a:ext cx="1225296" cy="658368"/>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ATO and POA&amp;M alert test results</a:t>
            </a:r>
            <a:endParaRPr lang="en-US" sz="850" dirty="0"/>
          </a:p>
        </p:txBody>
      </p:sp>
      <p:sp>
        <p:nvSpPr>
          <p:cNvPr id="21" name="Shape 19"/>
          <p:cNvSpPr/>
          <p:nvPr/>
        </p:nvSpPr>
        <p:spPr>
          <a:xfrm>
            <a:off x="4709160" y="1097280"/>
            <a:ext cx="1371600" cy="1417320"/>
          </a:xfrm>
          <a:prstGeom prst="rect">
            <a:avLst/>
          </a:prstGeom>
          <a:solidFill>
            <a:srgbClr val="FFFFFF"/>
          </a:solidFill>
          <a:ln/>
          <a:effectLst>
            <a:outerShdw blurRad="63500" dist="12700" dir="8100000" algn="bl" rotWithShape="0">
              <a:srgbClr val="000000">
                <a:alpha val="10000"/>
              </a:srgbClr>
            </a:outerShdw>
          </a:effectLst>
        </p:spPr>
        <p:txBody>
          <a:bodyPr/>
          <a:lstStyle/>
          <a:p>
            <a:endParaRPr lang="en-US"/>
          </a:p>
        </p:txBody>
      </p:sp>
      <p:sp>
        <p:nvSpPr>
          <p:cNvPr id="22" name="Shape 20"/>
          <p:cNvSpPr/>
          <p:nvPr/>
        </p:nvSpPr>
        <p:spPr>
          <a:xfrm>
            <a:off x="4709160" y="1097280"/>
            <a:ext cx="1371600" cy="201168"/>
          </a:xfrm>
          <a:prstGeom prst="rect">
            <a:avLst/>
          </a:prstGeom>
          <a:solidFill>
            <a:srgbClr val="4A90D9"/>
          </a:solidFill>
          <a:ln w="12700">
            <a:solidFill>
              <a:srgbClr val="4A90D9"/>
            </a:solidFill>
            <a:prstDash val="solid"/>
          </a:ln>
        </p:spPr>
        <p:txBody>
          <a:bodyPr/>
          <a:lstStyle/>
          <a:p>
            <a:endParaRPr lang="en-US"/>
          </a:p>
        </p:txBody>
      </p:sp>
      <p:sp>
        <p:nvSpPr>
          <p:cNvPr id="23" name="Text 21"/>
          <p:cNvSpPr/>
          <p:nvPr/>
        </p:nvSpPr>
        <p:spPr>
          <a:xfrm>
            <a:off x="4709160" y="1115568"/>
            <a:ext cx="137160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WK 7–8</a:t>
            </a:r>
            <a:endParaRPr lang="en-US" sz="850" dirty="0"/>
          </a:p>
        </p:txBody>
      </p:sp>
      <p:sp>
        <p:nvSpPr>
          <p:cNvPr id="24" name="Text 22"/>
          <p:cNvSpPr/>
          <p:nvPr/>
        </p:nvSpPr>
        <p:spPr>
          <a:xfrm>
            <a:off x="4782312" y="1335024"/>
            <a:ext cx="1225296" cy="457200"/>
          </a:xfrm>
          <a:prstGeom prst="rect">
            <a:avLst/>
          </a:prstGeom>
          <a:noFill/>
          <a:ln/>
        </p:spPr>
        <p:txBody>
          <a:bodyPr wrap="square" lIns="0" tIns="0" rIns="0" bIns="0"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AI Draft Review</a:t>
            </a:r>
            <a:endParaRPr lang="en-US" sz="950" dirty="0"/>
          </a:p>
        </p:txBody>
      </p:sp>
      <p:sp>
        <p:nvSpPr>
          <p:cNvPr id="25" name="Text 23"/>
          <p:cNvSpPr/>
          <p:nvPr/>
        </p:nvSpPr>
        <p:spPr>
          <a:xfrm>
            <a:off x="4782312" y="1810512"/>
            <a:ext cx="1225296" cy="658368"/>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Draft quality and source-citation results</a:t>
            </a:r>
            <a:endParaRPr lang="en-US" sz="850" dirty="0"/>
          </a:p>
        </p:txBody>
      </p:sp>
      <p:sp>
        <p:nvSpPr>
          <p:cNvPr id="26" name="Shape 24"/>
          <p:cNvSpPr/>
          <p:nvPr/>
        </p:nvSpPr>
        <p:spPr>
          <a:xfrm>
            <a:off x="6172200" y="1097280"/>
            <a:ext cx="1371600" cy="1417320"/>
          </a:xfrm>
          <a:prstGeom prst="rect">
            <a:avLst/>
          </a:prstGeom>
          <a:solidFill>
            <a:srgbClr val="FFFFFF"/>
          </a:solidFill>
          <a:ln/>
          <a:effectLst>
            <a:outerShdw blurRad="63500" dist="12700" dir="8100000" algn="bl" rotWithShape="0">
              <a:srgbClr val="000000">
                <a:alpha val="10000"/>
              </a:srgbClr>
            </a:outerShdw>
          </a:effectLst>
        </p:spPr>
        <p:txBody>
          <a:bodyPr/>
          <a:lstStyle/>
          <a:p>
            <a:endParaRPr lang="en-US"/>
          </a:p>
        </p:txBody>
      </p:sp>
      <p:sp>
        <p:nvSpPr>
          <p:cNvPr id="27" name="Shape 25"/>
          <p:cNvSpPr/>
          <p:nvPr/>
        </p:nvSpPr>
        <p:spPr>
          <a:xfrm>
            <a:off x="6172200" y="1097280"/>
            <a:ext cx="1371600" cy="201168"/>
          </a:xfrm>
          <a:prstGeom prst="rect">
            <a:avLst/>
          </a:prstGeom>
          <a:solidFill>
            <a:srgbClr val="4A90D9"/>
          </a:solidFill>
          <a:ln w="12700">
            <a:solidFill>
              <a:srgbClr val="4A90D9"/>
            </a:solidFill>
            <a:prstDash val="solid"/>
          </a:ln>
        </p:spPr>
        <p:txBody>
          <a:bodyPr/>
          <a:lstStyle/>
          <a:p>
            <a:endParaRPr lang="en-US"/>
          </a:p>
        </p:txBody>
      </p:sp>
      <p:sp>
        <p:nvSpPr>
          <p:cNvPr id="28" name="Text 26"/>
          <p:cNvSpPr/>
          <p:nvPr/>
        </p:nvSpPr>
        <p:spPr>
          <a:xfrm>
            <a:off x="6172200" y="1115568"/>
            <a:ext cx="137160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WK 9–10</a:t>
            </a:r>
            <a:endParaRPr lang="en-US" sz="850" dirty="0"/>
          </a:p>
        </p:txBody>
      </p:sp>
      <p:sp>
        <p:nvSpPr>
          <p:cNvPr id="29" name="Text 27"/>
          <p:cNvSpPr/>
          <p:nvPr/>
        </p:nvSpPr>
        <p:spPr>
          <a:xfrm>
            <a:off x="6245352" y="1335024"/>
            <a:ext cx="1225296" cy="457200"/>
          </a:xfrm>
          <a:prstGeom prst="rect">
            <a:avLst/>
          </a:prstGeom>
          <a:noFill/>
          <a:ln/>
        </p:spPr>
        <p:txBody>
          <a:bodyPr wrap="square" lIns="0" tIns="0" rIns="0" bIns="0"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User Evaluation</a:t>
            </a:r>
            <a:endParaRPr lang="en-US" sz="950" dirty="0"/>
          </a:p>
        </p:txBody>
      </p:sp>
      <p:sp>
        <p:nvSpPr>
          <p:cNvPr id="30" name="Text 28"/>
          <p:cNvSpPr/>
          <p:nvPr/>
        </p:nvSpPr>
        <p:spPr>
          <a:xfrm>
            <a:off x="6245352" y="1810512"/>
            <a:ext cx="1225296" cy="658368"/>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Survey results, timing, and defect log</a:t>
            </a:r>
            <a:endParaRPr lang="en-US" sz="850" dirty="0"/>
          </a:p>
        </p:txBody>
      </p:sp>
      <p:sp>
        <p:nvSpPr>
          <p:cNvPr id="31" name="Shape 29"/>
          <p:cNvSpPr/>
          <p:nvPr/>
        </p:nvSpPr>
        <p:spPr>
          <a:xfrm>
            <a:off x="7635240" y="1097280"/>
            <a:ext cx="1371600" cy="1417320"/>
          </a:xfrm>
          <a:prstGeom prst="rect">
            <a:avLst/>
          </a:prstGeom>
          <a:solidFill>
            <a:srgbClr val="FFFFFF"/>
          </a:solidFill>
          <a:ln/>
          <a:effectLst>
            <a:outerShdw blurRad="63500" dist="12700" dir="8100000" algn="bl" rotWithShape="0">
              <a:srgbClr val="000000">
                <a:alpha val="10000"/>
              </a:srgbClr>
            </a:outerShdw>
          </a:effectLst>
        </p:spPr>
        <p:txBody>
          <a:bodyPr/>
          <a:lstStyle/>
          <a:p>
            <a:endParaRPr lang="en-US"/>
          </a:p>
        </p:txBody>
      </p:sp>
      <p:sp>
        <p:nvSpPr>
          <p:cNvPr id="32" name="Shape 30"/>
          <p:cNvSpPr/>
          <p:nvPr/>
        </p:nvSpPr>
        <p:spPr>
          <a:xfrm>
            <a:off x="7635240" y="1097280"/>
            <a:ext cx="1371600" cy="201168"/>
          </a:xfrm>
          <a:prstGeom prst="rect">
            <a:avLst/>
          </a:prstGeom>
          <a:solidFill>
            <a:srgbClr val="4A90D9"/>
          </a:solidFill>
          <a:ln w="12700">
            <a:solidFill>
              <a:srgbClr val="4A90D9"/>
            </a:solidFill>
            <a:prstDash val="solid"/>
          </a:ln>
        </p:spPr>
        <p:txBody>
          <a:bodyPr/>
          <a:lstStyle/>
          <a:p>
            <a:endParaRPr lang="en-US"/>
          </a:p>
        </p:txBody>
      </p:sp>
      <p:sp>
        <p:nvSpPr>
          <p:cNvPr id="33" name="Text 31"/>
          <p:cNvSpPr/>
          <p:nvPr/>
        </p:nvSpPr>
        <p:spPr>
          <a:xfrm>
            <a:off x="7635240" y="1115568"/>
            <a:ext cx="137160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WK 11–12</a:t>
            </a:r>
            <a:endParaRPr lang="en-US" sz="850" dirty="0"/>
          </a:p>
        </p:txBody>
      </p:sp>
      <p:sp>
        <p:nvSpPr>
          <p:cNvPr id="34" name="Text 32"/>
          <p:cNvSpPr/>
          <p:nvPr/>
        </p:nvSpPr>
        <p:spPr>
          <a:xfrm>
            <a:off x="7708392" y="1335024"/>
            <a:ext cx="1225296" cy="457200"/>
          </a:xfrm>
          <a:prstGeom prst="rect">
            <a:avLst/>
          </a:prstGeom>
          <a:noFill/>
          <a:ln/>
        </p:spPr>
        <p:txBody>
          <a:bodyPr wrap="square" lIns="0" tIns="0" rIns="0" bIns="0"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Closeout</a:t>
            </a:r>
            <a:endParaRPr lang="en-US" sz="950" dirty="0"/>
          </a:p>
        </p:txBody>
      </p:sp>
      <p:sp>
        <p:nvSpPr>
          <p:cNvPr id="35" name="Text 33"/>
          <p:cNvSpPr/>
          <p:nvPr/>
        </p:nvSpPr>
        <p:spPr>
          <a:xfrm>
            <a:off x="7708392" y="1810512"/>
            <a:ext cx="1225296" cy="658368"/>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Go/no-go recommendation and AO briefing</a:t>
            </a:r>
            <a:endParaRPr lang="en-US" sz="850" dirty="0"/>
          </a:p>
        </p:txBody>
      </p:sp>
      <p:sp>
        <p:nvSpPr>
          <p:cNvPr id="36" name="Shape 34"/>
          <p:cNvSpPr/>
          <p:nvPr/>
        </p:nvSpPr>
        <p:spPr>
          <a:xfrm>
            <a:off x="1691640" y="1755648"/>
            <a:ext cx="91440" cy="54864"/>
          </a:xfrm>
          <a:prstGeom prst="rect">
            <a:avLst/>
          </a:prstGeom>
          <a:solidFill>
            <a:srgbClr val="4A90D9"/>
          </a:solidFill>
          <a:ln w="12700">
            <a:solidFill>
              <a:srgbClr val="4A90D9"/>
            </a:solidFill>
            <a:prstDash val="solid"/>
          </a:ln>
        </p:spPr>
        <p:txBody>
          <a:bodyPr/>
          <a:lstStyle/>
          <a:p>
            <a:endParaRPr lang="en-US"/>
          </a:p>
        </p:txBody>
      </p:sp>
      <p:sp>
        <p:nvSpPr>
          <p:cNvPr id="37" name="Shape 35"/>
          <p:cNvSpPr/>
          <p:nvPr/>
        </p:nvSpPr>
        <p:spPr>
          <a:xfrm>
            <a:off x="3154680" y="1755648"/>
            <a:ext cx="91440" cy="54864"/>
          </a:xfrm>
          <a:prstGeom prst="rect">
            <a:avLst/>
          </a:prstGeom>
          <a:solidFill>
            <a:srgbClr val="4A90D9"/>
          </a:solidFill>
          <a:ln w="12700">
            <a:solidFill>
              <a:srgbClr val="4A90D9"/>
            </a:solidFill>
            <a:prstDash val="solid"/>
          </a:ln>
        </p:spPr>
        <p:txBody>
          <a:bodyPr/>
          <a:lstStyle/>
          <a:p>
            <a:endParaRPr lang="en-US"/>
          </a:p>
        </p:txBody>
      </p:sp>
      <p:sp>
        <p:nvSpPr>
          <p:cNvPr id="38" name="Shape 36"/>
          <p:cNvSpPr/>
          <p:nvPr/>
        </p:nvSpPr>
        <p:spPr>
          <a:xfrm>
            <a:off x="4617720" y="1755648"/>
            <a:ext cx="91440" cy="54864"/>
          </a:xfrm>
          <a:prstGeom prst="rect">
            <a:avLst/>
          </a:prstGeom>
          <a:solidFill>
            <a:srgbClr val="4A90D9"/>
          </a:solidFill>
          <a:ln w="12700">
            <a:solidFill>
              <a:srgbClr val="4A90D9"/>
            </a:solidFill>
            <a:prstDash val="solid"/>
          </a:ln>
        </p:spPr>
        <p:txBody>
          <a:bodyPr/>
          <a:lstStyle/>
          <a:p>
            <a:endParaRPr lang="en-US"/>
          </a:p>
        </p:txBody>
      </p:sp>
      <p:sp>
        <p:nvSpPr>
          <p:cNvPr id="39" name="Shape 37"/>
          <p:cNvSpPr/>
          <p:nvPr/>
        </p:nvSpPr>
        <p:spPr>
          <a:xfrm>
            <a:off x="6080760" y="1755648"/>
            <a:ext cx="91440" cy="54864"/>
          </a:xfrm>
          <a:prstGeom prst="rect">
            <a:avLst/>
          </a:prstGeom>
          <a:solidFill>
            <a:srgbClr val="4A90D9"/>
          </a:solidFill>
          <a:ln w="12700">
            <a:solidFill>
              <a:srgbClr val="4A90D9"/>
            </a:solidFill>
            <a:prstDash val="solid"/>
          </a:ln>
        </p:spPr>
        <p:txBody>
          <a:bodyPr/>
          <a:lstStyle/>
          <a:p>
            <a:endParaRPr lang="en-US"/>
          </a:p>
        </p:txBody>
      </p:sp>
      <p:sp>
        <p:nvSpPr>
          <p:cNvPr id="40" name="Shape 38"/>
          <p:cNvSpPr/>
          <p:nvPr/>
        </p:nvSpPr>
        <p:spPr>
          <a:xfrm>
            <a:off x="7543800" y="1755648"/>
            <a:ext cx="91440" cy="54864"/>
          </a:xfrm>
          <a:prstGeom prst="rect">
            <a:avLst/>
          </a:prstGeom>
          <a:solidFill>
            <a:srgbClr val="4A90D9"/>
          </a:solidFill>
          <a:ln w="12700">
            <a:solidFill>
              <a:srgbClr val="4A90D9"/>
            </a:solidFill>
            <a:prstDash val="solid"/>
          </a:ln>
        </p:spPr>
        <p:txBody>
          <a:bodyPr/>
          <a:lstStyle/>
          <a:p>
            <a:endParaRPr lang="en-US"/>
          </a:p>
        </p:txBody>
      </p:sp>
      <p:sp>
        <p:nvSpPr>
          <p:cNvPr id="41" name="Shape 39"/>
          <p:cNvSpPr/>
          <p:nvPr/>
        </p:nvSpPr>
        <p:spPr>
          <a:xfrm>
            <a:off x="320040" y="2743200"/>
            <a:ext cx="8503920" cy="292608"/>
          </a:xfrm>
          <a:prstGeom prst="rect">
            <a:avLst/>
          </a:prstGeom>
          <a:solidFill>
            <a:srgbClr val="0F1A3D"/>
          </a:solidFill>
          <a:ln w="12700">
            <a:solidFill>
              <a:srgbClr val="0F1A3D"/>
            </a:solidFill>
            <a:prstDash val="solid"/>
          </a:ln>
        </p:spPr>
        <p:txBody>
          <a:bodyPr/>
          <a:lstStyle/>
          <a:p>
            <a:endParaRPr lang="en-US"/>
          </a:p>
        </p:txBody>
      </p:sp>
      <p:sp>
        <p:nvSpPr>
          <p:cNvPr id="42" name="Text 40"/>
          <p:cNvSpPr/>
          <p:nvPr/>
        </p:nvSpPr>
        <p:spPr>
          <a:xfrm>
            <a:off x="320040" y="2761488"/>
            <a:ext cx="8503920" cy="256032"/>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GOVERNANCE  ·  Pilot lead manages scope and weekly status  ·  AO receives 30-day touchpoint briefings  ·  Pilot may be paused by AO at any time</a:t>
            </a:r>
            <a:endParaRPr lang="en-US" sz="900" dirty="0"/>
          </a:p>
        </p:txBody>
      </p:sp>
      <p:sp>
        <p:nvSpPr>
          <p:cNvPr id="43" name="Text 41"/>
          <p:cNvSpPr/>
          <p:nvPr/>
        </p:nvSpPr>
        <p:spPr>
          <a:xfrm>
            <a:off x="320040" y="3127248"/>
            <a:ext cx="8503920" cy="256032"/>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Success Metrics</a:t>
            </a:r>
            <a:endParaRPr lang="en-US" sz="1300" dirty="0"/>
          </a:p>
        </p:txBody>
      </p:sp>
      <p:sp>
        <p:nvSpPr>
          <p:cNvPr id="44" name="Shape 42"/>
          <p:cNvSpPr/>
          <p:nvPr/>
        </p:nvSpPr>
        <p:spPr>
          <a:xfrm>
            <a:off x="320040" y="3456432"/>
            <a:ext cx="1600200" cy="1481328"/>
          </a:xfrm>
          <a:prstGeom prst="rect">
            <a:avLst/>
          </a:prstGeom>
          <a:solidFill>
            <a:srgbClr val="1E2761"/>
          </a:solidFill>
          <a:ln/>
          <a:effectLst>
            <a:outerShdw blurRad="63500" dist="12700" dir="8100000" algn="bl" rotWithShape="0">
              <a:srgbClr val="000000">
                <a:alpha val="12000"/>
              </a:srgbClr>
            </a:outerShdw>
          </a:effectLst>
        </p:spPr>
        <p:txBody>
          <a:bodyPr/>
          <a:lstStyle/>
          <a:p>
            <a:endParaRPr lang="en-US"/>
          </a:p>
        </p:txBody>
      </p:sp>
      <p:sp>
        <p:nvSpPr>
          <p:cNvPr id="45" name="Text 43"/>
          <p:cNvSpPr/>
          <p:nvPr/>
        </p:nvSpPr>
        <p:spPr>
          <a:xfrm>
            <a:off x="320040" y="3566160"/>
            <a:ext cx="1600200" cy="475488"/>
          </a:xfrm>
          <a:prstGeom prst="rect">
            <a:avLst/>
          </a:prstGeom>
          <a:noFill/>
          <a:ln/>
        </p:spPr>
        <p:txBody>
          <a:bodyPr wrap="square" lIns="0" tIns="0" rIns="0" bIns="0" rtlCol="0" anchor="ctr"/>
          <a:lstStyle/>
          <a:p>
            <a:pPr marL="0" indent="0" algn="ctr">
              <a:buNone/>
            </a:pPr>
            <a:r>
              <a:rPr lang="en-US" sz="2200" b="1" dirty="0">
                <a:solidFill>
                  <a:srgbClr val="CADCFC"/>
                </a:solidFill>
                <a:latin typeface="Calibri" pitchFamily="34" charset="0"/>
                <a:ea typeface="Calibri" pitchFamily="34" charset="-122"/>
                <a:cs typeface="Calibri" pitchFamily="34" charset="-120"/>
              </a:rPr>
              <a:t>&lt; 5 min</a:t>
            </a:r>
            <a:endParaRPr lang="en-US" sz="2200" dirty="0"/>
          </a:p>
        </p:txBody>
      </p:sp>
      <p:sp>
        <p:nvSpPr>
          <p:cNvPr id="46" name="Text 44"/>
          <p:cNvSpPr/>
          <p:nvPr/>
        </p:nvSpPr>
        <p:spPr>
          <a:xfrm>
            <a:off x="320040" y="4078224"/>
            <a:ext cx="1600200" cy="749808"/>
          </a:xfrm>
          <a:prstGeom prst="rect">
            <a:avLst/>
          </a:prstGeom>
          <a:noFill/>
          <a:ln/>
        </p:spPr>
        <p:txBody>
          <a:bodyPr wrap="square" lIns="0" tIns="0" rIns="0" bIns="0" rtlCol="0" anchor="ctr"/>
          <a:lstStyle/>
          <a:p>
            <a:pPr marL="0" indent="0" algn="ctr">
              <a:buNone/>
            </a:pPr>
            <a:r>
              <a:rPr lang="en-US" sz="900" dirty="0">
                <a:solidFill>
                  <a:srgbClr val="8A9FCC"/>
                </a:solidFill>
                <a:latin typeface="Calibri" pitchFamily="34" charset="0"/>
                <a:ea typeface="Calibri" pitchFamily="34" charset="-122"/>
                <a:cs typeface="Calibri" pitchFamily="34" charset="-120"/>
              </a:rPr>
              <a:t>Full portfolio status check</a:t>
            </a:r>
            <a:endParaRPr lang="en-US" sz="900" dirty="0"/>
          </a:p>
        </p:txBody>
      </p:sp>
      <p:sp>
        <p:nvSpPr>
          <p:cNvPr id="47" name="Shape 45"/>
          <p:cNvSpPr/>
          <p:nvPr/>
        </p:nvSpPr>
        <p:spPr>
          <a:xfrm>
            <a:off x="2039112" y="3456432"/>
            <a:ext cx="1600200" cy="1481328"/>
          </a:xfrm>
          <a:prstGeom prst="rect">
            <a:avLst/>
          </a:prstGeom>
          <a:solidFill>
            <a:srgbClr val="1E2761"/>
          </a:solidFill>
          <a:ln/>
          <a:effectLst>
            <a:outerShdw blurRad="63500" dist="12700" dir="8100000" algn="bl" rotWithShape="0">
              <a:srgbClr val="000000">
                <a:alpha val="12000"/>
              </a:srgbClr>
            </a:outerShdw>
          </a:effectLst>
        </p:spPr>
        <p:txBody>
          <a:bodyPr/>
          <a:lstStyle/>
          <a:p>
            <a:endParaRPr lang="en-US"/>
          </a:p>
        </p:txBody>
      </p:sp>
      <p:sp>
        <p:nvSpPr>
          <p:cNvPr id="48" name="Text 46"/>
          <p:cNvSpPr/>
          <p:nvPr/>
        </p:nvSpPr>
        <p:spPr>
          <a:xfrm>
            <a:off x="2039112" y="3566160"/>
            <a:ext cx="1600200" cy="475488"/>
          </a:xfrm>
          <a:prstGeom prst="rect">
            <a:avLst/>
          </a:prstGeom>
          <a:noFill/>
          <a:ln/>
        </p:spPr>
        <p:txBody>
          <a:bodyPr wrap="square" lIns="0" tIns="0" rIns="0" bIns="0" rtlCol="0" anchor="ctr"/>
          <a:lstStyle/>
          <a:p>
            <a:pPr marL="0" indent="0" algn="ctr">
              <a:buNone/>
            </a:pPr>
            <a:r>
              <a:rPr lang="en-US" sz="2200" b="1" dirty="0">
                <a:solidFill>
                  <a:srgbClr val="CADCFC"/>
                </a:solidFill>
                <a:latin typeface="Calibri" pitchFamily="34" charset="0"/>
                <a:ea typeface="Calibri" pitchFamily="34" charset="-122"/>
                <a:cs typeface="Calibri" pitchFamily="34" charset="-120"/>
              </a:rPr>
              <a:t>100%</a:t>
            </a:r>
            <a:endParaRPr lang="en-US" sz="2200" dirty="0"/>
          </a:p>
        </p:txBody>
      </p:sp>
      <p:sp>
        <p:nvSpPr>
          <p:cNvPr id="49" name="Text 47"/>
          <p:cNvSpPr/>
          <p:nvPr/>
        </p:nvSpPr>
        <p:spPr>
          <a:xfrm>
            <a:off x="2039112" y="4078224"/>
            <a:ext cx="1600200" cy="749808"/>
          </a:xfrm>
          <a:prstGeom prst="rect">
            <a:avLst/>
          </a:prstGeom>
          <a:noFill/>
          <a:ln/>
        </p:spPr>
        <p:txBody>
          <a:bodyPr wrap="square" lIns="0" tIns="0" rIns="0" bIns="0" rtlCol="0" anchor="ctr"/>
          <a:lstStyle/>
          <a:p>
            <a:pPr marL="0" indent="0" algn="ctr">
              <a:buNone/>
            </a:pPr>
            <a:r>
              <a:rPr lang="en-US" sz="900" dirty="0">
                <a:solidFill>
                  <a:srgbClr val="8A9FCC"/>
                </a:solidFill>
                <a:latin typeface="Calibri" pitchFamily="34" charset="0"/>
                <a:ea typeface="Calibri" pitchFamily="34" charset="-122"/>
                <a:cs typeface="Calibri" pitchFamily="34" charset="-120"/>
              </a:rPr>
              <a:t>ATO alerts fire on schedule</a:t>
            </a:r>
            <a:endParaRPr lang="en-US" sz="900" dirty="0"/>
          </a:p>
        </p:txBody>
      </p:sp>
      <p:sp>
        <p:nvSpPr>
          <p:cNvPr id="50" name="Shape 48"/>
          <p:cNvSpPr/>
          <p:nvPr/>
        </p:nvSpPr>
        <p:spPr>
          <a:xfrm>
            <a:off x="3758184" y="3456432"/>
            <a:ext cx="1600200" cy="1481328"/>
          </a:xfrm>
          <a:prstGeom prst="rect">
            <a:avLst/>
          </a:prstGeom>
          <a:solidFill>
            <a:srgbClr val="1E2761"/>
          </a:solidFill>
          <a:ln/>
          <a:effectLst>
            <a:outerShdw blurRad="63500" dist="12700" dir="8100000" algn="bl" rotWithShape="0">
              <a:srgbClr val="000000">
                <a:alpha val="12000"/>
              </a:srgbClr>
            </a:outerShdw>
          </a:effectLst>
        </p:spPr>
        <p:txBody>
          <a:bodyPr/>
          <a:lstStyle/>
          <a:p>
            <a:endParaRPr lang="en-US"/>
          </a:p>
        </p:txBody>
      </p:sp>
      <p:sp>
        <p:nvSpPr>
          <p:cNvPr id="51" name="Text 49"/>
          <p:cNvSpPr/>
          <p:nvPr/>
        </p:nvSpPr>
        <p:spPr>
          <a:xfrm>
            <a:off x="3758184" y="3566160"/>
            <a:ext cx="1600200" cy="475488"/>
          </a:xfrm>
          <a:prstGeom prst="rect">
            <a:avLst/>
          </a:prstGeom>
          <a:noFill/>
          <a:ln/>
        </p:spPr>
        <p:txBody>
          <a:bodyPr wrap="square" lIns="0" tIns="0" rIns="0" bIns="0" rtlCol="0" anchor="ctr"/>
          <a:lstStyle/>
          <a:p>
            <a:pPr marL="0" indent="0" algn="ctr">
              <a:buNone/>
            </a:pPr>
            <a:r>
              <a:rPr lang="en-US" sz="2200" b="1" dirty="0">
                <a:solidFill>
                  <a:srgbClr val="CADCFC"/>
                </a:solidFill>
                <a:latin typeface="Calibri" pitchFamily="34" charset="0"/>
                <a:ea typeface="Calibri" pitchFamily="34" charset="-122"/>
                <a:cs typeface="Calibri" pitchFamily="34" charset="-120"/>
              </a:rPr>
              <a:t>70%+</a:t>
            </a:r>
            <a:endParaRPr lang="en-US" sz="2200" dirty="0"/>
          </a:p>
        </p:txBody>
      </p:sp>
      <p:sp>
        <p:nvSpPr>
          <p:cNvPr id="52" name="Text 50"/>
          <p:cNvSpPr/>
          <p:nvPr/>
        </p:nvSpPr>
        <p:spPr>
          <a:xfrm>
            <a:off x="3758184" y="4078224"/>
            <a:ext cx="1600200" cy="749808"/>
          </a:xfrm>
          <a:prstGeom prst="rect">
            <a:avLst/>
          </a:prstGeom>
          <a:noFill/>
          <a:ln/>
        </p:spPr>
        <p:txBody>
          <a:bodyPr wrap="square" lIns="0" tIns="0" rIns="0" bIns="0" rtlCol="0" anchor="ctr"/>
          <a:lstStyle/>
          <a:p>
            <a:pPr marL="0" indent="0" algn="ctr">
              <a:buNone/>
            </a:pPr>
            <a:r>
              <a:rPr lang="en-US" sz="900" dirty="0">
                <a:solidFill>
                  <a:srgbClr val="8A9FCC"/>
                </a:solidFill>
                <a:latin typeface="Calibri" pitchFamily="34" charset="0"/>
                <a:ea typeface="Calibri" pitchFamily="34" charset="-122"/>
                <a:cs typeface="Calibri" pitchFamily="34" charset="-120"/>
              </a:rPr>
              <a:t>AI drafts accepted minor/no revision</a:t>
            </a:r>
            <a:endParaRPr lang="en-US" sz="900" dirty="0"/>
          </a:p>
        </p:txBody>
      </p:sp>
      <p:sp>
        <p:nvSpPr>
          <p:cNvPr id="53" name="Shape 51"/>
          <p:cNvSpPr/>
          <p:nvPr/>
        </p:nvSpPr>
        <p:spPr>
          <a:xfrm>
            <a:off x="5477256" y="3456432"/>
            <a:ext cx="1600200" cy="1481328"/>
          </a:xfrm>
          <a:prstGeom prst="rect">
            <a:avLst/>
          </a:prstGeom>
          <a:solidFill>
            <a:srgbClr val="1E2761"/>
          </a:solidFill>
          <a:ln/>
          <a:effectLst>
            <a:outerShdw blurRad="63500" dist="12700" dir="8100000" algn="bl" rotWithShape="0">
              <a:srgbClr val="000000">
                <a:alpha val="12000"/>
              </a:srgbClr>
            </a:outerShdw>
          </a:effectLst>
        </p:spPr>
        <p:txBody>
          <a:bodyPr/>
          <a:lstStyle/>
          <a:p>
            <a:endParaRPr lang="en-US"/>
          </a:p>
        </p:txBody>
      </p:sp>
      <p:sp>
        <p:nvSpPr>
          <p:cNvPr id="54" name="Text 52"/>
          <p:cNvSpPr/>
          <p:nvPr/>
        </p:nvSpPr>
        <p:spPr>
          <a:xfrm>
            <a:off x="5477256" y="3566160"/>
            <a:ext cx="1600200" cy="475488"/>
          </a:xfrm>
          <a:prstGeom prst="rect">
            <a:avLst/>
          </a:prstGeom>
          <a:noFill/>
          <a:ln/>
        </p:spPr>
        <p:txBody>
          <a:bodyPr wrap="square" lIns="0" tIns="0" rIns="0" bIns="0" rtlCol="0" anchor="ctr"/>
          <a:lstStyle/>
          <a:p>
            <a:pPr marL="0" indent="0" algn="ctr">
              <a:buNone/>
            </a:pPr>
            <a:r>
              <a:rPr lang="en-US" sz="2200" b="1" dirty="0">
                <a:solidFill>
                  <a:srgbClr val="CADCFC"/>
                </a:solidFill>
                <a:latin typeface="Calibri" pitchFamily="34" charset="0"/>
                <a:ea typeface="Calibri" pitchFamily="34" charset="-122"/>
                <a:cs typeface="Calibri" pitchFamily="34" charset="-120"/>
              </a:rPr>
              <a:t>80%+</a:t>
            </a:r>
            <a:endParaRPr lang="en-US" sz="2200" dirty="0"/>
          </a:p>
        </p:txBody>
      </p:sp>
      <p:sp>
        <p:nvSpPr>
          <p:cNvPr id="55" name="Text 53"/>
          <p:cNvSpPr/>
          <p:nvPr/>
        </p:nvSpPr>
        <p:spPr>
          <a:xfrm>
            <a:off x="5477256" y="4078224"/>
            <a:ext cx="1600200" cy="749808"/>
          </a:xfrm>
          <a:prstGeom prst="rect">
            <a:avLst/>
          </a:prstGeom>
          <a:noFill/>
          <a:ln/>
        </p:spPr>
        <p:txBody>
          <a:bodyPr wrap="square" lIns="0" tIns="0" rIns="0" bIns="0" rtlCol="0" anchor="ctr"/>
          <a:lstStyle/>
          <a:p>
            <a:pPr marL="0" indent="0" algn="ctr">
              <a:buNone/>
            </a:pPr>
            <a:r>
              <a:rPr lang="en-US" sz="900" dirty="0">
                <a:solidFill>
                  <a:srgbClr val="8A9FCC"/>
                </a:solidFill>
                <a:latin typeface="Calibri" pitchFamily="34" charset="0"/>
                <a:ea typeface="Calibri" pitchFamily="34" charset="-122"/>
                <a:cs typeface="Calibri" pitchFamily="34" charset="-120"/>
              </a:rPr>
              <a:t>Users report improved visibility</a:t>
            </a:r>
            <a:endParaRPr lang="en-US" sz="900" dirty="0"/>
          </a:p>
        </p:txBody>
      </p:sp>
      <p:sp>
        <p:nvSpPr>
          <p:cNvPr id="56" name="Shape 54"/>
          <p:cNvSpPr/>
          <p:nvPr/>
        </p:nvSpPr>
        <p:spPr>
          <a:xfrm>
            <a:off x="7196328" y="3456432"/>
            <a:ext cx="1600200" cy="1481328"/>
          </a:xfrm>
          <a:prstGeom prst="rect">
            <a:avLst/>
          </a:prstGeom>
          <a:solidFill>
            <a:srgbClr val="1E2761"/>
          </a:solidFill>
          <a:ln/>
          <a:effectLst>
            <a:outerShdw blurRad="63500" dist="12700" dir="8100000" algn="bl" rotWithShape="0">
              <a:srgbClr val="000000">
                <a:alpha val="12000"/>
              </a:srgbClr>
            </a:outerShdw>
          </a:effectLst>
        </p:spPr>
        <p:txBody>
          <a:bodyPr/>
          <a:lstStyle/>
          <a:p>
            <a:endParaRPr lang="en-US"/>
          </a:p>
        </p:txBody>
      </p:sp>
      <p:sp>
        <p:nvSpPr>
          <p:cNvPr id="57" name="Text 55"/>
          <p:cNvSpPr/>
          <p:nvPr/>
        </p:nvSpPr>
        <p:spPr>
          <a:xfrm>
            <a:off x="7196328" y="3566160"/>
            <a:ext cx="1600200" cy="475488"/>
          </a:xfrm>
          <a:prstGeom prst="rect">
            <a:avLst/>
          </a:prstGeom>
          <a:noFill/>
          <a:ln/>
        </p:spPr>
        <p:txBody>
          <a:bodyPr wrap="square" lIns="0" tIns="0" rIns="0" bIns="0" rtlCol="0" anchor="ctr"/>
          <a:lstStyle/>
          <a:p>
            <a:pPr marL="0" indent="0" algn="ctr">
              <a:buNone/>
            </a:pPr>
            <a:r>
              <a:rPr lang="en-US" sz="2200" b="1" dirty="0">
                <a:solidFill>
                  <a:srgbClr val="CADCFC"/>
                </a:solidFill>
                <a:latin typeface="Calibri" pitchFamily="34" charset="0"/>
                <a:ea typeface="Calibri" pitchFamily="34" charset="-122"/>
                <a:cs typeface="Calibri" pitchFamily="34" charset="-120"/>
              </a:rPr>
              <a:t>Zero</a:t>
            </a:r>
            <a:endParaRPr lang="en-US" sz="2200" dirty="0"/>
          </a:p>
        </p:txBody>
      </p:sp>
      <p:sp>
        <p:nvSpPr>
          <p:cNvPr id="58" name="Text 56"/>
          <p:cNvSpPr/>
          <p:nvPr/>
        </p:nvSpPr>
        <p:spPr>
          <a:xfrm>
            <a:off x="7196328" y="4078224"/>
            <a:ext cx="1600200" cy="749808"/>
          </a:xfrm>
          <a:prstGeom prst="rect">
            <a:avLst/>
          </a:prstGeom>
          <a:noFill/>
          <a:ln/>
        </p:spPr>
        <p:txBody>
          <a:bodyPr wrap="square" lIns="0" tIns="0" rIns="0" bIns="0" rtlCol="0" anchor="ctr"/>
          <a:lstStyle/>
          <a:p>
            <a:pPr marL="0" indent="0" algn="ctr">
              <a:buNone/>
            </a:pPr>
            <a:r>
              <a:rPr lang="en-US" sz="900" dirty="0">
                <a:solidFill>
                  <a:srgbClr val="8A9FCC"/>
                </a:solidFill>
                <a:latin typeface="Calibri" pitchFamily="34" charset="0"/>
                <a:ea typeface="Calibri" pitchFamily="34" charset="-122"/>
                <a:cs typeface="Calibri" pitchFamily="34" charset="-120"/>
              </a:rPr>
              <a:t>Security boundary violations</a:t>
            </a:r>
            <a:endParaRPr lang="en-US" sz="900" dirty="0"/>
          </a:p>
        </p:txBody>
      </p:sp>
      <p:sp>
        <p:nvSpPr>
          <p:cNvPr id="60" name="Text 57"/>
          <p:cNvSpPr/>
          <p:nvPr/>
        </p:nvSpPr>
        <p:spPr>
          <a:xfrm>
            <a:off x="0" y="4956048"/>
            <a:ext cx="9144000" cy="182880"/>
          </a:xfrm>
          <a:prstGeom prst="rect">
            <a:avLst/>
          </a:prstGeom>
          <a:noFill/>
          <a:ln/>
        </p:spPr>
        <p:txBody>
          <a:bodyPr wrap="square" lIns="0" tIns="0" rIns="0" bIns="0" rtlCol="0" anchor="ctr"/>
          <a:lstStyle/>
          <a:p>
            <a:pPr marL="0" indent="0" algn="ctr">
              <a:buNone/>
            </a:pPr>
            <a:r>
              <a:rPr lang="en-US" sz="800" b="1" dirty="0">
                <a:solidFill>
                  <a:srgbClr val="8A9FCC"/>
                </a:solidFill>
                <a:latin typeface="Calibri" pitchFamily="34" charset="0"/>
                <a:ea typeface="Calibri" pitchFamily="34" charset="-122"/>
                <a:cs typeface="Calibri" pitchFamily="34" charset="-120"/>
              </a:rPr>
              <a:t>UNCLASSIFIED // FOR OFFICIAL USE ONLY</a:t>
            </a:r>
            <a:endParaRPr lang="en-US" sz="800" dirty="0"/>
          </a:p>
        </p:txBody>
      </p:sp>
      <p:sp>
        <p:nvSpPr>
          <p:cNvPr id="61" name="Text 58"/>
          <p:cNvSpPr/>
          <p:nvPr/>
        </p:nvSpPr>
        <p:spPr>
          <a:xfrm>
            <a:off x="8046720" y="4956048"/>
            <a:ext cx="1097280" cy="182880"/>
          </a:xfrm>
          <a:prstGeom prst="rect">
            <a:avLst/>
          </a:prstGeom>
          <a:noFill/>
          <a:ln/>
        </p:spPr>
        <p:txBody>
          <a:bodyPr wrap="square" lIns="0" tIns="0" rIns="0" bIns="0" rtlCol="0" anchor="ctr"/>
          <a:lstStyle/>
          <a:p>
            <a:pPr marL="0" indent="0" algn="r">
              <a:buNone/>
            </a:pPr>
            <a:r>
              <a:rPr lang="en-US" sz="800" dirty="0">
                <a:solidFill>
                  <a:srgbClr val="8A9FCC"/>
                </a:solidFill>
                <a:latin typeface="Calibri" pitchFamily="34" charset="0"/>
                <a:ea typeface="Calibri" pitchFamily="34" charset="-122"/>
                <a:cs typeface="Calibri" pitchFamily="34" charset="-120"/>
              </a:rPr>
              <a:t>8 / 12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4A90D9"/>
          </a:solidFill>
          <a:ln w="12700">
            <a:solidFill>
              <a:srgbClr val="4A90D9"/>
            </a:solidFill>
            <a:prstDash val="solid"/>
          </a:ln>
        </p:spPr>
        <p:txBody>
          <a:bodyPr/>
          <a:lstStyle/>
          <a:p>
            <a:endParaRPr lang="en-US"/>
          </a:p>
        </p:txBody>
      </p:sp>
      <p:sp>
        <p:nvSpPr>
          <p:cNvPr id="3" name="Text 1"/>
          <p:cNvSpPr/>
          <p:nvPr/>
        </p:nvSpPr>
        <p:spPr>
          <a:xfrm>
            <a:off x="320040" y="164592"/>
            <a:ext cx="7315200" cy="201168"/>
          </a:xfrm>
          <a:prstGeom prst="rect">
            <a:avLst/>
          </a:prstGeom>
          <a:noFill/>
          <a:ln/>
        </p:spPr>
        <p:txBody>
          <a:bodyPr wrap="square" lIns="0" tIns="0" rIns="0" bIns="0" rtlCol="0" anchor="ctr"/>
          <a:lstStyle/>
          <a:p>
            <a:pPr marL="0" indent="0">
              <a:buNone/>
            </a:pPr>
            <a:r>
              <a:rPr lang="en-US" sz="850" b="1" kern="0" spc="300" dirty="0">
                <a:solidFill>
                  <a:srgbClr val="4A90D9"/>
                </a:solidFill>
                <a:latin typeface="Calibri" pitchFamily="34" charset="0"/>
                <a:ea typeface="Calibri" pitchFamily="34" charset="-122"/>
                <a:cs typeface="Calibri" pitchFamily="34" charset="-120"/>
              </a:rPr>
              <a:t>06  RISK AND CONTROLS</a:t>
            </a:r>
            <a:endParaRPr lang="en-US" sz="850" dirty="0"/>
          </a:p>
        </p:txBody>
      </p:sp>
      <p:sp>
        <p:nvSpPr>
          <p:cNvPr id="4" name="Text 2"/>
          <p:cNvSpPr/>
          <p:nvPr/>
        </p:nvSpPr>
        <p:spPr>
          <a:xfrm>
            <a:off x="320040" y="411480"/>
            <a:ext cx="8503920" cy="50292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Risk Register and Mitigations</a:t>
            </a:r>
            <a:endParaRPr lang="en-US" sz="2600" dirty="0"/>
          </a:p>
        </p:txBody>
      </p:sp>
      <p:sp>
        <p:nvSpPr>
          <p:cNvPr id="5" name="Shape 3"/>
          <p:cNvSpPr/>
          <p:nvPr/>
        </p:nvSpPr>
        <p:spPr>
          <a:xfrm>
            <a:off x="320040" y="960120"/>
            <a:ext cx="8503920" cy="18288"/>
          </a:xfrm>
          <a:prstGeom prst="rect">
            <a:avLst/>
          </a:prstGeom>
          <a:solidFill>
            <a:srgbClr val="CADCFC"/>
          </a:solidFill>
          <a:ln w="12700">
            <a:solidFill>
              <a:srgbClr val="CADCFC"/>
            </a:solidFill>
            <a:prstDash val="solid"/>
          </a:ln>
        </p:spPr>
        <p:txBody>
          <a:bodyPr/>
          <a:lstStyle/>
          <a:p>
            <a:endParaRPr lang="en-US"/>
          </a:p>
        </p:txBody>
      </p:sp>
      <p:sp>
        <p:nvSpPr>
          <p:cNvPr id="6" name="Shape 4"/>
          <p:cNvSpPr/>
          <p:nvPr/>
        </p:nvSpPr>
        <p:spPr>
          <a:xfrm>
            <a:off x="320040" y="1024128"/>
            <a:ext cx="8503920" cy="292608"/>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365760" y="1042416"/>
            <a:ext cx="3200400"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Risk</a:t>
            </a:r>
            <a:endParaRPr lang="en-US" sz="950" dirty="0"/>
          </a:p>
        </p:txBody>
      </p:sp>
      <p:sp>
        <p:nvSpPr>
          <p:cNvPr id="8" name="Text 6"/>
          <p:cNvSpPr/>
          <p:nvPr/>
        </p:nvSpPr>
        <p:spPr>
          <a:xfrm>
            <a:off x="3611880" y="1042416"/>
            <a:ext cx="73152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Impact</a:t>
            </a:r>
            <a:endParaRPr lang="en-US" sz="950" dirty="0"/>
          </a:p>
        </p:txBody>
      </p:sp>
      <p:sp>
        <p:nvSpPr>
          <p:cNvPr id="9" name="Text 7"/>
          <p:cNvSpPr/>
          <p:nvPr/>
        </p:nvSpPr>
        <p:spPr>
          <a:xfrm>
            <a:off x="4389120" y="1042416"/>
            <a:ext cx="4389120"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Mitigation</a:t>
            </a:r>
            <a:endParaRPr lang="en-US" sz="950" dirty="0"/>
          </a:p>
        </p:txBody>
      </p:sp>
      <p:sp>
        <p:nvSpPr>
          <p:cNvPr id="10" name="Shape 8"/>
          <p:cNvSpPr/>
          <p:nvPr/>
        </p:nvSpPr>
        <p:spPr>
          <a:xfrm>
            <a:off x="320040" y="1335024"/>
            <a:ext cx="8503920" cy="347472"/>
          </a:xfrm>
          <a:prstGeom prst="rect">
            <a:avLst/>
          </a:prstGeom>
          <a:solidFill>
            <a:srgbClr val="EEF3FC"/>
          </a:solidFill>
          <a:ln w="12700">
            <a:solidFill>
              <a:srgbClr val="D0D8EE"/>
            </a:solidFill>
            <a:prstDash val="solid"/>
          </a:ln>
        </p:spPr>
        <p:txBody>
          <a:bodyPr/>
          <a:lstStyle/>
          <a:p>
            <a:endParaRPr lang="en-US"/>
          </a:p>
        </p:txBody>
      </p:sp>
      <p:sp>
        <p:nvSpPr>
          <p:cNvPr id="11" name="Text 9"/>
          <p:cNvSpPr/>
          <p:nvPr/>
        </p:nvSpPr>
        <p:spPr>
          <a:xfrm>
            <a:off x="365760" y="1371600"/>
            <a:ext cx="3200400" cy="274320"/>
          </a:xfrm>
          <a:prstGeom prst="rect">
            <a:avLst/>
          </a:prstGeom>
          <a:noFill/>
          <a:ln/>
        </p:spPr>
        <p:txBody>
          <a:bodyPr wrap="square" lIns="0" tIns="0" rIns="0" bIns="0" rtlCol="0" anchor="ctr"/>
          <a:lstStyle/>
          <a:p>
            <a:pPr marL="0" indent="0">
              <a:buNone/>
            </a:pPr>
            <a:r>
              <a:rPr lang="en-US" sz="900" dirty="0">
                <a:solidFill>
                  <a:srgbClr val="1A1F36"/>
                </a:solidFill>
                <a:latin typeface="Calibri" pitchFamily="34" charset="0"/>
                <a:ea typeface="Calibri" pitchFamily="34" charset="-122"/>
                <a:cs typeface="Calibri" pitchFamily="34" charset="-120"/>
              </a:rPr>
              <a:t>AI output treated as official approval</a:t>
            </a:r>
            <a:endParaRPr lang="en-US" sz="900" dirty="0"/>
          </a:p>
        </p:txBody>
      </p:sp>
      <p:sp>
        <p:nvSpPr>
          <p:cNvPr id="12" name="Text 10"/>
          <p:cNvSpPr/>
          <p:nvPr/>
        </p:nvSpPr>
        <p:spPr>
          <a:xfrm>
            <a:off x="3611880" y="1371600"/>
            <a:ext cx="731520" cy="274320"/>
          </a:xfrm>
          <a:prstGeom prst="rect">
            <a:avLst/>
          </a:prstGeom>
          <a:noFill/>
          <a:ln/>
        </p:spPr>
        <p:txBody>
          <a:bodyPr wrap="square" lIns="0" tIns="0" rIns="0" bIns="0" rtlCol="0" anchor="ctr"/>
          <a:lstStyle/>
          <a:p>
            <a:pPr marL="0" indent="0" algn="ctr">
              <a:buNone/>
            </a:pPr>
            <a:r>
              <a:rPr lang="en-US" sz="900" b="1" dirty="0">
                <a:solidFill>
                  <a:srgbClr val="C0392B"/>
                </a:solidFill>
                <a:latin typeface="Calibri" pitchFamily="34" charset="0"/>
                <a:ea typeface="Calibri" pitchFamily="34" charset="-122"/>
                <a:cs typeface="Calibri" pitchFamily="34" charset="-120"/>
              </a:rPr>
              <a:t>High</a:t>
            </a:r>
            <a:endParaRPr lang="en-US" sz="900" dirty="0"/>
          </a:p>
        </p:txBody>
      </p:sp>
      <p:sp>
        <p:nvSpPr>
          <p:cNvPr id="13" name="Text 11"/>
          <p:cNvSpPr/>
          <p:nvPr/>
        </p:nvSpPr>
        <p:spPr>
          <a:xfrm>
            <a:off x="4389120" y="1371600"/>
            <a:ext cx="4389120" cy="2743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Visible AI-drafted label, human approval gate, no auto-submission, user training</a:t>
            </a:r>
            <a:endParaRPr lang="en-US" sz="900" dirty="0"/>
          </a:p>
        </p:txBody>
      </p:sp>
      <p:sp>
        <p:nvSpPr>
          <p:cNvPr id="14" name="Shape 12"/>
          <p:cNvSpPr/>
          <p:nvPr/>
        </p:nvSpPr>
        <p:spPr>
          <a:xfrm>
            <a:off x="320040" y="1773936"/>
            <a:ext cx="8503920" cy="347472"/>
          </a:xfrm>
          <a:prstGeom prst="rect">
            <a:avLst/>
          </a:prstGeom>
          <a:solidFill>
            <a:srgbClr val="FFFFFF"/>
          </a:solidFill>
          <a:ln w="12700">
            <a:solidFill>
              <a:srgbClr val="D0D8EE"/>
            </a:solidFill>
            <a:prstDash val="solid"/>
          </a:ln>
        </p:spPr>
        <p:txBody>
          <a:bodyPr/>
          <a:lstStyle/>
          <a:p>
            <a:endParaRPr lang="en-US"/>
          </a:p>
        </p:txBody>
      </p:sp>
      <p:sp>
        <p:nvSpPr>
          <p:cNvPr id="15" name="Text 13"/>
          <p:cNvSpPr/>
          <p:nvPr/>
        </p:nvSpPr>
        <p:spPr>
          <a:xfrm>
            <a:off x="365760" y="1810512"/>
            <a:ext cx="3200400" cy="274320"/>
          </a:xfrm>
          <a:prstGeom prst="rect">
            <a:avLst/>
          </a:prstGeom>
          <a:noFill/>
          <a:ln/>
        </p:spPr>
        <p:txBody>
          <a:bodyPr wrap="square" lIns="0" tIns="0" rIns="0" bIns="0" rtlCol="0" anchor="ctr"/>
          <a:lstStyle/>
          <a:p>
            <a:pPr marL="0" indent="0">
              <a:buNone/>
            </a:pPr>
            <a:r>
              <a:rPr lang="en-US" sz="900" dirty="0">
                <a:solidFill>
                  <a:srgbClr val="1A1F36"/>
                </a:solidFill>
                <a:latin typeface="Calibri" pitchFamily="34" charset="0"/>
                <a:ea typeface="Calibri" pitchFamily="34" charset="-122"/>
                <a:cs typeface="Calibri" pitchFamily="34" charset="-120"/>
              </a:rPr>
              <a:t>Unauthorized access to eMASS data</a:t>
            </a:r>
            <a:endParaRPr lang="en-US" sz="900" dirty="0"/>
          </a:p>
        </p:txBody>
      </p:sp>
      <p:sp>
        <p:nvSpPr>
          <p:cNvPr id="16" name="Text 14"/>
          <p:cNvSpPr/>
          <p:nvPr/>
        </p:nvSpPr>
        <p:spPr>
          <a:xfrm>
            <a:off x="3611880" y="1810512"/>
            <a:ext cx="731520" cy="274320"/>
          </a:xfrm>
          <a:prstGeom prst="rect">
            <a:avLst/>
          </a:prstGeom>
          <a:noFill/>
          <a:ln/>
        </p:spPr>
        <p:txBody>
          <a:bodyPr wrap="square" lIns="0" tIns="0" rIns="0" bIns="0" rtlCol="0" anchor="ctr"/>
          <a:lstStyle/>
          <a:p>
            <a:pPr marL="0" indent="0" algn="ctr">
              <a:buNone/>
            </a:pPr>
            <a:r>
              <a:rPr lang="en-US" sz="900" b="1" dirty="0">
                <a:solidFill>
                  <a:srgbClr val="C0392B"/>
                </a:solidFill>
                <a:latin typeface="Calibri" pitchFamily="34" charset="0"/>
                <a:ea typeface="Calibri" pitchFamily="34" charset="-122"/>
                <a:cs typeface="Calibri" pitchFamily="34" charset="-120"/>
              </a:rPr>
              <a:t>High</a:t>
            </a:r>
            <a:endParaRPr lang="en-US" sz="900" dirty="0"/>
          </a:p>
        </p:txBody>
      </p:sp>
      <p:sp>
        <p:nvSpPr>
          <p:cNvPr id="17" name="Text 15"/>
          <p:cNvSpPr/>
          <p:nvPr/>
        </p:nvSpPr>
        <p:spPr>
          <a:xfrm>
            <a:off x="4389120" y="1810512"/>
            <a:ext cx="4389120" cy="2743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Role-scoped access, BFF architecture, derived credentials, audit logs</a:t>
            </a:r>
            <a:endParaRPr lang="en-US" sz="900" dirty="0"/>
          </a:p>
        </p:txBody>
      </p:sp>
      <p:sp>
        <p:nvSpPr>
          <p:cNvPr id="18" name="Shape 16"/>
          <p:cNvSpPr/>
          <p:nvPr/>
        </p:nvSpPr>
        <p:spPr>
          <a:xfrm>
            <a:off x="320040" y="2212848"/>
            <a:ext cx="8503920" cy="347472"/>
          </a:xfrm>
          <a:prstGeom prst="rect">
            <a:avLst/>
          </a:prstGeom>
          <a:solidFill>
            <a:srgbClr val="EEF3FC"/>
          </a:solidFill>
          <a:ln w="12700">
            <a:solidFill>
              <a:srgbClr val="D0D8EE"/>
            </a:solidFill>
            <a:prstDash val="solid"/>
          </a:ln>
        </p:spPr>
        <p:txBody>
          <a:bodyPr/>
          <a:lstStyle/>
          <a:p>
            <a:endParaRPr lang="en-US"/>
          </a:p>
        </p:txBody>
      </p:sp>
      <p:sp>
        <p:nvSpPr>
          <p:cNvPr id="19" name="Text 17"/>
          <p:cNvSpPr/>
          <p:nvPr/>
        </p:nvSpPr>
        <p:spPr>
          <a:xfrm>
            <a:off x="365760" y="2249424"/>
            <a:ext cx="3200400" cy="274320"/>
          </a:xfrm>
          <a:prstGeom prst="rect">
            <a:avLst/>
          </a:prstGeom>
          <a:noFill/>
          <a:ln/>
        </p:spPr>
        <p:txBody>
          <a:bodyPr wrap="square" lIns="0" tIns="0" rIns="0" bIns="0" rtlCol="0" anchor="ctr"/>
          <a:lstStyle/>
          <a:p>
            <a:pPr marL="0" indent="0">
              <a:buNone/>
            </a:pPr>
            <a:r>
              <a:rPr lang="en-US" sz="900" dirty="0">
                <a:solidFill>
                  <a:srgbClr val="1A1F36"/>
                </a:solidFill>
                <a:latin typeface="Calibri" pitchFamily="34" charset="0"/>
                <a:ea typeface="Calibri" pitchFamily="34" charset="-122"/>
                <a:cs typeface="Calibri" pitchFamily="34" charset="-120"/>
              </a:rPr>
              <a:t>Sensitive data exposed through notifications</a:t>
            </a:r>
            <a:endParaRPr lang="en-US" sz="900" dirty="0"/>
          </a:p>
        </p:txBody>
      </p:sp>
      <p:sp>
        <p:nvSpPr>
          <p:cNvPr id="20" name="Text 18"/>
          <p:cNvSpPr/>
          <p:nvPr/>
        </p:nvSpPr>
        <p:spPr>
          <a:xfrm>
            <a:off x="3611880" y="2249424"/>
            <a:ext cx="731520" cy="274320"/>
          </a:xfrm>
          <a:prstGeom prst="rect">
            <a:avLst/>
          </a:prstGeom>
          <a:noFill/>
          <a:ln/>
        </p:spPr>
        <p:txBody>
          <a:bodyPr wrap="square" lIns="0" tIns="0" rIns="0" bIns="0" rtlCol="0" anchor="ctr"/>
          <a:lstStyle/>
          <a:p>
            <a:pPr marL="0" indent="0" algn="ctr">
              <a:buNone/>
            </a:pPr>
            <a:r>
              <a:rPr lang="en-US" sz="900" b="1" dirty="0">
                <a:solidFill>
                  <a:srgbClr val="D4860A"/>
                </a:solidFill>
                <a:latin typeface="Calibri" pitchFamily="34" charset="0"/>
                <a:ea typeface="Calibri" pitchFamily="34" charset="-122"/>
                <a:cs typeface="Calibri" pitchFamily="34" charset="-120"/>
              </a:rPr>
              <a:t>Med</a:t>
            </a:r>
            <a:endParaRPr lang="en-US" sz="900" dirty="0"/>
          </a:p>
        </p:txBody>
      </p:sp>
      <p:sp>
        <p:nvSpPr>
          <p:cNvPr id="21" name="Text 19"/>
          <p:cNvSpPr/>
          <p:nvPr/>
        </p:nvSpPr>
        <p:spPr>
          <a:xfrm>
            <a:off x="4389120" y="2249424"/>
            <a:ext cx="4389120" cy="2743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Payload limited to system name and alert type only. Full detail requires auth session.</a:t>
            </a:r>
            <a:endParaRPr lang="en-US" sz="900" dirty="0"/>
          </a:p>
        </p:txBody>
      </p:sp>
      <p:sp>
        <p:nvSpPr>
          <p:cNvPr id="22" name="Shape 20"/>
          <p:cNvSpPr/>
          <p:nvPr/>
        </p:nvSpPr>
        <p:spPr>
          <a:xfrm>
            <a:off x="320040" y="2651760"/>
            <a:ext cx="8503920" cy="347472"/>
          </a:xfrm>
          <a:prstGeom prst="rect">
            <a:avLst/>
          </a:prstGeom>
          <a:solidFill>
            <a:srgbClr val="FFFFFF"/>
          </a:solidFill>
          <a:ln w="12700">
            <a:solidFill>
              <a:srgbClr val="D0D8EE"/>
            </a:solidFill>
            <a:prstDash val="solid"/>
          </a:ln>
        </p:spPr>
        <p:txBody>
          <a:bodyPr/>
          <a:lstStyle/>
          <a:p>
            <a:endParaRPr lang="en-US"/>
          </a:p>
        </p:txBody>
      </p:sp>
      <p:sp>
        <p:nvSpPr>
          <p:cNvPr id="23" name="Text 21"/>
          <p:cNvSpPr/>
          <p:nvPr/>
        </p:nvSpPr>
        <p:spPr>
          <a:xfrm>
            <a:off x="365760" y="2688336"/>
            <a:ext cx="3200400" cy="274320"/>
          </a:xfrm>
          <a:prstGeom prst="rect">
            <a:avLst/>
          </a:prstGeom>
          <a:noFill/>
          <a:ln/>
        </p:spPr>
        <p:txBody>
          <a:bodyPr wrap="square" lIns="0" tIns="0" rIns="0" bIns="0" rtlCol="0" anchor="ctr"/>
          <a:lstStyle/>
          <a:p>
            <a:pPr marL="0" indent="0">
              <a:buNone/>
            </a:pPr>
            <a:r>
              <a:rPr lang="en-US" sz="900" dirty="0">
                <a:solidFill>
                  <a:srgbClr val="1A1F36"/>
                </a:solidFill>
                <a:latin typeface="Calibri" pitchFamily="34" charset="0"/>
                <a:ea typeface="Calibri" pitchFamily="34" charset="-122"/>
                <a:cs typeface="Calibri" pitchFamily="34" charset="-120"/>
              </a:rPr>
              <a:t>Client device compromise</a:t>
            </a:r>
            <a:endParaRPr lang="en-US" sz="900" dirty="0"/>
          </a:p>
        </p:txBody>
      </p:sp>
      <p:sp>
        <p:nvSpPr>
          <p:cNvPr id="24" name="Text 22"/>
          <p:cNvSpPr/>
          <p:nvPr/>
        </p:nvSpPr>
        <p:spPr>
          <a:xfrm>
            <a:off x="3611880" y="2688336"/>
            <a:ext cx="731520" cy="274320"/>
          </a:xfrm>
          <a:prstGeom prst="rect">
            <a:avLst/>
          </a:prstGeom>
          <a:noFill/>
          <a:ln/>
        </p:spPr>
        <p:txBody>
          <a:bodyPr wrap="square" lIns="0" tIns="0" rIns="0" bIns="0" rtlCol="0" anchor="ctr"/>
          <a:lstStyle/>
          <a:p>
            <a:pPr marL="0" indent="0" algn="ctr">
              <a:buNone/>
            </a:pPr>
            <a:r>
              <a:rPr lang="en-US" sz="900" b="1" dirty="0">
                <a:solidFill>
                  <a:srgbClr val="C0392B"/>
                </a:solidFill>
                <a:latin typeface="Calibri" pitchFamily="34" charset="0"/>
                <a:ea typeface="Calibri" pitchFamily="34" charset="-122"/>
                <a:cs typeface="Calibri" pitchFamily="34" charset="-120"/>
              </a:rPr>
              <a:t>High</a:t>
            </a:r>
            <a:endParaRPr lang="en-US" sz="900" dirty="0"/>
          </a:p>
        </p:txBody>
      </p:sp>
      <p:sp>
        <p:nvSpPr>
          <p:cNvPr id="25" name="Text 23"/>
          <p:cNvSpPr/>
          <p:nvPr/>
        </p:nvSpPr>
        <p:spPr>
          <a:xfrm>
            <a:off x="4389120" y="2688336"/>
            <a:ext cx="4389120" cy="2743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No eMASS credentials on device, MDM enrollment, session wipe, no local storage</a:t>
            </a:r>
            <a:endParaRPr lang="en-US" sz="900" dirty="0"/>
          </a:p>
        </p:txBody>
      </p:sp>
      <p:sp>
        <p:nvSpPr>
          <p:cNvPr id="26" name="Shape 24"/>
          <p:cNvSpPr/>
          <p:nvPr/>
        </p:nvSpPr>
        <p:spPr>
          <a:xfrm>
            <a:off x="320040" y="3090672"/>
            <a:ext cx="8503920" cy="347472"/>
          </a:xfrm>
          <a:prstGeom prst="rect">
            <a:avLst/>
          </a:prstGeom>
          <a:solidFill>
            <a:srgbClr val="EEF3FC"/>
          </a:solidFill>
          <a:ln w="12700">
            <a:solidFill>
              <a:srgbClr val="D0D8EE"/>
            </a:solidFill>
            <a:prstDash val="solid"/>
          </a:ln>
        </p:spPr>
        <p:txBody>
          <a:bodyPr/>
          <a:lstStyle/>
          <a:p>
            <a:endParaRPr lang="en-US"/>
          </a:p>
        </p:txBody>
      </p:sp>
      <p:sp>
        <p:nvSpPr>
          <p:cNvPr id="27" name="Text 25"/>
          <p:cNvSpPr/>
          <p:nvPr/>
        </p:nvSpPr>
        <p:spPr>
          <a:xfrm>
            <a:off x="365760" y="3127248"/>
            <a:ext cx="3200400" cy="274320"/>
          </a:xfrm>
          <a:prstGeom prst="rect">
            <a:avLst/>
          </a:prstGeom>
          <a:noFill/>
          <a:ln/>
        </p:spPr>
        <p:txBody>
          <a:bodyPr wrap="square" lIns="0" tIns="0" rIns="0" bIns="0" rtlCol="0" anchor="ctr"/>
          <a:lstStyle/>
          <a:p>
            <a:pPr marL="0" indent="0">
              <a:buNone/>
            </a:pPr>
            <a:r>
              <a:rPr lang="en-US" sz="900" dirty="0">
                <a:solidFill>
                  <a:srgbClr val="1A1F36"/>
                </a:solidFill>
                <a:latin typeface="Calibri" pitchFamily="34" charset="0"/>
                <a:ea typeface="Calibri" pitchFamily="34" charset="-122"/>
                <a:cs typeface="Calibri" pitchFamily="34" charset="-120"/>
              </a:rPr>
              <a:t>Production integration approved too early</a:t>
            </a:r>
            <a:endParaRPr lang="en-US" sz="900" dirty="0"/>
          </a:p>
        </p:txBody>
      </p:sp>
      <p:sp>
        <p:nvSpPr>
          <p:cNvPr id="28" name="Text 26"/>
          <p:cNvSpPr/>
          <p:nvPr/>
        </p:nvSpPr>
        <p:spPr>
          <a:xfrm>
            <a:off x="3611880" y="3127248"/>
            <a:ext cx="731520" cy="274320"/>
          </a:xfrm>
          <a:prstGeom prst="rect">
            <a:avLst/>
          </a:prstGeom>
          <a:noFill/>
          <a:ln/>
        </p:spPr>
        <p:txBody>
          <a:bodyPr wrap="square" lIns="0" tIns="0" rIns="0" bIns="0" rtlCol="0" anchor="ctr"/>
          <a:lstStyle/>
          <a:p>
            <a:pPr marL="0" indent="0" algn="ctr">
              <a:buNone/>
            </a:pPr>
            <a:r>
              <a:rPr lang="en-US" sz="900" b="1" dirty="0">
                <a:solidFill>
                  <a:srgbClr val="C0392B"/>
                </a:solidFill>
                <a:latin typeface="Calibri" pitchFamily="34" charset="0"/>
                <a:ea typeface="Calibri" pitchFamily="34" charset="-122"/>
                <a:cs typeface="Calibri" pitchFamily="34" charset="-120"/>
              </a:rPr>
              <a:t>High</a:t>
            </a:r>
            <a:endParaRPr lang="en-US" sz="900" dirty="0"/>
          </a:p>
        </p:txBody>
      </p:sp>
      <p:sp>
        <p:nvSpPr>
          <p:cNvPr id="29" name="Text 27"/>
          <p:cNvSpPr/>
          <p:nvPr/>
        </p:nvSpPr>
        <p:spPr>
          <a:xfrm>
            <a:off x="4389120" y="3127248"/>
            <a:ext cx="4389120" cy="2743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Pilot limited to mock/test/sandbox. Production requires separate AO approval.</a:t>
            </a:r>
            <a:endParaRPr lang="en-US" sz="900" dirty="0"/>
          </a:p>
        </p:txBody>
      </p:sp>
      <p:sp>
        <p:nvSpPr>
          <p:cNvPr id="30" name="Shape 28"/>
          <p:cNvSpPr/>
          <p:nvPr/>
        </p:nvSpPr>
        <p:spPr>
          <a:xfrm>
            <a:off x="320040" y="3529584"/>
            <a:ext cx="8503920" cy="347472"/>
          </a:xfrm>
          <a:prstGeom prst="rect">
            <a:avLst/>
          </a:prstGeom>
          <a:solidFill>
            <a:srgbClr val="FFFFFF"/>
          </a:solidFill>
          <a:ln w="12700">
            <a:solidFill>
              <a:srgbClr val="D0D8EE"/>
            </a:solidFill>
            <a:prstDash val="solid"/>
          </a:ln>
        </p:spPr>
        <p:txBody>
          <a:bodyPr/>
          <a:lstStyle/>
          <a:p>
            <a:endParaRPr lang="en-US"/>
          </a:p>
        </p:txBody>
      </p:sp>
      <p:sp>
        <p:nvSpPr>
          <p:cNvPr id="31" name="Text 29"/>
          <p:cNvSpPr/>
          <p:nvPr/>
        </p:nvSpPr>
        <p:spPr>
          <a:xfrm>
            <a:off x="365760" y="3566160"/>
            <a:ext cx="3200400" cy="274320"/>
          </a:xfrm>
          <a:prstGeom prst="rect">
            <a:avLst/>
          </a:prstGeom>
          <a:noFill/>
          <a:ln/>
        </p:spPr>
        <p:txBody>
          <a:bodyPr wrap="square" lIns="0" tIns="0" rIns="0" bIns="0" rtlCol="0" anchor="ctr"/>
          <a:lstStyle/>
          <a:p>
            <a:pPr marL="0" indent="0">
              <a:buNone/>
            </a:pPr>
            <a:r>
              <a:rPr lang="en-US" sz="900" dirty="0">
                <a:solidFill>
                  <a:srgbClr val="1A1F36"/>
                </a:solidFill>
                <a:latin typeface="Calibri" pitchFamily="34" charset="0"/>
                <a:ea typeface="Calibri" pitchFamily="34" charset="-122"/>
                <a:cs typeface="Calibri" pitchFamily="34" charset="-120"/>
              </a:rPr>
              <a:t>Model hallucination</a:t>
            </a:r>
            <a:endParaRPr lang="en-US" sz="900" dirty="0"/>
          </a:p>
        </p:txBody>
      </p:sp>
      <p:sp>
        <p:nvSpPr>
          <p:cNvPr id="32" name="Text 30"/>
          <p:cNvSpPr/>
          <p:nvPr/>
        </p:nvSpPr>
        <p:spPr>
          <a:xfrm>
            <a:off x="3611880" y="3566160"/>
            <a:ext cx="731520" cy="274320"/>
          </a:xfrm>
          <a:prstGeom prst="rect">
            <a:avLst/>
          </a:prstGeom>
          <a:noFill/>
          <a:ln/>
        </p:spPr>
        <p:txBody>
          <a:bodyPr wrap="square" lIns="0" tIns="0" rIns="0" bIns="0" rtlCol="0" anchor="ctr"/>
          <a:lstStyle/>
          <a:p>
            <a:pPr marL="0" indent="0" algn="ctr">
              <a:buNone/>
            </a:pPr>
            <a:r>
              <a:rPr lang="en-US" sz="900" b="1" dirty="0">
                <a:solidFill>
                  <a:srgbClr val="D4860A"/>
                </a:solidFill>
                <a:latin typeface="Calibri" pitchFamily="34" charset="0"/>
                <a:ea typeface="Calibri" pitchFamily="34" charset="-122"/>
                <a:cs typeface="Calibri" pitchFamily="34" charset="-120"/>
              </a:rPr>
              <a:t>Med</a:t>
            </a:r>
            <a:endParaRPr lang="en-US" sz="900" dirty="0"/>
          </a:p>
        </p:txBody>
      </p:sp>
      <p:sp>
        <p:nvSpPr>
          <p:cNvPr id="33" name="Text 31"/>
          <p:cNvSpPr/>
          <p:nvPr/>
        </p:nvSpPr>
        <p:spPr>
          <a:xfrm>
            <a:off x="4389120" y="3566160"/>
            <a:ext cx="4389120" cy="2743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RAG grounding, source citations, uncertainty flags, mandatory human review</a:t>
            </a:r>
            <a:endParaRPr lang="en-US" sz="900" dirty="0"/>
          </a:p>
        </p:txBody>
      </p:sp>
      <p:sp>
        <p:nvSpPr>
          <p:cNvPr id="34" name="Shape 32"/>
          <p:cNvSpPr/>
          <p:nvPr/>
        </p:nvSpPr>
        <p:spPr>
          <a:xfrm>
            <a:off x="320040" y="3968496"/>
            <a:ext cx="8503920" cy="347472"/>
          </a:xfrm>
          <a:prstGeom prst="rect">
            <a:avLst/>
          </a:prstGeom>
          <a:solidFill>
            <a:srgbClr val="EEF3FC"/>
          </a:solidFill>
          <a:ln w="12700">
            <a:solidFill>
              <a:srgbClr val="D0D8EE"/>
            </a:solidFill>
            <a:prstDash val="solid"/>
          </a:ln>
        </p:spPr>
        <p:txBody>
          <a:bodyPr/>
          <a:lstStyle/>
          <a:p>
            <a:endParaRPr lang="en-US"/>
          </a:p>
        </p:txBody>
      </p:sp>
      <p:sp>
        <p:nvSpPr>
          <p:cNvPr id="35" name="Text 33"/>
          <p:cNvSpPr/>
          <p:nvPr/>
        </p:nvSpPr>
        <p:spPr>
          <a:xfrm>
            <a:off x="365760" y="4005072"/>
            <a:ext cx="3200400" cy="274320"/>
          </a:xfrm>
          <a:prstGeom prst="rect">
            <a:avLst/>
          </a:prstGeom>
          <a:noFill/>
          <a:ln/>
        </p:spPr>
        <p:txBody>
          <a:bodyPr wrap="square" lIns="0" tIns="0" rIns="0" bIns="0" rtlCol="0" anchor="ctr"/>
          <a:lstStyle/>
          <a:p>
            <a:pPr marL="0" indent="0">
              <a:buNone/>
            </a:pPr>
            <a:r>
              <a:rPr lang="en-US" sz="900" dirty="0">
                <a:solidFill>
                  <a:srgbClr val="1A1F36"/>
                </a:solidFill>
                <a:latin typeface="Calibri" pitchFamily="34" charset="0"/>
                <a:ea typeface="Calibri" pitchFamily="34" charset="-122"/>
                <a:cs typeface="Calibri" pitchFamily="34" charset="-120"/>
              </a:rPr>
              <a:t>Scope creep into authorization decisions</a:t>
            </a:r>
            <a:endParaRPr lang="en-US" sz="900" dirty="0"/>
          </a:p>
        </p:txBody>
      </p:sp>
      <p:sp>
        <p:nvSpPr>
          <p:cNvPr id="36" name="Text 34"/>
          <p:cNvSpPr/>
          <p:nvPr/>
        </p:nvSpPr>
        <p:spPr>
          <a:xfrm>
            <a:off x="3611880" y="4005072"/>
            <a:ext cx="731520" cy="274320"/>
          </a:xfrm>
          <a:prstGeom prst="rect">
            <a:avLst/>
          </a:prstGeom>
          <a:noFill/>
          <a:ln/>
        </p:spPr>
        <p:txBody>
          <a:bodyPr wrap="square" lIns="0" tIns="0" rIns="0" bIns="0" rtlCol="0" anchor="ctr"/>
          <a:lstStyle/>
          <a:p>
            <a:pPr marL="0" indent="0" algn="ctr">
              <a:buNone/>
            </a:pPr>
            <a:r>
              <a:rPr lang="en-US" sz="900" b="1" dirty="0">
                <a:solidFill>
                  <a:srgbClr val="C0392B"/>
                </a:solidFill>
                <a:latin typeface="Calibri" pitchFamily="34" charset="0"/>
                <a:ea typeface="Calibri" pitchFamily="34" charset="-122"/>
                <a:cs typeface="Calibri" pitchFamily="34" charset="-120"/>
              </a:rPr>
              <a:t>High</a:t>
            </a:r>
            <a:endParaRPr lang="en-US" sz="900" dirty="0"/>
          </a:p>
        </p:txBody>
      </p:sp>
      <p:sp>
        <p:nvSpPr>
          <p:cNvPr id="37" name="Text 35"/>
          <p:cNvSpPr/>
          <p:nvPr/>
        </p:nvSpPr>
        <p:spPr>
          <a:xfrm>
            <a:off x="4389120" y="4005072"/>
            <a:ext cx="4389120" cy="2743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Product language: support only. AO/SCA/ISSM authority unchanged and documented.</a:t>
            </a:r>
            <a:endParaRPr lang="en-US" sz="900" dirty="0"/>
          </a:p>
        </p:txBody>
      </p:sp>
      <p:sp>
        <p:nvSpPr>
          <p:cNvPr id="38" name="Shape 36"/>
          <p:cNvSpPr/>
          <p:nvPr/>
        </p:nvSpPr>
        <p:spPr>
          <a:xfrm>
            <a:off x="320040" y="4407408"/>
            <a:ext cx="8503920" cy="347472"/>
          </a:xfrm>
          <a:prstGeom prst="rect">
            <a:avLst/>
          </a:prstGeom>
          <a:solidFill>
            <a:srgbClr val="FFFFFF"/>
          </a:solidFill>
          <a:ln w="12700">
            <a:solidFill>
              <a:srgbClr val="D0D8EE"/>
            </a:solidFill>
            <a:prstDash val="solid"/>
          </a:ln>
        </p:spPr>
        <p:txBody>
          <a:bodyPr/>
          <a:lstStyle/>
          <a:p>
            <a:endParaRPr lang="en-US"/>
          </a:p>
        </p:txBody>
      </p:sp>
      <p:sp>
        <p:nvSpPr>
          <p:cNvPr id="39" name="Text 37"/>
          <p:cNvSpPr/>
          <p:nvPr/>
        </p:nvSpPr>
        <p:spPr>
          <a:xfrm>
            <a:off x="365760" y="4443984"/>
            <a:ext cx="3200400" cy="274320"/>
          </a:xfrm>
          <a:prstGeom prst="rect">
            <a:avLst/>
          </a:prstGeom>
          <a:noFill/>
          <a:ln/>
        </p:spPr>
        <p:txBody>
          <a:bodyPr wrap="square" lIns="0" tIns="0" rIns="0" bIns="0" rtlCol="0" anchor="ctr"/>
          <a:lstStyle/>
          <a:p>
            <a:pPr marL="0" indent="0">
              <a:buNone/>
            </a:pPr>
            <a:r>
              <a:rPr lang="en-US" sz="900" dirty="0">
                <a:solidFill>
                  <a:srgbClr val="1A1F36"/>
                </a:solidFill>
                <a:latin typeface="Calibri" pitchFamily="34" charset="0"/>
                <a:ea typeface="Calibri" pitchFamily="34" charset="-122"/>
                <a:cs typeface="Calibri" pitchFamily="34" charset="-120"/>
              </a:rPr>
              <a:t>eMASS API dependency delay</a:t>
            </a:r>
            <a:endParaRPr lang="en-US" sz="900" dirty="0"/>
          </a:p>
        </p:txBody>
      </p:sp>
      <p:sp>
        <p:nvSpPr>
          <p:cNvPr id="40" name="Text 38"/>
          <p:cNvSpPr/>
          <p:nvPr/>
        </p:nvSpPr>
        <p:spPr>
          <a:xfrm>
            <a:off x="3611880" y="4443984"/>
            <a:ext cx="731520" cy="274320"/>
          </a:xfrm>
          <a:prstGeom prst="rect">
            <a:avLst/>
          </a:prstGeom>
          <a:noFill/>
          <a:ln/>
        </p:spPr>
        <p:txBody>
          <a:bodyPr wrap="square" lIns="0" tIns="0" rIns="0" bIns="0" rtlCol="0" anchor="ctr"/>
          <a:lstStyle/>
          <a:p>
            <a:pPr marL="0" indent="0" algn="ctr">
              <a:buNone/>
            </a:pPr>
            <a:r>
              <a:rPr lang="en-US" sz="900" b="1" dirty="0">
                <a:solidFill>
                  <a:srgbClr val="D4860A"/>
                </a:solidFill>
                <a:latin typeface="Calibri" pitchFamily="34" charset="0"/>
                <a:ea typeface="Calibri" pitchFamily="34" charset="-122"/>
                <a:cs typeface="Calibri" pitchFamily="34" charset="-120"/>
              </a:rPr>
              <a:t>Med</a:t>
            </a:r>
            <a:endParaRPr lang="en-US" sz="900" dirty="0"/>
          </a:p>
        </p:txBody>
      </p:sp>
      <p:sp>
        <p:nvSpPr>
          <p:cNvPr id="41" name="Text 39"/>
          <p:cNvSpPr/>
          <p:nvPr/>
        </p:nvSpPr>
        <p:spPr>
          <a:xfrm>
            <a:off x="4389120" y="4443984"/>
            <a:ext cx="4389120" cy="2743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Mock dataset and sandbox workflow during pilot. Production API is a later gate.</a:t>
            </a:r>
            <a:endParaRPr lang="en-US" sz="900" dirty="0"/>
          </a:p>
        </p:txBody>
      </p:sp>
      <p:sp>
        <p:nvSpPr>
          <p:cNvPr id="43" name="Text 40"/>
          <p:cNvSpPr/>
          <p:nvPr/>
        </p:nvSpPr>
        <p:spPr>
          <a:xfrm>
            <a:off x="0" y="4956048"/>
            <a:ext cx="9144000" cy="182880"/>
          </a:xfrm>
          <a:prstGeom prst="rect">
            <a:avLst/>
          </a:prstGeom>
          <a:noFill/>
          <a:ln/>
        </p:spPr>
        <p:txBody>
          <a:bodyPr wrap="square" lIns="0" tIns="0" rIns="0" bIns="0" rtlCol="0" anchor="ctr"/>
          <a:lstStyle/>
          <a:p>
            <a:pPr marL="0" indent="0" algn="ctr">
              <a:buNone/>
            </a:pPr>
            <a:r>
              <a:rPr lang="en-US" sz="800" b="1" dirty="0">
                <a:solidFill>
                  <a:srgbClr val="8A9FCC"/>
                </a:solidFill>
                <a:latin typeface="Calibri" pitchFamily="34" charset="0"/>
                <a:ea typeface="Calibri" pitchFamily="34" charset="-122"/>
                <a:cs typeface="Calibri" pitchFamily="34" charset="-120"/>
              </a:rPr>
              <a:t>UNCLASSIFIED // FOR OFFICIAL USE ONLY</a:t>
            </a:r>
            <a:endParaRPr lang="en-US" sz="800" dirty="0"/>
          </a:p>
        </p:txBody>
      </p:sp>
      <p:sp>
        <p:nvSpPr>
          <p:cNvPr id="44" name="Text 41"/>
          <p:cNvSpPr/>
          <p:nvPr/>
        </p:nvSpPr>
        <p:spPr>
          <a:xfrm>
            <a:off x="8046720" y="4956048"/>
            <a:ext cx="1097280" cy="182880"/>
          </a:xfrm>
          <a:prstGeom prst="rect">
            <a:avLst/>
          </a:prstGeom>
          <a:noFill/>
          <a:ln/>
        </p:spPr>
        <p:txBody>
          <a:bodyPr wrap="square" lIns="0" tIns="0" rIns="0" bIns="0" rtlCol="0" anchor="ctr"/>
          <a:lstStyle/>
          <a:p>
            <a:pPr marL="0" indent="0" algn="r">
              <a:buNone/>
            </a:pPr>
            <a:r>
              <a:rPr lang="en-US" sz="800" dirty="0">
                <a:solidFill>
                  <a:srgbClr val="8A9FCC"/>
                </a:solidFill>
                <a:latin typeface="Calibri" pitchFamily="34" charset="0"/>
                <a:ea typeface="Calibri" pitchFamily="34" charset="-122"/>
                <a:cs typeface="Calibri" pitchFamily="34" charset="-120"/>
              </a:rPr>
              <a:t>9 / 12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4A90D9"/>
          </a:solidFill>
          <a:ln w="12700">
            <a:solidFill>
              <a:srgbClr val="4A90D9"/>
            </a:solidFill>
            <a:prstDash val="solid"/>
          </a:ln>
        </p:spPr>
        <p:txBody>
          <a:bodyPr/>
          <a:lstStyle/>
          <a:p>
            <a:endParaRPr lang="en-US"/>
          </a:p>
        </p:txBody>
      </p:sp>
      <p:sp>
        <p:nvSpPr>
          <p:cNvPr id="3" name="Text 1"/>
          <p:cNvSpPr/>
          <p:nvPr/>
        </p:nvSpPr>
        <p:spPr>
          <a:xfrm>
            <a:off x="320040" y="164592"/>
            <a:ext cx="7315200" cy="201168"/>
          </a:xfrm>
          <a:prstGeom prst="rect">
            <a:avLst/>
          </a:prstGeom>
          <a:noFill/>
          <a:ln/>
        </p:spPr>
        <p:txBody>
          <a:bodyPr wrap="square" lIns="0" tIns="0" rIns="0" bIns="0" rtlCol="0" anchor="ctr"/>
          <a:lstStyle/>
          <a:p>
            <a:pPr marL="0" indent="0">
              <a:buNone/>
            </a:pPr>
            <a:r>
              <a:rPr lang="en-US" sz="850" b="1" kern="0" spc="300" dirty="0">
                <a:solidFill>
                  <a:srgbClr val="4A90D9"/>
                </a:solidFill>
                <a:latin typeface="Calibri" pitchFamily="34" charset="0"/>
                <a:ea typeface="Calibri" pitchFamily="34" charset="-122"/>
                <a:cs typeface="Calibri" pitchFamily="34" charset="-120"/>
              </a:rPr>
              <a:t>RMF AUTHORIZATION PATHWAY</a:t>
            </a:r>
            <a:endParaRPr lang="en-US" sz="850" dirty="0"/>
          </a:p>
        </p:txBody>
      </p:sp>
      <p:sp>
        <p:nvSpPr>
          <p:cNvPr id="4" name="Text 2"/>
          <p:cNvSpPr/>
          <p:nvPr/>
        </p:nvSpPr>
        <p:spPr>
          <a:xfrm>
            <a:off x="320040" y="411480"/>
            <a:ext cx="8503920" cy="50292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RMF COMMANDER Will Authorize Itself</a:t>
            </a:r>
            <a:endParaRPr lang="en-US" sz="2600" dirty="0"/>
          </a:p>
        </p:txBody>
      </p:sp>
      <p:sp>
        <p:nvSpPr>
          <p:cNvPr id="5" name="Shape 3"/>
          <p:cNvSpPr/>
          <p:nvPr/>
        </p:nvSpPr>
        <p:spPr>
          <a:xfrm>
            <a:off x="320040" y="960120"/>
            <a:ext cx="8503920" cy="18288"/>
          </a:xfrm>
          <a:prstGeom prst="rect">
            <a:avLst/>
          </a:prstGeom>
          <a:solidFill>
            <a:srgbClr val="CADCFC"/>
          </a:solidFill>
          <a:ln w="12700">
            <a:solidFill>
              <a:srgbClr val="CADCFC"/>
            </a:solidFill>
            <a:prstDash val="solid"/>
          </a:ln>
        </p:spPr>
        <p:txBody>
          <a:bodyPr/>
          <a:lstStyle/>
          <a:p>
            <a:endParaRPr lang="en-US"/>
          </a:p>
        </p:txBody>
      </p:sp>
      <p:sp>
        <p:nvSpPr>
          <p:cNvPr id="6" name="Text 4"/>
          <p:cNvSpPr/>
          <p:nvPr/>
        </p:nvSpPr>
        <p:spPr>
          <a:xfrm>
            <a:off x="320040" y="1024128"/>
            <a:ext cx="8503920" cy="274320"/>
          </a:xfrm>
          <a:prstGeom prst="rect">
            <a:avLst/>
          </a:prstGeom>
          <a:noFill/>
          <a:ln/>
        </p:spPr>
        <p:txBody>
          <a:bodyPr wrap="square" lIns="0" tIns="0" rIns="0" bIns="0" rtlCol="0" anchor="ctr"/>
          <a:lstStyle/>
          <a:p>
            <a:pPr marL="0" indent="0">
              <a:buNone/>
            </a:pPr>
            <a:r>
              <a:rPr lang="en-US" sz="1100" i="1" dirty="0">
                <a:solidFill>
                  <a:srgbClr val="334155"/>
                </a:solidFill>
                <a:latin typeface="Calibri" pitchFamily="34" charset="0"/>
                <a:ea typeface="Calibri" pitchFamily="34" charset="-122"/>
                <a:cs typeface="Calibri" pitchFamily="34" charset="-120"/>
              </a:rPr>
              <a:t>RMF Commander undergoes its own RMF authorization in parallel with development — not after it.</a:t>
            </a:r>
            <a:endParaRPr lang="en-US" sz="1100" dirty="0"/>
          </a:p>
        </p:txBody>
      </p:sp>
      <p:sp>
        <p:nvSpPr>
          <p:cNvPr id="7" name="Shape 5"/>
          <p:cNvSpPr/>
          <p:nvPr/>
        </p:nvSpPr>
        <p:spPr>
          <a:xfrm>
            <a:off x="320040" y="1389888"/>
            <a:ext cx="1143000" cy="347472"/>
          </a:xfrm>
          <a:prstGeom prst="rect">
            <a:avLst/>
          </a:prstGeom>
          <a:solidFill>
            <a:srgbClr val="1F3864"/>
          </a:solidFill>
          <a:ln w="12700">
            <a:solidFill>
              <a:srgbClr val="1F3864"/>
            </a:solidFill>
            <a:prstDash val="solid"/>
          </a:ln>
        </p:spPr>
        <p:txBody>
          <a:bodyPr/>
          <a:lstStyle/>
          <a:p>
            <a:endParaRPr lang="en-US"/>
          </a:p>
        </p:txBody>
      </p:sp>
      <p:sp>
        <p:nvSpPr>
          <p:cNvPr id="8" name="Text 6"/>
          <p:cNvSpPr/>
          <p:nvPr/>
        </p:nvSpPr>
        <p:spPr>
          <a:xfrm>
            <a:off x="320040" y="1408176"/>
            <a:ext cx="114300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S0</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Prepare</a:t>
            </a:r>
            <a:endParaRPr lang="en-US" sz="850" dirty="0"/>
          </a:p>
        </p:txBody>
      </p:sp>
      <p:sp>
        <p:nvSpPr>
          <p:cNvPr id="9" name="Shape 7"/>
          <p:cNvSpPr/>
          <p:nvPr/>
        </p:nvSpPr>
        <p:spPr>
          <a:xfrm>
            <a:off x="1463040" y="1536192"/>
            <a:ext cx="91440" cy="54864"/>
          </a:xfrm>
          <a:prstGeom prst="rect">
            <a:avLst/>
          </a:prstGeom>
          <a:solidFill>
            <a:srgbClr val="CADCFC"/>
          </a:solidFill>
          <a:ln w="12700">
            <a:solidFill>
              <a:srgbClr val="CADCFC"/>
            </a:solidFill>
            <a:prstDash val="solid"/>
          </a:ln>
        </p:spPr>
        <p:txBody>
          <a:bodyPr/>
          <a:lstStyle/>
          <a:p>
            <a:endParaRPr lang="en-US"/>
          </a:p>
        </p:txBody>
      </p:sp>
      <p:sp>
        <p:nvSpPr>
          <p:cNvPr id="10" name="Shape 8"/>
          <p:cNvSpPr/>
          <p:nvPr/>
        </p:nvSpPr>
        <p:spPr>
          <a:xfrm>
            <a:off x="320040" y="1792224"/>
            <a:ext cx="1143000" cy="26060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1" name="Shape 9"/>
          <p:cNvSpPr/>
          <p:nvPr/>
        </p:nvSpPr>
        <p:spPr>
          <a:xfrm>
            <a:off x="320040" y="1792224"/>
            <a:ext cx="1143000" cy="27432"/>
          </a:xfrm>
          <a:prstGeom prst="rect">
            <a:avLst/>
          </a:prstGeom>
          <a:solidFill>
            <a:srgbClr val="1F3864"/>
          </a:solidFill>
          <a:ln w="12700">
            <a:solidFill>
              <a:srgbClr val="1F3864"/>
            </a:solidFill>
            <a:prstDash val="solid"/>
          </a:ln>
        </p:spPr>
        <p:txBody>
          <a:bodyPr/>
          <a:lstStyle/>
          <a:p>
            <a:endParaRPr lang="en-US"/>
          </a:p>
        </p:txBody>
      </p:sp>
      <p:sp>
        <p:nvSpPr>
          <p:cNvPr id="12" name="Text 10"/>
          <p:cNvSpPr/>
          <p:nvPr/>
        </p:nvSpPr>
        <p:spPr>
          <a:xfrm>
            <a:off x="374904" y="1847088"/>
            <a:ext cx="1051560" cy="16459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Roles, overlays, team. System registered in eMASS.</a:t>
            </a:r>
            <a:endParaRPr lang="en-US" sz="900" dirty="0"/>
          </a:p>
        </p:txBody>
      </p:sp>
      <p:sp>
        <p:nvSpPr>
          <p:cNvPr id="13" name="Text 11"/>
          <p:cNvSpPr/>
          <p:nvPr/>
        </p:nvSpPr>
        <p:spPr>
          <a:xfrm>
            <a:off x="374904" y="4114800"/>
            <a:ext cx="1051560" cy="228600"/>
          </a:xfrm>
          <a:prstGeom prst="rect">
            <a:avLst/>
          </a:prstGeom>
          <a:noFill/>
          <a:ln/>
        </p:spPr>
        <p:txBody>
          <a:bodyPr wrap="square" lIns="0" tIns="0" rIns="0" bIns="0" rtlCol="0" anchor="ctr"/>
          <a:lstStyle/>
          <a:p>
            <a:pPr marL="0" indent="0">
              <a:buNone/>
            </a:pPr>
            <a:r>
              <a:rPr lang="en-US" sz="800" b="1" dirty="0">
                <a:solidFill>
                  <a:srgbClr val="1F3864"/>
                </a:solidFill>
                <a:latin typeface="Calibri" pitchFamily="34" charset="0"/>
                <a:ea typeface="Calibri" pitchFamily="34" charset="-122"/>
                <a:cs typeface="Calibri" pitchFamily="34" charset="-120"/>
              </a:rPr>
              <a:t>Phase 1</a:t>
            </a:r>
            <a:endParaRPr lang="en-US" sz="800" dirty="0"/>
          </a:p>
        </p:txBody>
      </p:sp>
      <p:sp>
        <p:nvSpPr>
          <p:cNvPr id="14" name="Shape 12"/>
          <p:cNvSpPr/>
          <p:nvPr/>
        </p:nvSpPr>
        <p:spPr>
          <a:xfrm>
            <a:off x="1554480" y="1389888"/>
            <a:ext cx="1143000" cy="347472"/>
          </a:xfrm>
          <a:prstGeom prst="rect">
            <a:avLst/>
          </a:prstGeom>
          <a:solidFill>
            <a:srgbClr val="2E5FA3"/>
          </a:solidFill>
          <a:ln w="12700">
            <a:solidFill>
              <a:srgbClr val="2E5FA3"/>
            </a:solidFill>
            <a:prstDash val="solid"/>
          </a:ln>
        </p:spPr>
        <p:txBody>
          <a:bodyPr/>
          <a:lstStyle/>
          <a:p>
            <a:endParaRPr lang="en-US"/>
          </a:p>
        </p:txBody>
      </p:sp>
      <p:sp>
        <p:nvSpPr>
          <p:cNvPr id="15" name="Text 13"/>
          <p:cNvSpPr/>
          <p:nvPr/>
        </p:nvSpPr>
        <p:spPr>
          <a:xfrm>
            <a:off x="1554480" y="1408176"/>
            <a:ext cx="114300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S1</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Categorize</a:t>
            </a:r>
            <a:endParaRPr lang="en-US" sz="850" dirty="0"/>
          </a:p>
        </p:txBody>
      </p:sp>
      <p:sp>
        <p:nvSpPr>
          <p:cNvPr id="16" name="Shape 14"/>
          <p:cNvSpPr/>
          <p:nvPr/>
        </p:nvSpPr>
        <p:spPr>
          <a:xfrm>
            <a:off x="2697480" y="1536192"/>
            <a:ext cx="91440" cy="54864"/>
          </a:xfrm>
          <a:prstGeom prst="rect">
            <a:avLst/>
          </a:prstGeom>
          <a:solidFill>
            <a:srgbClr val="CADCFC"/>
          </a:solidFill>
          <a:ln w="12700">
            <a:solidFill>
              <a:srgbClr val="CADCFC"/>
            </a:solidFill>
            <a:prstDash val="solid"/>
          </a:ln>
        </p:spPr>
        <p:txBody>
          <a:bodyPr/>
          <a:lstStyle/>
          <a:p>
            <a:endParaRPr lang="en-US"/>
          </a:p>
        </p:txBody>
      </p:sp>
      <p:sp>
        <p:nvSpPr>
          <p:cNvPr id="17" name="Shape 15"/>
          <p:cNvSpPr/>
          <p:nvPr/>
        </p:nvSpPr>
        <p:spPr>
          <a:xfrm>
            <a:off x="1554480" y="1792224"/>
            <a:ext cx="1143000" cy="26060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8" name="Shape 16"/>
          <p:cNvSpPr/>
          <p:nvPr/>
        </p:nvSpPr>
        <p:spPr>
          <a:xfrm>
            <a:off x="1554480" y="1792224"/>
            <a:ext cx="1143000" cy="27432"/>
          </a:xfrm>
          <a:prstGeom prst="rect">
            <a:avLst/>
          </a:prstGeom>
          <a:solidFill>
            <a:srgbClr val="2E5FA3"/>
          </a:solidFill>
          <a:ln w="12700">
            <a:solidFill>
              <a:srgbClr val="2E5FA3"/>
            </a:solidFill>
            <a:prstDash val="solid"/>
          </a:ln>
        </p:spPr>
        <p:txBody>
          <a:bodyPr/>
          <a:lstStyle/>
          <a:p>
            <a:endParaRPr lang="en-US"/>
          </a:p>
        </p:txBody>
      </p:sp>
      <p:sp>
        <p:nvSpPr>
          <p:cNvPr id="19" name="Text 17"/>
          <p:cNvSpPr/>
          <p:nvPr/>
        </p:nvSpPr>
        <p:spPr>
          <a:xfrm>
            <a:off x="1609344" y="1847088"/>
            <a:ext cx="1051560" cy="16459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CNSSI 1253. Moderate baseline expected.</a:t>
            </a:r>
            <a:endParaRPr lang="en-US" sz="900" dirty="0"/>
          </a:p>
        </p:txBody>
      </p:sp>
      <p:sp>
        <p:nvSpPr>
          <p:cNvPr id="20" name="Text 18"/>
          <p:cNvSpPr/>
          <p:nvPr/>
        </p:nvSpPr>
        <p:spPr>
          <a:xfrm>
            <a:off x="1609344" y="4114800"/>
            <a:ext cx="1051560" cy="228600"/>
          </a:xfrm>
          <a:prstGeom prst="rect">
            <a:avLst/>
          </a:prstGeom>
          <a:noFill/>
          <a:ln/>
        </p:spPr>
        <p:txBody>
          <a:bodyPr wrap="square" lIns="0" tIns="0" rIns="0" bIns="0" rtlCol="0" anchor="ctr"/>
          <a:lstStyle/>
          <a:p>
            <a:pPr marL="0" indent="0">
              <a:buNone/>
            </a:pPr>
            <a:r>
              <a:rPr lang="en-US" sz="800" b="1" dirty="0">
                <a:solidFill>
                  <a:srgbClr val="2E5FA3"/>
                </a:solidFill>
                <a:latin typeface="Calibri" pitchFamily="34" charset="0"/>
                <a:ea typeface="Calibri" pitchFamily="34" charset="-122"/>
                <a:cs typeface="Calibri" pitchFamily="34" charset="-120"/>
              </a:rPr>
              <a:t>Phase 1</a:t>
            </a:r>
            <a:endParaRPr lang="en-US" sz="800" dirty="0"/>
          </a:p>
        </p:txBody>
      </p:sp>
      <p:sp>
        <p:nvSpPr>
          <p:cNvPr id="21" name="Shape 19"/>
          <p:cNvSpPr/>
          <p:nvPr/>
        </p:nvSpPr>
        <p:spPr>
          <a:xfrm>
            <a:off x="2788920" y="1389888"/>
            <a:ext cx="1143000" cy="347472"/>
          </a:xfrm>
          <a:prstGeom prst="rect">
            <a:avLst/>
          </a:prstGeom>
          <a:solidFill>
            <a:srgbClr val="3A7BD5"/>
          </a:solidFill>
          <a:ln w="12700">
            <a:solidFill>
              <a:srgbClr val="3A7BD5"/>
            </a:solidFill>
            <a:prstDash val="solid"/>
          </a:ln>
        </p:spPr>
        <p:txBody>
          <a:bodyPr/>
          <a:lstStyle/>
          <a:p>
            <a:endParaRPr lang="en-US"/>
          </a:p>
        </p:txBody>
      </p:sp>
      <p:sp>
        <p:nvSpPr>
          <p:cNvPr id="22" name="Text 20"/>
          <p:cNvSpPr/>
          <p:nvPr/>
        </p:nvSpPr>
        <p:spPr>
          <a:xfrm>
            <a:off x="2788920" y="1408176"/>
            <a:ext cx="114300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S2</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Select</a:t>
            </a:r>
            <a:endParaRPr lang="en-US" sz="850" dirty="0"/>
          </a:p>
        </p:txBody>
      </p:sp>
      <p:sp>
        <p:nvSpPr>
          <p:cNvPr id="23" name="Shape 21"/>
          <p:cNvSpPr/>
          <p:nvPr/>
        </p:nvSpPr>
        <p:spPr>
          <a:xfrm>
            <a:off x="3931920" y="1536192"/>
            <a:ext cx="91440" cy="54864"/>
          </a:xfrm>
          <a:prstGeom prst="rect">
            <a:avLst/>
          </a:prstGeom>
          <a:solidFill>
            <a:srgbClr val="CADCFC"/>
          </a:solidFill>
          <a:ln w="12700">
            <a:solidFill>
              <a:srgbClr val="CADCFC"/>
            </a:solidFill>
            <a:prstDash val="solid"/>
          </a:ln>
        </p:spPr>
        <p:txBody>
          <a:bodyPr/>
          <a:lstStyle/>
          <a:p>
            <a:endParaRPr lang="en-US"/>
          </a:p>
        </p:txBody>
      </p:sp>
      <p:sp>
        <p:nvSpPr>
          <p:cNvPr id="24" name="Shape 22"/>
          <p:cNvSpPr/>
          <p:nvPr/>
        </p:nvSpPr>
        <p:spPr>
          <a:xfrm>
            <a:off x="2788920" y="1792224"/>
            <a:ext cx="1143000" cy="26060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5" name="Shape 23"/>
          <p:cNvSpPr/>
          <p:nvPr/>
        </p:nvSpPr>
        <p:spPr>
          <a:xfrm>
            <a:off x="2788920" y="1792224"/>
            <a:ext cx="1143000" cy="27432"/>
          </a:xfrm>
          <a:prstGeom prst="rect">
            <a:avLst/>
          </a:prstGeom>
          <a:solidFill>
            <a:srgbClr val="3A7BD5"/>
          </a:solidFill>
          <a:ln w="12700">
            <a:solidFill>
              <a:srgbClr val="3A7BD5"/>
            </a:solidFill>
            <a:prstDash val="solid"/>
          </a:ln>
        </p:spPr>
        <p:txBody>
          <a:bodyPr/>
          <a:lstStyle/>
          <a:p>
            <a:endParaRPr lang="en-US"/>
          </a:p>
        </p:txBody>
      </p:sp>
      <p:sp>
        <p:nvSpPr>
          <p:cNvPr id="26" name="Text 24"/>
          <p:cNvSpPr/>
          <p:nvPr/>
        </p:nvSpPr>
        <p:spPr>
          <a:xfrm>
            <a:off x="2843784" y="1847088"/>
            <a:ext cx="1051560" cy="16459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Control baseline selected. DoD overlays applied.</a:t>
            </a:r>
            <a:endParaRPr lang="en-US" sz="900" dirty="0"/>
          </a:p>
        </p:txBody>
      </p:sp>
      <p:sp>
        <p:nvSpPr>
          <p:cNvPr id="27" name="Text 25"/>
          <p:cNvSpPr/>
          <p:nvPr/>
        </p:nvSpPr>
        <p:spPr>
          <a:xfrm>
            <a:off x="2843784" y="4114800"/>
            <a:ext cx="1051560" cy="228600"/>
          </a:xfrm>
          <a:prstGeom prst="rect">
            <a:avLst/>
          </a:prstGeom>
          <a:noFill/>
          <a:ln/>
        </p:spPr>
        <p:txBody>
          <a:bodyPr wrap="square" lIns="0" tIns="0" rIns="0" bIns="0" rtlCol="0" anchor="ctr"/>
          <a:lstStyle/>
          <a:p>
            <a:pPr marL="0" indent="0">
              <a:buNone/>
            </a:pPr>
            <a:r>
              <a:rPr lang="en-US" sz="800" b="1" dirty="0">
                <a:solidFill>
                  <a:srgbClr val="3A7BD5"/>
                </a:solidFill>
                <a:latin typeface="Calibri" pitchFamily="34" charset="0"/>
                <a:ea typeface="Calibri" pitchFamily="34" charset="-122"/>
                <a:cs typeface="Calibri" pitchFamily="34" charset="-120"/>
              </a:rPr>
              <a:t>Phase 2</a:t>
            </a:r>
            <a:endParaRPr lang="en-US" sz="800" dirty="0"/>
          </a:p>
        </p:txBody>
      </p:sp>
      <p:sp>
        <p:nvSpPr>
          <p:cNvPr id="28" name="Shape 26"/>
          <p:cNvSpPr/>
          <p:nvPr/>
        </p:nvSpPr>
        <p:spPr>
          <a:xfrm>
            <a:off x="4023360" y="1389888"/>
            <a:ext cx="1143000" cy="347472"/>
          </a:xfrm>
          <a:prstGeom prst="rect">
            <a:avLst/>
          </a:prstGeom>
          <a:solidFill>
            <a:srgbClr val="4A90D9"/>
          </a:solidFill>
          <a:ln w="12700">
            <a:solidFill>
              <a:srgbClr val="4A90D9"/>
            </a:solidFill>
            <a:prstDash val="solid"/>
          </a:ln>
        </p:spPr>
        <p:txBody>
          <a:bodyPr/>
          <a:lstStyle/>
          <a:p>
            <a:endParaRPr lang="en-US"/>
          </a:p>
        </p:txBody>
      </p:sp>
      <p:sp>
        <p:nvSpPr>
          <p:cNvPr id="29" name="Text 27"/>
          <p:cNvSpPr/>
          <p:nvPr/>
        </p:nvSpPr>
        <p:spPr>
          <a:xfrm>
            <a:off x="4023360" y="1408176"/>
            <a:ext cx="114300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S3</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Implement</a:t>
            </a:r>
            <a:endParaRPr lang="en-US" sz="850" dirty="0"/>
          </a:p>
        </p:txBody>
      </p:sp>
      <p:sp>
        <p:nvSpPr>
          <p:cNvPr id="30" name="Shape 28"/>
          <p:cNvSpPr/>
          <p:nvPr/>
        </p:nvSpPr>
        <p:spPr>
          <a:xfrm>
            <a:off x="5166360" y="1536192"/>
            <a:ext cx="91440" cy="54864"/>
          </a:xfrm>
          <a:prstGeom prst="rect">
            <a:avLst/>
          </a:prstGeom>
          <a:solidFill>
            <a:srgbClr val="CADCFC"/>
          </a:solidFill>
          <a:ln w="12700">
            <a:solidFill>
              <a:srgbClr val="CADCFC"/>
            </a:solidFill>
            <a:prstDash val="solid"/>
          </a:ln>
        </p:spPr>
        <p:txBody>
          <a:bodyPr/>
          <a:lstStyle/>
          <a:p>
            <a:endParaRPr lang="en-US"/>
          </a:p>
        </p:txBody>
      </p:sp>
      <p:sp>
        <p:nvSpPr>
          <p:cNvPr id="31" name="Shape 29"/>
          <p:cNvSpPr/>
          <p:nvPr/>
        </p:nvSpPr>
        <p:spPr>
          <a:xfrm>
            <a:off x="4023360" y="1792224"/>
            <a:ext cx="1143000" cy="26060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32" name="Shape 30"/>
          <p:cNvSpPr/>
          <p:nvPr/>
        </p:nvSpPr>
        <p:spPr>
          <a:xfrm>
            <a:off x="4023360" y="1792224"/>
            <a:ext cx="1143000" cy="27432"/>
          </a:xfrm>
          <a:prstGeom prst="rect">
            <a:avLst/>
          </a:prstGeom>
          <a:solidFill>
            <a:srgbClr val="4A90D9"/>
          </a:solidFill>
          <a:ln w="12700">
            <a:solidFill>
              <a:srgbClr val="4A90D9"/>
            </a:solidFill>
            <a:prstDash val="solid"/>
          </a:ln>
        </p:spPr>
        <p:txBody>
          <a:bodyPr/>
          <a:lstStyle/>
          <a:p>
            <a:endParaRPr lang="en-US"/>
          </a:p>
        </p:txBody>
      </p:sp>
      <p:sp>
        <p:nvSpPr>
          <p:cNvPr id="33" name="Text 31"/>
          <p:cNvSpPr/>
          <p:nvPr/>
        </p:nvSpPr>
        <p:spPr>
          <a:xfrm>
            <a:off x="4078224" y="1847088"/>
            <a:ext cx="1051560" cy="16459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Controls documented in SSP. AI assistant used here.</a:t>
            </a:r>
            <a:endParaRPr lang="en-US" sz="900" dirty="0"/>
          </a:p>
        </p:txBody>
      </p:sp>
      <p:sp>
        <p:nvSpPr>
          <p:cNvPr id="34" name="Text 32"/>
          <p:cNvSpPr/>
          <p:nvPr/>
        </p:nvSpPr>
        <p:spPr>
          <a:xfrm>
            <a:off x="4078224" y="4114800"/>
            <a:ext cx="1051560" cy="228600"/>
          </a:xfrm>
          <a:prstGeom prst="rect">
            <a:avLst/>
          </a:prstGeom>
          <a:noFill/>
          <a:ln/>
        </p:spPr>
        <p:txBody>
          <a:bodyPr wrap="square" lIns="0" tIns="0" rIns="0" bIns="0" rtlCol="0" anchor="ctr"/>
          <a:lstStyle/>
          <a:p>
            <a:pPr marL="0" indent="0">
              <a:buNone/>
            </a:pPr>
            <a:r>
              <a:rPr lang="en-US" sz="800" b="1" dirty="0">
                <a:solidFill>
                  <a:srgbClr val="4A90D9"/>
                </a:solidFill>
                <a:latin typeface="Calibri" pitchFamily="34" charset="0"/>
                <a:ea typeface="Calibri" pitchFamily="34" charset="-122"/>
                <a:cs typeface="Calibri" pitchFamily="34" charset="-120"/>
              </a:rPr>
              <a:t>Phase 3–4</a:t>
            </a:r>
            <a:endParaRPr lang="en-US" sz="800" dirty="0"/>
          </a:p>
        </p:txBody>
      </p:sp>
      <p:sp>
        <p:nvSpPr>
          <p:cNvPr id="35" name="Shape 33"/>
          <p:cNvSpPr/>
          <p:nvPr/>
        </p:nvSpPr>
        <p:spPr>
          <a:xfrm>
            <a:off x="5257800" y="1389888"/>
            <a:ext cx="1143000" cy="347472"/>
          </a:xfrm>
          <a:prstGeom prst="rect">
            <a:avLst/>
          </a:prstGeom>
          <a:solidFill>
            <a:srgbClr val="5BA0E0"/>
          </a:solidFill>
          <a:ln w="12700">
            <a:solidFill>
              <a:srgbClr val="5BA0E0"/>
            </a:solidFill>
            <a:prstDash val="solid"/>
          </a:ln>
        </p:spPr>
        <p:txBody>
          <a:bodyPr/>
          <a:lstStyle/>
          <a:p>
            <a:endParaRPr lang="en-US"/>
          </a:p>
        </p:txBody>
      </p:sp>
      <p:sp>
        <p:nvSpPr>
          <p:cNvPr id="36" name="Text 34"/>
          <p:cNvSpPr/>
          <p:nvPr/>
        </p:nvSpPr>
        <p:spPr>
          <a:xfrm>
            <a:off x="5257800" y="1408176"/>
            <a:ext cx="114300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S4</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Assess</a:t>
            </a:r>
            <a:endParaRPr lang="en-US" sz="850" dirty="0"/>
          </a:p>
        </p:txBody>
      </p:sp>
      <p:sp>
        <p:nvSpPr>
          <p:cNvPr id="37" name="Shape 35"/>
          <p:cNvSpPr/>
          <p:nvPr/>
        </p:nvSpPr>
        <p:spPr>
          <a:xfrm>
            <a:off x="6400800" y="1536192"/>
            <a:ext cx="91440" cy="54864"/>
          </a:xfrm>
          <a:prstGeom prst="rect">
            <a:avLst/>
          </a:prstGeom>
          <a:solidFill>
            <a:srgbClr val="CADCFC"/>
          </a:solidFill>
          <a:ln w="12700">
            <a:solidFill>
              <a:srgbClr val="CADCFC"/>
            </a:solidFill>
            <a:prstDash val="solid"/>
          </a:ln>
        </p:spPr>
        <p:txBody>
          <a:bodyPr/>
          <a:lstStyle/>
          <a:p>
            <a:endParaRPr lang="en-US"/>
          </a:p>
        </p:txBody>
      </p:sp>
      <p:sp>
        <p:nvSpPr>
          <p:cNvPr id="38" name="Shape 36"/>
          <p:cNvSpPr/>
          <p:nvPr/>
        </p:nvSpPr>
        <p:spPr>
          <a:xfrm>
            <a:off x="5257800" y="1792224"/>
            <a:ext cx="1143000" cy="26060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39" name="Shape 37"/>
          <p:cNvSpPr/>
          <p:nvPr/>
        </p:nvSpPr>
        <p:spPr>
          <a:xfrm>
            <a:off x="5257800" y="1792224"/>
            <a:ext cx="1143000" cy="27432"/>
          </a:xfrm>
          <a:prstGeom prst="rect">
            <a:avLst/>
          </a:prstGeom>
          <a:solidFill>
            <a:srgbClr val="5BA0E0"/>
          </a:solidFill>
          <a:ln w="12700">
            <a:solidFill>
              <a:srgbClr val="5BA0E0"/>
            </a:solidFill>
            <a:prstDash val="solid"/>
          </a:ln>
        </p:spPr>
        <p:txBody>
          <a:bodyPr/>
          <a:lstStyle/>
          <a:p>
            <a:endParaRPr lang="en-US"/>
          </a:p>
        </p:txBody>
      </p:sp>
      <p:sp>
        <p:nvSpPr>
          <p:cNvPr id="40" name="Text 38"/>
          <p:cNvSpPr/>
          <p:nvPr/>
        </p:nvSpPr>
        <p:spPr>
          <a:xfrm>
            <a:off x="5312664" y="1847088"/>
            <a:ext cx="1051560" cy="16459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SCA assessment. SAR documented. POA&amp;Ms entered.</a:t>
            </a:r>
            <a:endParaRPr lang="en-US" sz="900" dirty="0"/>
          </a:p>
        </p:txBody>
      </p:sp>
      <p:sp>
        <p:nvSpPr>
          <p:cNvPr id="41" name="Text 39"/>
          <p:cNvSpPr/>
          <p:nvPr/>
        </p:nvSpPr>
        <p:spPr>
          <a:xfrm>
            <a:off x="5312664" y="4114800"/>
            <a:ext cx="1051560" cy="228600"/>
          </a:xfrm>
          <a:prstGeom prst="rect">
            <a:avLst/>
          </a:prstGeom>
          <a:noFill/>
          <a:ln/>
        </p:spPr>
        <p:txBody>
          <a:bodyPr wrap="square" lIns="0" tIns="0" rIns="0" bIns="0" rtlCol="0" anchor="ctr"/>
          <a:lstStyle/>
          <a:p>
            <a:pPr marL="0" indent="0">
              <a:buNone/>
            </a:pPr>
            <a:r>
              <a:rPr lang="en-US" sz="800" b="1" dirty="0">
                <a:solidFill>
                  <a:srgbClr val="5BA0E0"/>
                </a:solidFill>
                <a:latin typeface="Calibri" pitchFamily="34" charset="0"/>
                <a:ea typeface="Calibri" pitchFamily="34" charset="-122"/>
                <a:cs typeface="Calibri" pitchFamily="34" charset="-120"/>
              </a:rPr>
              <a:t>Phase 5</a:t>
            </a:r>
            <a:endParaRPr lang="en-US" sz="800" dirty="0"/>
          </a:p>
        </p:txBody>
      </p:sp>
      <p:sp>
        <p:nvSpPr>
          <p:cNvPr id="42" name="Shape 40"/>
          <p:cNvSpPr/>
          <p:nvPr/>
        </p:nvSpPr>
        <p:spPr>
          <a:xfrm>
            <a:off x="6492240" y="1389888"/>
            <a:ext cx="1143000" cy="347472"/>
          </a:xfrm>
          <a:prstGeom prst="rect">
            <a:avLst/>
          </a:prstGeom>
          <a:solidFill>
            <a:srgbClr val="6CB0F0"/>
          </a:solidFill>
          <a:ln w="12700">
            <a:solidFill>
              <a:srgbClr val="6CB0F0"/>
            </a:solidFill>
            <a:prstDash val="solid"/>
          </a:ln>
        </p:spPr>
        <p:txBody>
          <a:bodyPr/>
          <a:lstStyle/>
          <a:p>
            <a:endParaRPr lang="en-US"/>
          </a:p>
        </p:txBody>
      </p:sp>
      <p:sp>
        <p:nvSpPr>
          <p:cNvPr id="43" name="Text 41"/>
          <p:cNvSpPr/>
          <p:nvPr/>
        </p:nvSpPr>
        <p:spPr>
          <a:xfrm>
            <a:off x="6492240" y="1408176"/>
            <a:ext cx="114300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S5</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Authorize</a:t>
            </a:r>
            <a:endParaRPr lang="en-US" sz="850" dirty="0"/>
          </a:p>
        </p:txBody>
      </p:sp>
      <p:sp>
        <p:nvSpPr>
          <p:cNvPr id="44" name="Shape 42"/>
          <p:cNvSpPr/>
          <p:nvPr/>
        </p:nvSpPr>
        <p:spPr>
          <a:xfrm>
            <a:off x="7635240" y="1536192"/>
            <a:ext cx="91440" cy="54864"/>
          </a:xfrm>
          <a:prstGeom prst="rect">
            <a:avLst/>
          </a:prstGeom>
          <a:solidFill>
            <a:srgbClr val="CADCFC"/>
          </a:solidFill>
          <a:ln w="12700">
            <a:solidFill>
              <a:srgbClr val="CADCFC"/>
            </a:solidFill>
            <a:prstDash val="solid"/>
          </a:ln>
        </p:spPr>
        <p:txBody>
          <a:bodyPr/>
          <a:lstStyle/>
          <a:p>
            <a:endParaRPr lang="en-US"/>
          </a:p>
        </p:txBody>
      </p:sp>
      <p:sp>
        <p:nvSpPr>
          <p:cNvPr id="45" name="Shape 43"/>
          <p:cNvSpPr/>
          <p:nvPr/>
        </p:nvSpPr>
        <p:spPr>
          <a:xfrm>
            <a:off x="6492240" y="1792224"/>
            <a:ext cx="1143000" cy="26060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46" name="Shape 44"/>
          <p:cNvSpPr/>
          <p:nvPr/>
        </p:nvSpPr>
        <p:spPr>
          <a:xfrm>
            <a:off x="6492240" y="1792224"/>
            <a:ext cx="1143000" cy="27432"/>
          </a:xfrm>
          <a:prstGeom prst="rect">
            <a:avLst/>
          </a:prstGeom>
          <a:solidFill>
            <a:srgbClr val="6CB0F0"/>
          </a:solidFill>
          <a:ln w="12700">
            <a:solidFill>
              <a:srgbClr val="6CB0F0"/>
            </a:solidFill>
            <a:prstDash val="solid"/>
          </a:ln>
        </p:spPr>
        <p:txBody>
          <a:bodyPr/>
          <a:lstStyle/>
          <a:p>
            <a:endParaRPr lang="en-US"/>
          </a:p>
        </p:txBody>
      </p:sp>
      <p:sp>
        <p:nvSpPr>
          <p:cNvPr id="47" name="Text 45"/>
          <p:cNvSpPr/>
          <p:nvPr/>
        </p:nvSpPr>
        <p:spPr>
          <a:xfrm>
            <a:off x="6547104" y="1847088"/>
            <a:ext cx="1051560" cy="16459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Full package submitted to HRM AO via eMASS.</a:t>
            </a:r>
            <a:endParaRPr lang="en-US" sz="900" dirty="0"/>
          </a:p>
        </p:txBody>
      </p:sp>
      <p:sp>
        <p:nvSpPr>
          <p:cNvPr id="48" name="Text 46"/>
          <p:cNvSpPr/>
          <p:nvPr/>
        </p:nvSpPr>
        <p:spPr>
          <a:xfrm>
            <a:off x="6547104" y="4114800"/>
            <a:ext cx="1051560" cy="228600"/>
          </a:xfrm>
          <a:prstGeom prst="rect">
            <a:avLst/>
          </a:prstGeom>
          <a:noFill/>
          <a:ln/>
        </p:spPr>
        <p:txBody>
          <a:bodyPr wrap="square" lIns="0" tIns="0" rIns="0" bIns="0" rtlCol="0" anchor="ctr"/>
          <a:lstStyle/>
          <a:p>
            <a:pPr marL="0" indent="0">
              <a:buNone/>
            </a:pPr>
            <a:r>
              <a:rPr lang="en-US" sz="800" b="1" dirty="0">
                <a:solidFill>
                  <a:srgbClr val="6CB0F0"/>
                </a:solidFill>
                <a:latin typeface="Calibri" pitchFamily="34" charset="0"/>
                <a:ea typeface="Calibri" pitchFamily="34" charset="-122"/>
                <a:cs typeface="Calibri" pitchFamily="34" charset="-120"/>
              </a:rPr>
              <a:t>Phase 5</a:t>
            </a:r>
            <a:endParaRPr lang="en-US" sz="800" dirty="0"/>
          </a:p>
        </p:txBody>
      </p:sp>
      <p:sp>
        <p:nvSpPr>
          <p:cNvPr id="49" name="Shape 47"/>
          <p:cNvSpPr/>
          <p:nvPr/>
        </p:nvSpPr>
        <p:spPr>
          <a:xfrm>
            <a:off x="7726680" y="1389888"/>
            <a:ext cx="1143000" cy="347472"/>
          </a:xfrm>
          <a:prstGeom prst="rect">
            <a:avLst/>
          </a:prstGeom>
          <a:solidFill>
            <a:srgbClr val="7DC0FF"/>
          </a:solidFill>
          <a:ln w="12700">
            <a:solidFill>
              <a:srgbClr val="7DC0FF"/>
            </a:solidFill>
            <a:prstDash val="solid"/>
          </a:ln>
        </p:spPr>
        <p:txBody>
          <a:bodyPr/>
          <a:lstStyle/>
          <a:p>
            <a:endParaRPr lang="en-US"/>
          </a:p>
        </p:txBody>
      </p:sp>
      <p:sp>
        <p:nvSpPr>
          <p:cNvPr id="50" name="Text 48"/>
          <p:cNvSpPr/>
          <p:nvPr/>
        </p:nvSpPr>
        <p:spPr>
          <a:xfrm>
            <a:off x="7726680" y="1408176"/>
            <a:ext cx="114300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S6</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Monitor</a:t>
            </a:r>
            <a:endParaRPr lang="en-US" sz="850" dirty="0"/>
          </a:p>
        </p:txBody>
      </p:sp>
      <p:sp>
        <p:nvSpPr>
          <p:cNvPr id="51" name="Shape 49"/>
          <p:cNvSpPr/>
          <p:nvPr/>
        </p:nvSpPr>
        <p:spPr>
          <a:xfrm>
            <a:off x="7726680" y="1792224"/>
            <a:ext cx="1143000" cy="26060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52" name="Shape 50"/>
          <p:cNvSpPr/>
          <p:nvPr/>
        </p:nvSpPr>
        <p:spPr>
          <a:xfrm>
            <a:off x="7726680" y="1792224"/>
            <a:ext cx="1143000" cy="27432"/>
          </a:xfrm>
          <a:prstGeom prst="rect">
            <a:avLst/>
          </a:prstGeom>
          <a:solidFill>
            <a:srgbClr val="7DC0FF"/>
          </a:solidFill>
          <a:ln w="12700">
            <a:solidFill>
              <a:srgbClr val="7DC0FF"/>
            </a:solidFill>
            <a:prstDash val="solid"/>
          </a:ln>
        </p:spPr>
        <p:txBody>
          <a:bodyPr/>
          <a:lstStyle/>
          <a:p>
            <a:endParaRPr lang="en-US"/>
          </a:p>
        </p:txBody>
      </p:sp>
      <p:sp>
        <p:nvSpPr>
          <p:cNvPr id="53" name="Text 51"/>
          <p:cNvSpPr/>
          <p:nvPr/>
        </p:nvSpPr>
        <p:spPr>
          <a:xfrm>
            <a:off x="7781544" y="1847088"/>
            <a:ext cx="1051560" cy="1645920"/>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ConMon activated. System monitors itself with its own tools.</a:t>
            </a:r>
            <a:endParaRPr lang="en-US" sz="900" dirty="0"/>
          </a:p>
        </p:txBody>
      </p:sp>
      <p:sp>
        <p:nvSpPr>
          <p:cNvPr id="54" name="Text 52"/>
          <p:cNvSpPr/>
          <p:nvPr/>
        </p:nvSpPr>
        <p:spPr>
          <a:xfrm>
            <a:off x="7781544" y="4114800"/>
            <a:ext cx="1051560" cy="228600"/>
          </a:xfrm>
          <a:prstGeom prst="rect">
            <a:avLst/>
          </a:prstGeom>
          <a:noFill/>
          <a:ln/>
        </p:spPr>
        <p:txBody>
          <a:bodyPr wrap="square" lIns="0" tIns="0" rIns="0" bIns="0" rtlCol="0" anchor="ctr"/>
          <a:lstStyle/>
          <a:p>
            <a:pPr marL="0" indent="0">
              <a:buNone/>
            </a:pPr>
            <a:r>
              <a:rPr lang="en-US" sz="800" b="1" dirty="0">
                <a:solidFill>
                  <a:srgbClr val="7DC0FF"/>
                </a:solidFill>
                <a:latin typeface="Calibri" pitchFamily="34" charset="0"/>
                <a:ea typeface="Calibri" pitchFamily="34" charset="-122"/>
                <a:cs typeface="Calibri" pitchFamily="34" charset="-120"/>
              </a:rPr>
              <a:t>Post-ATO</a:t>
            </a:r>
            <a:endParaRPr lang="en-US" sz="800" dirty="0"/>
          </a:p>
        </p:txBody>
      </p:sp>
      <p:sp>
        <p:nvSpPr>
          <p:cNvPr id="55" name="Text 53"/>
          <p:cNvSpPr/>
          <p:nvPr/>
        </p:nvSpPr>
        <p:spPr>
          <a:xfrm>
            <a:off x="320040" y="4736592"/>
            <a:ext cx="8503920" cy="201168"/>
          </a:xfrm>
          <a:prstGeom prst="rect">
            <a:avLst/>
          </a:prstGeom>
          <a:noFill/>
          <a:ln/>
        </p:spPr>
        <p:txBody>
          <a:bodyPr wrap="square" lIns="0" tIns="0" rIns="0" bIns="0" rtlCol="0" anchor="ctr"/>
          <a:lstStyle/>
          <a:p>
            <a:pPr marL="0" indent="0">
              <a:buNone/>
            </a:pPr>
            <a:r>
              <a:rPr lang="en-US" sz="900" i="1" dirty="0">
                <a:solidFill>
                  <a:srgbClr val="4A90D9"/>
                </a:solidFill>
                <a:latin typeface="Calibri" pitchFamily="34" charset="0"/>
                <a:ea typeface="Calibri" pitchFamily="34" charset="-122"/>
                <a:cs typeface="Calibri" pitchFamily="34" charset="-120"/>
              </a:rPr>
              <a:t>No operational data is accessed and no features are deployed to users prior to ATO issuance.</a:t>
            </a:r>
            <a:endParaRPr lang="en-US" sz="900" dirty="0"/>
          </a:p>
        </p:txBody>
      </p:sp>
      <p:sp>
        <p:nvSpPr>
          <p:cNvPr id="57" name="Text 54"/>
          <p:cNvSpPr/>
          <p:nvPr/>
        </p:nvSpPr>
        <p:spPr>
          <a:xfrm>
            <a:off x="0" y="4956048"/>
            <a:ext cx="9144000" cy="182880"/>
          </a:xfrm>
          <a:prstGeom prst="rect">
            <a:avLst/>
          </a:prstGeom>
          <a:noFill/>
          <a:ln/>
        </p:spPr>
        <p:txBody>
          <a:bodyPr wrap="square" lIns="0" tIns="0" rIns="0" bIns="0" rtlCol="0" anchor="ctr"/>
          <a:lstStyle/>
          <a:p>
            <a:pPr marL="0" indent="0" algn="ctr">
              <a:buNone/>
            </a:pPr>
            <a:r>
              <a:rPr lang="en-US" sz="800" b="1" dirty="0">
                <a:solidFill>
                  <a:srgbClr val="8A9FCC"/>
                </a:solidFill>
                <a:latin typeface="Calibri" pitchFamily="34" charset="0"/>
                <a:ea typeface="Calibri" pitchFamily="34" charset="-122"/>
                <a:cs typeface="Calibri" pitchFamily="34" charset="-120"/>
              </a:rPr>
              <a:t>UNCLASSIFIED // FOR OFFICIAL USE ONLY</a:t>
            </a:r>
            <a:endParaRPr lang="en-US" sz="800" dirty="0"/>
          </a:p>
        </p:txBody>
      </p:sp>
      <p:sp>
        <p:nvSpPr>
          <p:cNvPr id="58" name="Text 55"/>
          <p:cNvSpPr/>
          <p:nvPr/>
        </p:nvSpPr>
        <p:spPr>
          <a:xfrm>
            <a:off x="8046720" y="4956048"/>
            <a:ext cx="1097280" cy="182880"/>
          </a:xfrm>
          <a:prstGeom prst="rect">
            <a:avLst/>
          </a:prstGeom>
          <a:noFill/>
          <a:ln/>
        </p:spPr>
        <p:txBody>
          <a:bodyPr wrap="square" lIns="0" tIns="0" rIns="0" bIns="0" rtlCol="0" anchor="ctr"/>
          <a:lstStyle/>
          <a:p>
            <a:pPr marL="0" indent="0" algn="r">
              <a:buNone/>
            </a:pPr>
            <a:r>
              <a:rPr lang="en-US" sz="800" dirty="0">
                <a:solidFill>
                  <a:srgbClr val="8A9FCC"/>
                </a:solidFill>
                <a:latin typeface="Calibri" pitchFamily="34" charset="0"/>
                <a:ea typeface="Calibri" pitchFamily="34" charset="-122"/>
                <a:cs typeface="Calibri" pitchFamily="34" charset="-120"/>
              </a:rPr>
              <a:t>10 / 12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4A90D9"/>
          </a:solidFill>
          <a:ln w="12700">
            <a:solidFill>
              <a:srgbClr val="4A90D9"/>
            </a:solidFill>
            <a:prstDash val="solid"/>
          </a:ln>
        </p:spPr>
        <p:txBody>
          <a:bodyPr/>
          <a:lstStyle/>
          <a:p>
            <a:endParaRPr lang="en-US"/>
          </a:p>
        </p:txBody>
      </p:sp>
      <p:sp>
        <p:nvSpPr>
          <p:cNvPr id="3" name="Text 1"/>
          <p:cNvSpPr/>
          <p:nvPr/>
        </p:nvSpPr>
        <p:spPr>
          <a:xfrm>
            <a:off x="320040" y="164592"/>
            <a:ext cx="7315200" cy="201168"/>
          </a:xfrm>
          <a:prstGeom prst="rect">
            <a:avLst/>
          </a:prstGeom>
          <a:noFill/>
          <a:ln/>
        </p:spPr>
        <p:txBody>
          <a:bodyPr wrap="square" lIns="0" tIns="0" rIns="0" bIns="0" rtlCol="0" anchor="ctr"/>
          <a:lstStyle/>
          <a:p>
            <a:pPr marL="0" indent="0">
              <a:buNone/>
            </a:pPr>
            <a:r>
              <a:rPr lang="en-US" sz="850" b="1" kern="0" spc="300" dirty="0">
                <a:solidFill>
                  <a:srgbClr val="4A90D9"/>
                </a:solidFill>
                <a:latin typeface="Calibri" pitchFamily="34" charset="0"/>
                <a:ea typeface="Calibri" pitchFamily="34" charset="-122"/>
                <a:cs typeface="Calibri" pitchFamily="34" charset="-120"/>
              </a:rPr>
              <a:t>07  DECISION REQUESTED</a:t>
            </a:r>
            <a:endParaRPr lang="en-US" sz="850" dirty="0"/>
          </a:p>
        </p:txBody>
      </p:sp>
      <p:sp>
        <p:nvSpPr>
          <p:cNvPr id="4" name="Text 2"/>
          <p:cNvSpPr/>
          <p:nvPr/>
        </p:nvSpPr>
        <p:spPr>
          <a:xfrm>
            <a:off x="320040" y="411480"/>
            <a:ext cx="8503920" cy="50292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What We Are Asking the AO to Approve</a:t>
            </a:r>
            <a:endParaRPr lang="en-US" sz="2600" dirty="0"/>
          </a:p>
        </p:txBody>
      </p:sp>
      <p:sp>
        <p:nvSpPr>
          <p:cNvPr id="5" name="Shape 3"/>
          <p:cNvSpPr/>
          <p:nvPr/>
        </p:nvSpPr>
        <p:spPr>
          <a:xfrm>
            <a:off x="320040" y="960120"/>
            <a:ext cx="8503920" cy="18288"/>
          </a:xfrm>
          <a:prstGeom prst="rect">
            <a:avLst/>
          </a:prstGeom>
          <a:solidFill>
            <a:srgbClr val="CADCFC"/>
          </a:solidFill>
          <a:ln w="12700">
            <a:solidFill>
              <a:srgbClr val="CADCFC"/>
            </a:solidFill>
            <a:prstDash val="solid"/>
          </a:ln>
        </p:spPr>
        <p:txBody>
          <a:bodyPr/>
          <a:lstStyle/>
          <a:p>
            <a:endParaRPr lang="en-US"/>
          </a:p>
        </p:txBody>
      </p:sp>
      <p:sp>
        <p:nvSpPr>
          <p:cNvPr id="6" name="Shape 4"/>
          <p:cNvSpPr/>
          <p:nvPr/>
        </p:nvSpPr>
        <p:spPr>
          <a:xfrm>
            <a:off x="320040" y="987552"/>
            <a:ext cx="8503920" cy="621792"/>
          </a:xfrm>
          <a:prstGeom prst="rect">
            <a:avLst/>
          </a:prstGeom>
          <a:solidFill>
            <a:srgbClr val="FFFFFF"/>
          </a:solidFill>
          <a:ln/>
          <a:effectLst>
            <a:outerShdw blurRad="50800" dist="12700" dir="8100000" algn="bl" rotWithShape="0">
              <a:srgbClr val="000000">
                <a:alpha val="7000"/>
              </a:srgbClr>
            </a:outerShdw>
          </a:effectLst>
        </p:spPr>
        <p:txBody>
          <a:bodyPr/>
          <a:lstStyle/>
          <a:p>
            <a:endParaRPr lang="en-US"/>
          </a:p>
        </p:txBody>
      </p:sp>
      <p:sp>
        <p:nvSpPr>
          <p:cNvPr id="7" name="Shape 5"/>
          <p:cNvSpPr/>
          <p:nvPr/>
        </p:nvSpPr>
        <p:spPr>
          <a:xfrm>
            <a:off x="320040" y="987552"/>
            <a:ext cx="457200" cy="621792"/>
          </a:xfrm>
          <a:prstGeom prst="rect">
            <a:avLst/>
          </a:prstGeom>
          <a:solidFill>
            <a:srgbClr val="1E2761"/>
          </a:solidFill>
          <a:ln w="12700">
            <a:solidFill>
              <a:srgbClr val="1E2761"/>
            </a:solidFill>
            <a:prstDash val="solid"/>
          </a:ln>
        </p:spPr>
        <p:txBody>
          <a:bodyPr/>
          <a:lstStyle/>
          <a:p>
            <a:endParaRPr lang="en-US"/>
          </a:p>
        </p:txBody>
      </p:sp>
      <p:sp>
        <p:nvSpPr>
          <p:cNvPr id="8" name="Text 6"/>
          <p:cNvSpPr/>
          <p:nvPr/>
        </p:nvSpPr>
        <p:spPr>
          <a:xfrm>
            <a:off x="320040" y="1060704"/>
            <a:ext cx="45720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9" name="Text 7"/>
          <p:cNvSpPr/>
          <p:nvPr/>
        </p:nvSpPr>
        <p:spPr>
          <a:xfrm>
            <a:off x="868680" y="1024128"/>
            <a:ext cx="274320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Controlled Prototype + Pilot</a:t>
            </a:r>
            <a:endParaRPr lang="en-US" sz="1150" dirty="0"/>
          </a:p>
        </p:txBody>
      </p:sp>
      <p:sp>
        <p:nvSpPr>
          <p:cNvPr id="10" name="Text 8"/>
          <p:cNvSpPr/>
          <p:nvPr/>
        </p:nvSpPr>
        <p:spPr>
          <a:xfrm>
            <a:off x="868680" y="1280160"/>
            <a:ext cx="7909560" cy="29260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Approve development of a prototype and authorize a 90-day pilot using mock, sandbox, or test data only.</a:t>
            </a:r>
            <a:endParaRPr lang="en-US" sz="950" dirty="0"/>
          </a:p>
        </p:txBody>
      </p:sp>
      <p:sp>
        <p:nvSpPr>
          <p:cNvPr id="11" name="Shape 9"/>
          <p:cNvSpPr/>
          <p:nvPr/>
        </p:nvSpPr>
        <p:spPr>
          <a:xfrm>
            <a:off x="320040" y="1664208"/>
            <a:ext cx="8503920" cy="621792"/>
          </a:xfrm>
          <a:prstGeom prst="rect">
            <a:avLst/>
          </a:prstGeom>
          <a:solidFill>
            <a:srgbClr val="EEF3FC"/>
          </a:solidFill>
          <a:ln/>
          <a:effectLst>
            <a:outerShdw blurRad="50800" dist="12700" dir="8100000" algn="bl" rotWithShape="0">
              <a:srgbClr val="000000">
                <a:alpha val="7000"/>
              </a:srgbClr>
            </a:outerShdw>
          </a:effectLst>
        </p:spPr>
        <p:txBody>
          <a:bodyPr/>
          <a:lstStyle/>
          <a:p>
            <a:endParaRPr lang="en-US"/>
          </a:p>
        </p:txBody>
      </p:sp>
      <p:sp>
        <p:nvSpPr>
          <p:cNvPr id="12" name="Shape 10"/>
          <p:cNvSpPr/>
          <p:nvPr/>
        </p:nvSpPr>
        <p:spPr>
          <a:xfrm>
            <a:off x="320040" y="1664208"/>
            <a:ext cx="457200" cy="621792"/>
          </a:xfrm>
          <a:prstGeom prst="rect">
            <a:avLst/>
          </a:prstGeom>
          <a:solidFill>
            <a:srgbClr val="1E2761"/>
          </a:solidFill>
          <a:ln w="12700">
            <a:solidFill>
              <a:srgbClr val="1E2761"/>
            </a:solidFill>
            <a:prstDash val="solid"/>
          </a:ln>
        </p:spPr>
        <p:txBody>
          <a:bodyPr/>
          <a:lstStyle/>
          <a:p>
            <a:endParaRPr lang="en-US"/>
          </a:p>
        </p:txBody>
      </p:sp>
      <p:sp>
        <p:nvSpPr>
          <p:cNvPr id="13" name="Text 11"/>
          <p:cNvSpPr/>
          <p:nvPr/>
        </p:nvSpPr>
        <p:spPr>
          <a:xfrm>
            <a:off x="320040" y="1737360"/>
            <a:ext cx="45720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4" name="Text 12"/>
          <p:cNvSpPr/>
          <p:nvPr/>
        </p:nvSpPr>
        <p:spPr>
          <a:xfrm>
            <a:off x="868680" y="1700784"/>
            <a:ext cx="274320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Stakeholder Coordination</a:t>
            </a:r>
            <a:endParaRPr lang="en-US" sz="1150" dirty="0"/>
          </a:p>
        </p:txBody>
      </p:sp>
      <p:sp>
        <p:nvSpPr>
          <p:cNvPr id="15" name="Text 13"/>
          <p:cNvSpPr/>
          <p:nvPr/>
        </p:nvSpPr>
        <p:spPr>
          <a:xfrm>
            <a:off x="868680" y="1956816"/>
            <a:ext cx="7909560" cy="29260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Authorize architecture review, test data coordination, and stakeholder validation with ISSMs, ISSOs, and AO support staff.</a:t>
            </a:r>
            <a:endParaRPr lang="en-US" sz="950" dirty="0"/>
          </a:p>
        </p:txBody>
      </p:sp>
      <p:sp>
        <p:nvSpPr>
          <p:cNvPr id="16" name="Shape 14"/>
          <p:cNvSpPr/>
          <p:nvPr/>
        </p:nvSpPr>
        <p:spPr>
          <a:xfrm>
            <a:off x="320040" y="2340864"/>
            <a:ext cx="8503920" cy="621792"/>
          </a:xfrm>
          <a:prstGeom prst="rect">
            <a:avLst/>
          </a:prstGeom>
          <a:solidFill>
            <a:srgbClr val="FFFFFF"/>
          </a:solidFill>
          <a:ln/>
          <a:effectLst>
            <a:outerShdw blurRad="50800" dist="12700" dir="8100000" algn="bl" rotWithShape="0">
              <a:srgbClr val="000000">
                <a:alpha val="7000"/>
              </a:srgbClr>
            </a:outerShdw>
          </a:effectLst>
        </p:spPr>
        <p:txBody>
          <a:bodyPr/>
          <a:lstStyle/>
          <a:p>
            <a:endParaRPr lang="en-US"/>
          </a:p>
        </p:txBody>
      </p:sp>
      <p:sp>
        <p:nvSpPr>
          <p:cNvPr id="17" name="Shape 15"/>
          <p:cNvSpPr/>
          <p:nvPr/>
        </p:nvSpPr>
        <p:spPr>
          <a:xfrm>
            <a:off x="320040" y="2340864"/>
            <a:ext cx="457200" cy="621792"/>
          </a:xfrm>
          <a:prstGeom prst="rect">
            <a:avLst/>
          </a:prstGeom>
          <a:solidFill>
            <a:srgbClr val="1E2761"/>
          </a:solidFill>
          <a:ln w="12700">
            <a:solidFill>
              <a:srgbClr val="1E2761"/>
            </a:solidFill>
            <a:prstDash val="solid"/>
          </a:ln>
        </p:spPr>
        <p:txBody>
          <a:bodyPr/>
          <a:lstStyle/>
          <a:p>
            <a:endParaRPr lang="en-US"/>
          </a:p>
        </p:txBody>
      </p:sp>
      <p:sp>
        <p:nvSpPr>
          <p:cNvPr id="18" name="Text 16"/>
          <p:cNvSpPr/>
          <p:nvPr/>
        </p:nvSpPr>
        <p:spPr>
          <a:xfrm>
            <a:off x="320040" y="2414016"/>
            <a:ext cx="45720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9" name="Text 17"/>
          <p:cNvSpPr/>
          <p:nvPr/>
        </p:nvSpPr>
        <p:spPr>
          <a:xfrm>
            <a:off x="868680" y="2377440"/>
            <a:ext cx="274320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eMASS API Endorsement</a:t>
            </a:r>
            <a:endParaRPr lang="en-US" sz="1150" dirty="0"/>
          </a:p>
        </p:txBody>
      </p:sp>
      <p:sp>
        <p:nvSpPr>
          <p:cNvPr id="20" name="Text 18"/>
          <p:cNvSpPr/>
          <p:nvPr/>
        </p:nvSpPr>
        <p:spPr>
          <a:xfrm>
            <a:off x="868680" y="2633472"/>
            <a:ext cx="7909560" cy="29260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Endorse the eMASS REST API access request to DISA for test/sandbox provisioning only.</a:t>
            </a:r>
            <a:endParaRPr lang="en-US" sz="950" dirty="0"/>
          </a:p>
        </p:txBody>
      </p:sp>
      <p:sp>
        <p:nvSpPr>
          <p:cNvPr id="21" name="Shape 19"/>
          <p:cNvSpPr/>
          <p:nvPr/>
        </p:nvSpPr>
        <p:spPr>
          <a:xfrm>
            <a:off x="320040" y="3017520"/>
            <a:ext cx="8503920" cy="621792"/>
          </a:xfrm>
          <a:prstGeom prst="rect">
            <a:avLst/>
          </a:prstGeom>
          <a:solidFill>
            <a:srgbClr val="EEF3FC"/>
          </a:solidFill>
          <a:ln/>
          <a:effectLst>
            <a:outerShdw blurRad="50800" dist="12700" dir="8100000" algn="bl" rotWithShape="0">
              <a:srgbClr val="000000">
                <a:alpha val="7000"/>
              </a:srgbClr>
            </a:outerShdw>
          </a:effectLst>
        </p:spPr>
        <p:txBody>
          <a:bodyPr/>
          <a:lstStyle/>
          <a:p>
            <a:endParaRPr lang="en-US"/>
          </a:p>
        </p:txBody>
      </p:sp>
      <p:sp>
        <p:nvSpPr>
          <p:cNvPr id="22" name="Shape 20"/>
          <p:cNvSpPr/>
          <p:nvPr/>
        </p:nvSpPr>
        <p:spPr>
          <a:xfrm>
            <a:off x="320040" y="3017520"/>
            <a:ext cx="457200" cy="621792"/>
          </a:xfrm>
          <a:prstGeom prst="rect">
            <a:avLst/>
          </a:prstGeom>
          <a:solidFill>
            <a:srgbClr val="1E2761"/>
          </a:solidFill>
          <a:ln w="12700">
            <a:solidFill>
              <a:srgbClr val="1E2761"/>
            </a:solidFill>
            <a:prstDash val="solid"/>
          </a:ln>
        </p:spPr>
        <p:txBody>
          <a:bodyPr/>
          <a:lstStyle/>
          <a:p>
            <a:endParaRPr lang="en-US"/>
          </a:p>
        </p:txBody>
      </p:sp>
      <p:sp>
        <p:nvSpPr>
          <p:cNvPr id="23" name="Text 21"/>
          <p:cNvSpPr/>
          <p:nvPr/>
        </p:nvSpPr>
        <p:spPr>
          <a:xfrm>
            <a:off x="320040" y="3090672"/>
            <a:ext cx="45720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4" name="Text 22"/>
          <p:cNvSpPr/>
          <p:nvPr/>
        </p:nvSpPr>
        <p:spPr>
          <a:xfrm>
            <a:off x="868680" y="3054096"/>
            <a:ext cx="274320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Phase 1 Activities</a:t>
            </a:r>
            <a:endParaRPr lang="en-US" sz="1150" dirty="0"/>
          </a:p>
        </p:txBody>
      </p:sp>
      <p:sp>
        <p:nvSpPr>
          <p:cNvPr id="25" name="Text 23"/>
          <p:cNvSpPr/>
          <p:nvPr/>
        </p:nvSpPr>
        <p:spPr>
          <a:xfrm>
            <a:off x="868680" y="3310128"/>
            <a:ext cx="7909560" cy="29260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Approve DoD cloud tenant provisioning, MDM enrollment for dev devices, and eMASS system registration for RMF Commander's own authorization.</a:t>
            </a:r>
            <a:endParaRPr lang="en-US" sz="950" dirty="0"/>
          </a:p>
        </p:txBody>
      </p:sp>
      <p:sp>
        <p:nvSpPr>
          <p:cNvPr id="26" name="Shape 24"/>
          <p:cNvSpPr/>
          <p:nvPr/>
        </p:nvSpPr>
        <p:spPr>
          <a:xfrm>
            <a:off x="320040" y="3694176"/>
            <a:ext cx="8503920" cy="621792"/>
          </a:xfrm>
          <a:prstGeom prst="rect">
            <a:avLst/>
          </a:prstGeom>
          <a:solidFill>
            <a:srgbClr val="FFFFFF"/>
          </a:solidFill>
          <a:ln/>
          <a:effectLst>
            <a:outerShdw blurRad="50800" dist="12700" dir="8100000" algn="bl" rotWithShape="0">
              <a:srgbClr val="000000">
                <a:alpha val="7000"/>
              </a:srgbClr>
            </a:outerShdw>
          </a:effectLst>
        </p:spPr>
        <p:txBody>
          <a:bodyPr/>
          <a:lstStyle/>
          <a:p>
            <a:endParaRPr lang="en-US"/>
          </a:p>
        </p:txBody>
      </p:sp>
      <p:sp>
        <p:nvSpPr>
          <p:cNvPr id="27" name="Shape 25"/>
          <p:cNvSpPr/>
          <p:nvPr/>
        </p:nvSpPr>
        <p:spPr>
          <a:xfrm>
            <a:off x="320040" y="3694176"/>
            <a:ext cx="457200" cy="621792"/>
          </a:xfrm>
          <a:prstGeom prst="rect">
            <a:avLst/>
          </a:prstGeom>
          <a:solidFill>
            <a:srgbClr val="1E2761"/>
          </a:solidFill>
          <a:ln w="12700">
            <a:solidFill>
              <a:srgbClr val="1E2761"/>
            </a:solidFill>
            <a:prstDash val="solid"/>
          </a:ln>
        </p:spPr>
        <p:txBody>
          <a:bodyPr/>
          <a:lstStyle/>
          <a:p>
            <a:endParaRPr lang="en-US"/>
          </a:p>
        </p:txBody>
      </p:sp>
      <p:sp>
        <p:nvSpPr>
          <p:cNvPr id="28" name="Text 26"/>
          <p:cNvSpPr/>
          <p:nvPr/>
        </p:nvSpPr>
        <p:spPr>
          <a:xfrm>
            <a:off x="320040" y="3767328"/>
            <a:ext cx="45720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05</a:t>
            </a:r>
            <a:endParaRPr lang="en-US" sz="1800" dirty="0"/>
          </a:p>
        </p:txBody>
      </p:sp>
      <p:sp>
        <p:nvSpPr>
          <p:cNvPr id="29" name="Text 27"/>
          <p:cNvSpPr/>
          <p:nvPr/>
        </p:nvSpPr>
        <p:spPr>
          <a:xfrm>
            <a:off x="868680" y="3730752"/>
            <a:ext cx="274320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30-Day AO Touchpoints</a:t>
            </a:r>
            <a:endParaRPr lang="en-US" sz="1150" dirty="0"/>
          </a:p>
        </p:txBody>
      </p:sp>
      <p:sp>
        <p:nvSpPr>
          <p:cNvPr id="30" name="Text 28"/>
          <p:cNvSpPr/>
          <p:nvPr/>
        </p:nvSpPr>
        <p:spPr>
          <a:xfrm>
            <a:off x="868680" y="3986784"/>
            <a:ext cx="7909560" cy="29260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Establish a recurring monthly status touchpoint between ISSM and the AO office throughout the pilot.</a:t>
            </a:r>
            <a:endParaRPr lang="en-US" sz="950" dirty="0"/>
          </a:p>
        </p:txBody>
      </p:sp>
      <p:sp>
        <p:nvSpPr>
          <p:cNvPr id="31" name="Shape 29"/>
          <p:cNvSpPr/>
          <p:nvPr/>
        </p:nvSpPr>
        <p:spPr>
          <a:xfrm>
            <a:off x="320040" y="4645152"/>
            <a:ext cx="8503920" cy="274320"/>
          </a:xfrm>
          <a:prstGeom prst="rect">
            <a:avLst/>
          </a:prstGeom>
          <a:solidFill>
            <a:srgbClr val="0F1A3D"/>
          </a:solidFill>
          <a:ln w="12700">
            <a:solidFill>
              <a:srgbClr val="0F1A3D"/>
            </a:solidFill>
            <a:prstDash val="solid"/>
          </a:ln>
        </p:spPr>
        <p:txBody>
          <a:bodyPr/>
          <a:lstStyle/>
          <a:p>
            <a:endParaRPr lang="en-US"/>
          </a:p>
        </p:txBody>
      </p:sp>
      <p:sp>
        <p:nvSpPr>
          <p:cNvPr id="32" name="Text 30"/>
          <p:cNvSpPr/>
          <p:nvPr/>
        </p:nvSpPr>
        <p:spPr>
          <a:xfrm>
            <a:off x="320040" y="4608576"/>
            <a:ext cx="8503920" cy="201168"/>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Production data integration, eMASS write-back, and live operational deployment are separate future decisions requiring additional AO approval.</a:t>
            </a:r>
            <a:endParaRPr lang="en-US" sz="900" dirty="0"/>
          </a:p>
        </p:txBody>
      </p:sp>
      <p:sp>
        <p:nvSpPr>
          <p:cNvPr id="34" name="Text 31"/>
          <p:cNvSpPr/>
          <p:nvPr/>
        </p:nvSpPr>
        <p:spPr>
          <a:xfrm>
            <a:off x="0" y="4956048"/>
            <a:ext cx="9144000" cy="182880"/>
          </a:xfrm>
          <a:prstGeom prst="rect">
            <a:avLst/>
          </a:prstGeom>
          <a:noFill/>
          <a:ln/>
        </p:spPr>
        <p:txBody>
          <a:bodyPr wrap="square" lIns="0" tIns="0" rIns="0" bIns="0" rtlCol="0" anchor="ctr"/>
          <a:lstStyle/>
          <a:p>
            <a:pPr marL="0" indent="0" algn="ctr">
              <a:buNone/>
            </a:pPr>
            <a:r>
              <a:rPr lang="en-US" sz="800" b="1" dirty="0">
                <a:solidFill>
                  <a:srgbClr val="8A9FCC"/>
                </a:solidFill>
                <a:latin typeface="Calibri" pitchFamily="34" charset="0"/>
                <a:ea typeface="Calibri" pitchFamily="34" charset="-122"/>
                <a:cs typeface="Calibri" pitchFamily="34" charset="-120"/>
              </a:rPr>
              <a:t>UNCLASSIFIED // FOR OFFICIAL USE ONLY</a:t>
            </a:r>
            <a:endParaRPr lang="en-US" sz="800" dirty="0"/>
          </a:p>
        </p:txBody>
      </p:sp>
      <p:sp>
        <p:nvSpPr>
          <p:cNvPr id="35" name="Text 32"/>
          <p:cNvSpPr/>
          <p:nvPr/>
        </p:nvSpPr>
        <p:spPr>
          <a:xfrm>
            <a:off x="8046720" y="4956048"/>
            <a:ext cx="1097280" cy="182880"/>
          </a:xfrm>
          <a:prstGeom prst="rect">
            <a:avLst/>
          </a:prstGeom>
          <a:noFill/>
          <a:ln/>
        </p:spPr>
        <p:txBody>
          <a:bodyPr wrap="square" lIns="0" tIns="0" rIns="0" bIns="0" rtlCol="0" anchor="ctr"/>
          <a:lstStyle/>
          <a:p>
            <a:pPr marL="0" indent="0" algn="r">
              <a:buNone/>
            </a:pPr>
            <a:r>
              <a:rPr lang="en-US" sz="800" dirty="0">
                <a:solidFill>
                  <a:srgbClr val="8A9FCC"/>
                </a:solidFill>
                <a:latin typeface="Calibri" pitchFamily="34" charset="0"/>
                <a:ea typeface="Calibri" pitchFamily="34" charset="-122"/>
                <a:cs typeface="Calibri" pitchFamily="34" charset="-120"/>
              </a:rPr>
              <a:t>11 / 12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w="12700">
            <a:solidFill>
              <a:srgbClr val="1E2761"/>
            </a:solidFill>
            <a:prstDash val="solid"/>
          </a:ln>
        </p:spPr>
        <p:txBody>
          <a:bodyPr/>
          <a:lstStyle/>
          <a:p>
            <a:endParaRPr lang="en-US"/>
          </a:p>
        </p:txBody>
      </p:sp>
      <p:sp>
        <p:nvSpPr>
          <p:cNvPr id="3" name="Shape 1"/>
          <p:cNvSpPr/>
          <p:nvPr/>
        </p:nvSpPr>
        <p:spPr>
          <a:xfrm>
            <a:off x="0" y="0"/>
            <a:ext cx="9144000" cy="73152"/>
          </a:xfrm>
          <a:prstGeom prst="rect">
            <a:avLst/>
          </a:prstGeom>
          <a:solidFill>
            <a:srgbClr val="4A90D9"/>
          </a:solidFill>
          <a:ln w="12700">
            <a:solidFill>
              <a:srgbClr val="4A90D9"/>
            </a:solidFill>
            <a:prstDash val="solid"/>
          </a:ln>
        </p:spPr>
        <p:txBody>
          <a:bodyPr/>
          <a:lstStyle/>
          <a:p>
            <a:endParaRPr lang="en-US"/>
          </a:p>
        </p:txBody>
      </p:sp>
      <p:sp>
        <p:nvSpPr>
          <p:cNvPr id="4" name="Text 2"/>
          <p:cNvSpPr/>
          <p:nvPr/>
        </p:nvSpPr>
        <p:spPr>
          <a:xfrm>
            <a:off x="548640" y="640080"/>
            <a:ext cx="8046720"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RMF COMMANDER</a:t>
            </a:r>
            <a:endParaRPr lang="en-US" sz="4400" dirty="0"/>
          </a:p>
        </p:txBody>
      </p:sp>
      <p:sp>
        <p:nvSpPr>
          <p:cNvPr id="5" name="Text 3"/>
          <p:cNvSpPr/>
          <p:nvPr/>
        </p:nvSpPr>
        <p:spPr>
          <a:xfrm>
            <a:off x="548640" y="1600200"/>
            <a:ext cx="8046720" cy="365760"/>
          </a:xfrm>
          <a:prstGeom prst="rect">
            <a:avLst/>
          </a:prstGeom>
          <a:noFill/>
          <a:ln/>
        </p:spPr>
        <p:txBody>
          <a:bodyPr wrap="square" lIns="0" tIns="0" rIns="0" bIns="0"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Controlled Prototype and Pilot — Request for AO Approval</a:t>
            </a:r>
            <a:endParaRPr lang="en-US" sz="1600" dirty="0"/>
          </a:p>
        </p:txBody>
      </p:sp>
      <p:sp>
        <p:nvSpPr>
          <p:cNvPr id="6" name="Shape 4"/>
          <p:cNvSpPr/>
          <p:nvPr/>
        </p:nvSpPr>
        <p:spPr>
          <a:xfrm>
            <a:off x="2286000" y="2084832"/>
            <a:ext cx="4572000" cy="36576"/>
          </a:xfrm>
          <a:prstGeom prst="rect">
            <a:avLst/>
          </a:prstGeom>
          <a:solidFill>
            <a:srgbClr val="4A90D9"/>
          </a:solidFill>
          <a:ln w="12700">
            <a:solidFill>
              <a:srgbClr val="4A90D9"/>
            </a:solidFill>
            <a:prstDash val="solid"/>
          </a:ln>
        </p:spPr>
        <p:txBody>
          <a:bodyPr/>
          <a:lstStyle/>
          <a:p>
            <a:endParaRPr lang="en-US"/>
          </a:p>
        </p:txBody>
      </p:sp>
      <p:sp>
        <p:nvSpPr>
          <p:cNvPr id="7" name="Text 5"/>
          <p:cNvSpPr/>
          <p:nvPr/>
        </p:nvSpPr>
        <p:spPr>
          <a:xfrm>
            <a:off x="548640" y="2286000"/>
            <a:ext cx="804672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Prepared by: Leo Christie</a:t>
            </a:r>
            <a:endParaRPr lang="en-US" sz="1200" dirty="0"/>
          </a:p>
        </p:txBody>
      </p:sp>
      <p:sp>
        <p:nvSpPr>
          <p:cNvPr id="8" name="Text 6"/>
          <p:cNvSpPr/>
          <p:nvPr/>
        </p:nvSpPr>
        <p:spPr>
          <a:xfrm>
            <a:off x="548640" y="2542032"/>
            <a:ext cx="8046720" cy="182880"/>
          </a:xfrm>
          <a:prstGeom prst="rect">
            <a:avLst/>
          </a:prstGeom>
          <a:noFill/>
          <a:ln/>
        </p:spPr>
        <p:txBody>
          <a:bodyPr wrap="square" lIns="0" tIns="0" rIns="0" bIns="0" rtlCol="0" anchor="ctr"/>
          <a:lstStyle/>
          <a:p>
            <a:pPr marL="0" indent="0" algn="ctr">
              <a:buNone/>
            </a:pPr>
            <a:r>
              <a:rPr lang="en-US" sz="1000" dirty="0">
                <a:solidFill>
                  <a:srgbClr val="8A9FCC"/>
                </a:solidFill>
                <a:latin typeface="Calibri" pitchFamily="34" charset="0"/>
                <a:ea typeface="Calibri" pitchFamily="34" charset="-122"/>
                <a:cs typeface="Calibri" pitchFamily="34" charset="-120"/>
              </a:rPr>
              <a:t>Air Force Services Center · VTOS / Cybersecurity Division · JBSA-Lackland TX</a:t>
            </a:r>
            <a:endParaRPr lang="en-US" sz="1000" dirty="0"/>
          </a:p>
        </p:txBody>
      </p:sp>
      <p:sp>
        <p:nvSpPr>
          <p:cNvPr id="9" name="Text 7"/>
          <p:cNvSpPr/>
          <p:nvPr/>
        </p:nvSpPr>
        <p:spPr>
          <a:xfrm>
            <a:off x="548640" y="2907792"/>
            <a:ext cx="804672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Submitted to: Francisco Salguero, SES</a:t>
            </a:r>
            <a:endParaRPr lang="en-US" sz="1200" dirty="0"/>
          </a:p>
        </p:txBody>
      </p:sp>
      <p:sp>
        <p:nvSpPr>
          <p:cNvPr id="10" name="Text 8"/>
          <p:cNvSpPr/>
          <p:nvPr/>
        </p:nvSpPr>
        <p:spPr>
          <a:xfrm>
            <a:off x="548640" y="3163824"/>
            <a:ext cx="8046720" cy="182880"/>
          </a:xfrm>
          <a:prstGeom prst="rect">
            <a:avLst/>
          </a:prstGeom>
          <a:noFill/>
          <a:ln/>
        </p:spPr>
        <p:txBody>
          <a:bodyPr wrap="square" lIns="0" tIns="0" rIns="0" bIns="0" rtlCol="0" anchor="ctr"/>
          <a:lstStyle/>
          <a:p>
            <a:pPr marL="0" indent="0" algn="ctr">
              <a:buNone/>
            </a:pPr>
            <a:r>
              <a:rPr lang="en-US" sz="1000" dirty="0">
                <a:solidFill>
                  <a:srgbClr val="8A9FCC"/>
                </a:solidFill>
                <a:latin typeface="Calibri" pitchFamily="34" charset="0"/>
                <a:ea typeface="Calibri" pitchFamily="34" charset="-122"/>
                <a:cs typeface="Calibri" pitchFamily="34" charset="-120"/>
              </a:rPr>
              <a:t>NAFI Authorizing Official · USAF HAF AF/A1X</a:t>
            </a:r>
            <a:endParaRPr lang="en-US" sz="1000" dirty="0"/>
          </a:p>
        </p:txBody>
      </p:sp>
      <p:sp>
        <p:nvSpPr>
          <p:cNvPr id="11" name="Text 9"/>
          <p:cNvSpPr/>
          <p:nvPr/>
        </p:nvSpPr>
        <p:spPr>
          <a:xfrm>
            <a:off x="548640" y="3529584"/>
            <a:ext cx="804672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22 May 2026</a:t>
            </a:r>
            <a:endParaRPr lang="en-US" sz="1200" dirty="0"/>
          </a:p>
        </p:txBody>
      </p:sp>
      <p:sp>
        <p:nvSpPr>
          <p:cNvPr id="12" name="Shape 10"/>
          <p:cNvSpPr/>
          <p:nvPr/>
        </p:nvSpPr>
        <p:spPr>
          <a:xfrm>
            <a:off x="0" y="4480560"/>
            <a:ext cx="9144000" cy="662940"/>
          </a:xfrm>
          <a:prstGeom prst="rect">
            <a:avLst/>
          </a:prstGeom>
          <a:solidFill>
            <a:srgbClr val="0F1A3D"/>
          </a:solidFill>
          <a:ln w="12700">
            <a:solidFill>
              <a:srgbClr val="0F1A3D"/>
            </a:solidFill>
            <a:prstDash val="solid"/>
          </a:ln>
        </p:spPr>
        <p:txBody>
          <a:bodyPr/>
          <a:lstStyle/>
          <a:p>
            <a:endParaRPr lang="en-US"/>
          </a:p>
        </p:txBody>
      </p:sp>
      <p:sp>
        <p:nvSpPr>
          <p:cNvPr id="13" name="Text 11"/>
          <p:cNvSpPr/>
          <p:nvPr/>
        </p:nvSpPr>
        <p:spPr>
          <a:xfrm>
            <a:off x="0" y="4535424"/>
            <a:ext cx="9144000" cy="201168"/>
          </a:xfrm>
          <a:prstGeom prst="rect">
            <a:avLst/>
          </a:prstGeom>
          <a:noFill/>
          <a:ln/>
        </p:spPr>
        <p:txBody>
          <a:bodyPr wrap="square" lIns="0" tIns="0" rIns="0" bIns="0" rtlCol="0" anchor="ctr"/>
          <a:lstStyle/>
          <a:p>
            <a:pPr marL="0" indent="0" algn="ctr">
              <a:buNone/>
            </a:pPr>
            <a:r>
              <a:rPr lang="en-US" sz="850" b="1" dirty="0">
                <a:solidFill>
                  <a:srgbClr val="8A9FCC"/>
                </a:solidFill>
                <a:latin typeface="Calibri" pitchFamily="34" charset="0"/>
                <a:ea typeface="Calibri" pitchFamily="34" charset="-122"/>
                <a:cs typeface="Calibri" pitchFamily="34" charset="-120"/>
              </a:rPr>
              <a:t>UNCLASSIFIED // FOR OFFICIAL USE ONLY</a:t>
            </a:r>
            <a:endParaRPr lang="en-US" sz="850" dirty="0"/>
          </a:p>
        </p:txBody>
      </p:sp>
      <p:sp>
        <p:nvSpPr>
          <p:cNvPr id="14" name="Text 12"/>
          <p:cNvSpPr/>
          <p:nvPr/>
        </p:nvSpPr>
        <p:spPr>
          <a:xfrm>
            <a:off x="0" y="4754880"/>
            <a:ext cx="9144000" cy="182880"/>
          </a:xfrm>
          <a:prstGeom prst="rect">
            <a:avLst/>
          </a:prstGeom>
          <a:noFill/>
          <a:ln/>
        </p:spPr>
        <p:txBody>
          <a:bodyPr wrap="square" lIns="0" tIns="0" rIns="0" bIns="0" rtlCol="0" anchor="ctr"/>
          <a:lstStyle/>
          <a:p>
            <a:pPr marL="0" indent="0" algn="ctr">
              <a:buNone/>
            </a:pPr>
            <a:r>
              <a:rPr lang="en-US" sz="800" dirty="0">
                <a:solidFill>
                  <a:srgbClr val="8A9FCC"/>
                </a:solidFill>
                <a:latin typeface="Calibri" pitchFamily="34" charset="0"/>
                <a:ea typeface="Calibri" pitchFamily="34" charset="-122"/>
                <a:cs typeface="Calibri" pitchFamily="34" charset="-120"/>
              </a:rPr>
              <a:t>Attachments: AO Endorsement Letter · eMASS API Justification Memo · PRD · Concept Paper · Risk Matrix</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5283</Words>
  <Application>Microsoft Office PowerPoint</Application>
  <PresentationFormat>On-screen Show (16:9)</PresentationFormat>
  <Paragraphs>272</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RMF COMMANDER — AO Proposal</dc:title>
  <dc:subject>Controlled Prototype and Pilot Approval</dc:subject>
  <dc:creator>Leo Christie</dc:creator>
  <cp:lastModifiedBy>LEO CHRISTIE</cp:lastModifiedBy>
  <cp:revision>2</cp:revision>
  <dcterms:created xsi:type="dcterms:W3CDTF">2026-05-17T22:39:12Z</dcterms:created>
  <dcterms:modified xsi:type="dcterms:W3CDTF">2026-05-17T22:52:42Z</dcterms:modified>
</cp:coreProperties>
</file>